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1097280"/>
            <a:ext cx="164592" cy="466344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34440" y="1005840"/>
            <a:ext cx="10241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300">
                <a:solidFill>
                  <a:srgbClr val="D97706"/>
                </a:solidFill>
              </a:defRPr>
            </a:pPr>
            <a:r>
              <a:t>PCCST501 Computer Networks | KTU 2024 Scheme • MODULE 2 • M2.1.1</a:t>
            </a:r>
          </a:p>
          <a:p>
            <a:pPr>
              <a:spcAft>
                <a:spcPts val="1200"/>
              </a:spcAft>
              <a:defRPr b="1" sz="3000">
                <a:solidFill>
                  <a:srgbClr val="F8FAFC"/>
                </a:solidFill>
              </a:defRPr>
            </a:pPr>
            <a:r>
              <a:t>Transport Layer Services &amp; Multiplexing Principles</a:t>
            </a:r>
          </a:p>
          <a:p>
            <a:pPr>
              <a:spcAft>
                <a:spcPts val="2400"/>
              </a:spcAft>
              <a:defRPr sz="1600">
                <a:solidFill>
                  <a:srgbClr val="94A3B8"/>
                </a:solidFill>
              </a:defRPr>
            </a:pPr>
            <a:r>
              <a:t>Process-to-Process Communication, Port Addressing, Connectionless vs Connection-Oriented Demultiplexing (2-Tuple vs 4-Tuple)</a:t>
            </a:r>
          </a:p>
          <a:p>
            <a:pPr>
              <a:spcAft>
                <a:spcPts val="300"/>
              </a:spcAft>
              <a:defRPr b="1" sz="1350">
                <a:solidFill>
                  <a:srgbClr val="E2E8F0"/>
                </a:solidFill>
              </a:defRPr>
            </a:pPr>
            <a:r>
              <a:t>Prepared by: Prof. Anju Markose | Assistant Professor, Dept. of CSE | VJCET</a:t>
            </a:r>
          </a:p>
          <a:p>
            <a:pPr>
              <a:defRPr sz="1150">
                <a:solidFill>
                  <a:srgbClr val="94A3B8"/>
                </a:solidFill>
              </a:defRPr>
            </a:pPr>
            <a:r>
              <a:t>Viswajyothi College of Engineering and Technology (VJCET), Vazhakulam • KTU S5 CSE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412480" y="5120640"/>
            <a:ext cx="3017520" cy="82296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03920" y="5166360"/>
            <a:ext cx="2834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050">
                <a:solidFill>
                  <a:srgbClr val="D97706"/>
                </a:solidFill>
              </a:defRPr>
            </a:pPr>
            <a:r>
              <a:t>KTU B.Tech Curriculum</a:t>
            </a:r>
          </a:p>
          <a:p>
            <a:pPr>
              <a:defRPr sz="950">
                <a:solidFill>
                  <a:srgbClr val="F8FAFC"/>
                </a:solidFill>
              </a:defRPr>
            </a:pPr>
            <a:r>
              <a:t>Official Classroom Slide Deck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2.1.1.1 Transport Layer Core Responsibilities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 TRANSPORT SERVICES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68580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Process-to-Process Logical Delivery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While the Network Layer delivers packets host-to-host between IP addresses, the Transport Layer extends this to deliver messages process-to-process between application sockets.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Port Addressing &amp; Socket Binding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Processes are identified via 16-bit Port Numbers (0 to 65,535). Sockets bind an IP address and Port number together as an end-to-end communication endpoint.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Layer Responsibilities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1. Multiplexing &amp; Demultiplexing, 2. Reliability (Loss detection, ACKs, retransmissions), 3. Flow Control (Preventing receiver buffer overflow), 4. Congestion Control (Preventing network core collapse).</a:t>
            </a:r>
          </a:p>
          <a:p>
            <a:pPr>
              <a:spcAft>
                <a:spcPts val="200"/>
              </a:spcAft>
              <a:defRPr b="1" sz="1450">
                <a:solidFill>
                  <a:srgbClr val="0F1E4A"/>
                </a:solidFill>
              </a:defRPr>
            </a:pPr>
            <a:r>
              <a:t>• Transport Limitations</a:t>
            </a:r>
          </a:p>
          <a:p>
            <a:pPr>
              <a:spcAft>
                <a:spcPts val="700"/>
              </a:spcAft>
              <a:defRPr sz="1250">
                <a:solidFill>
                  <a:srgbClr val="0F172A"/>
                </a:solidFill>
              </a:defRPr>
            </a:pPr>
            <a:r>
              <a:t>   Transport protocols cannot provide hard real-time delay bounds or guaranteed bandwidth on standard best-effort IP networks.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234440"/>
            <a:ext cx="356616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0" y="1371600"/>
            <a:ext cx="3200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00">
                <a:solidFill>
                  <a:srgbClr val="0E7490"/>
                </a:solidFill>
              </a:defRPr>
            </a:pPr>
            <a:r>
              <a:t>Key Port Numbers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80: HTTP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443: HTTPS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22: SSH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53: DNS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25: SMTP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→ Port 21: FTP Control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200">
                <a:solidFill>
                  <a:srgbClr val="F8FAFC"/>
                </a:solidFill>
              </a:defRPr>
            </a:pPr>
            <a:r>
              <a:t>2.1.1.2 Demultiplexing: Connectionless (UDP) vs Connection-Oriented (TCP)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 DEMULTIPLEXING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212080" cy="48920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F1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F1E4A"/>
                </a:solidFill>
              </a:defRPr>
            </a:pPr>
            <a:r>
              <a:t>UDP Demultiplexing (2-Tuple)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Identifier Tuple: Identified strictly by: `(Destination IP, Destination Port)`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Behavior: Two UDP datagrams arriving from different source IP/ports targeted at same Dest Port are delivered to the exact same socket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State: Completely stateless; no connection handshake or per-peer buffers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Speed: Zero connection establishment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550">
                <a:solidFill>
                  <a:srgbClr val="0E7490"/>
                </a:solidFill>
              </a:defRPr>
            </a:pPr>
            <a:r>
              <a:t>TCP Demultiplexing (4-Tuple)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Identifier Tuple: Identified by 4-tuple: `(Source IP, Source Port, Destination IP, Destination Port)`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Behavior: Server listening socket (`listen()`) forks/spawns a distinct connected socket (`accept()`) for each unique client 4-tuple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State: Full connection state, sequence tracking, and dedicated receive buffers per connection</a:t>
            </a:r>
          </a:p>
          <a:p>
            <a:pPr>
              <a:spcAft>
                <a:spcPts val="500"/>
              </a:spcAft>
              <a:defRPr sz="1200">
                <a:solidFill>
                  <a:srgbClr val="0F172A"/>
                </a:solidFill>
              </a:defRPr>
            </a:pPr>
            <a:r>
              <a:t>• Scalability: Enables concurrent multi-client web/database servers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969264"/>
            <a:ext cx="12191695" cy="36576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"/>
            <a:ext cx="8412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100">
                <a:solidFill>
                  <a:srgbClr val="F8FAFC"/>
                </a:solidFill>
              </a:defRPr>
            </a:pPr>
            <a:r>
              <a:t>🎯 Exam Booster &amp; Review: Transport Layer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164592"/>
            <a:ext cx="329184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b="1" sz="1300">
                <a:solidFill>
                  <a:srgbClr val="D97706"/>
                </a:solidFill>
              </a:defRPr>
            </a:pPr>
            <a:r>
              <a:t>M2.1.1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5303520" cy="489204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49377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D97706"/>
                </a:solidFill>
              </a:defRPr>
            </a:pPr>
            <a:r>
              <a:t>📚 KTU High-Yield Questions (K2 Understand)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Differentiate between host-to-host delivery and process-to-process delivery with a neat diagram. (6 Marks)</a:t>
            </a:r>
          </a:p>
          <a:p>
            <a:pPr>
              <a:spcAft>
                <a:spcPts val="700"/>
              </a:spcAft>
              <a:defRPr sz="1200">
                <a:solidFill>
                  <a:srgbClr val="0F172A"/>
                </a:solidFill>
              </a:defRPr>
            </a:pPr>
            <a:r>
              <a:t>Q: Explain how multiplexing and demultiplexing work in UDP and TCP. Why does TCP require a 4-tuple while UDP needs only a 2-tuple? (8 Marks)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1234440"/>
            <a:ext cx="5212080" cy="489204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48463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b="1" sz="1450">
                <a:solidFill>
                  <a:srgbClr val="0E7490"/>
                </a:solidFill>
              </a:defRPr>
            </a:pPr>
            <a:r>
              <a:t>💡 Critical Conceptual Takeaways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Network layer provides host-to-host IP delivery; Transport layer provides process-to-process port delivery.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UDP demux uses Destination Port only; TCP demux uses Source IP, Source Port, Dest IP, Dest Port.</a:t>
            </a:r>
          </a:p>
          <a:p>
            <a:pPr>
              <a:spcAft>
                <a:spcPts val="600"/>
              </a:spcAft>
              <a:defRPr sz="1200">
                <a:solidFill>
                  <a:srgbClr val="0F172A"/>
                </a:solidFill>
              </a:defRPr>
            </a:pPr>
            <a:r>
              <a:t>✔ TCP creates separate connected sockets for every distinct client connection.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327648"/>
            <a:ext cx="10789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64748B"/>
                </a:solidFill>
              </a:defRPr>
            </a:pPr>
            <a:r>
              <a:t>PCCST501 Computer Networks | KTU 2024 Scheme | Prof. Anju Markose | Assistant Professor, Dept. of CSE | VJCET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6327648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64748B"/>
                </a:solidFill>
              </a:defRPr>
            </a:pPr>
            <a:r>
              <a:t>Dept. of CSE, VJCET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