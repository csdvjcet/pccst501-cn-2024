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188720"/>
            <a:ext cx="164592" cy="448056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0"/>
            <a:ext cx="1005840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1300">
                <a:solidFill>
                  <a:srgbClr val="D97706"/>
                </a:solidFill>
              </a:defRPr>
            </a:pPr>
            <a:r>
              <a:t>PCCST501 Computer Networks | KTU 2024 Scheme • MODULE 3 • M3.2</a:t>
            </a:r>
          </a:p>
          <a:p>
            <a:pPr>
              <a:spcAft>
                <a:spcPts val="1400"/>
              </a:spcAft>
              <a:defRPr b="1" sz="3200">
                <a:solidFill>
                  <a:srgbClr val="F8FAFC"/>
                </a:solidFill>
              </a:defRPr>
            </a:pPr>
            <a:r>
              <a:t>Error Control &amp; Flow Control in Data Link Layer</a:t>
            </a:r>
          </a:p>
          <a:p>
            <a:pPr>
              <a:spcAft>
                <a:spcPts val="2800"/>
              </a:spcAft>
              <a:defRPr sz="1700">
                <a:solidFill>
                  <a:srgbClr val="94A3B8"/>
                </a:solidFill>
              </a:defRPr>
            </a:pPr>
            <a:r>
              <a:t>CRC-32 Modulo-2 Polynomial Division, Hamming (7,4) Error Correction, Stop-and-Wait, Go-Back-N &amp; Selective Repeat</a:t>
            </a:r>
          </a:p>
          <a:p>
            <a:pPr>
              <a:defRPr b="1" sz="1300">
                <a:solidFill>
                  <a:srgbClr val="E2E8F0"/>
                </a:solidFill>
              </a:defRPr>
            </a:pPr>
            <a:r>
              <a:t>Prepared by: Prof. Anju Markose | Assistant Professor, Dept. of CSE | VJCET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Viswajyothi College of Engineering and Technology (VJCET), Vazhakulam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9264"/>
            <a:ext cx="12191695" cy="3657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"/>
            <a:ext cx="84124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300">
                <a:solidFill>
                  <a:srgbClr val="F8FAFC"/>
                </a:solidFill>
              </a:defRPr>
            </a:pPr>
            <a:r>
              <a:t>3.2.1 Error Detection: Cyclic Redundancy Check (CRC)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164592"/>
            <a:ext cx="32918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b="1" sz="1300">
                <a:solidFill>
                  <a:srgbClr val="D97706"/>
                </a:solidFill>
              </a:defRPr>
            </a:pPr>
            <a:r>
              <a:t>M3.2 CRC POLYNOMIAL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80160"/>
            <a:ext cx="6858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CRC Concept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Powerful polynomial-based error detection method based on binary Modulo-2 division (XOR operations without carry).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Generator Polynomial $G(x)$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Agreed polynomial of degree $r$ (represented as an $(r+1)$-bit divisor). E.g., CRC-32 has $r=32$ bits.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Sender FCS Generation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Append $r$ zeros to the data block $D$. Perform Modulo-2 division of $D \cdot 2^r$ by divisor $G$. The remainder $R$ (of length $r$ bits) is the Frame Check Sequence (FCS). Frame sent is $T = D \cdot 2^r \oplus R$.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Receiver Verification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Receiver divides arriving frame $T$ by divisor $G$. If remainder is EXACTLY ZERO, frame is accepted as error-free; otherwise discarded.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Error Detection Strength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Detects all single-bit errors, all double errors, all odd numbers of bit errors, and all burst errors of length $\le r$.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55279" y="1280160"/>
            <a:ext cx="3566160" cy="484632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0E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38160" y="1417320"/>
            <a:ext cx="3200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b="1" sz="1500">
                <a:solidFill>
                  <a:srgbClr val="0E7490"/>
                </a:solidFill>
              </a:defRPr>
            </a:pPr>
            <a:r>
              <a:t>CRC Algorithm Steps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1. Let divisor G have length k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2. Append (k - 1) zeros to Data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3. Divide using XOR Modulo-2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4. Remainder = FCS (Checksum)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5. Transmit Data + FCS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6. Receiver Remainder must be 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30936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PCCST501 Computer Networks | KTU 2024 Scheme | Prof. Anju Markose | Assistant Professor, Dept. of CSE | VJCET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9264"/>
            <a:ext cx="12191695" cy="3657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"/>
            <a:ext cx="84124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300">
                <a:solidFill>
                  <a:srgbClr val="F8FAFC"/>
                </a:solidFill>
              </a:defRPr>
            </a:pPr>
            <a:r>
              <a:t>3.2.2 Error Correction: Hamming Code (7,4)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164592"/>
            <a:ext cx="32918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b="1" sz="1300">
                <a:solidFill>
                  <a:srgbClr val="D97706"/>
                </a:solidFill>
              </a:defRPr>
            </a:pPr>
            <a:r>
              <a:t>M3.2 HAMMING CODE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280160"/>
            <a:ext cx="6858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Hamming Distance ($d_{min}$)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To detect $e$ errors, minimum Hamming distance must be $d_{min} \ge e + 1$. To correct $t$ errors, $d_{min} \ge 2t + 1$.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Hamming (7,4) Code Structure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Transmits 4 data bits ($d_1, d_2, d_3, d_4$) with 3 parity check bits ($p_1, p_2, p_3$) at power-of-2 positions ($1, 2, 4$). Total codeword = 7 bits.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Parity Bit Assignment (Even Parity)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$p_1$ checks bits (1, 3, 5, 7); $p_2$ checks bits (2, 3, 6, 7); $p_4$ checks bits (4, 5, 6, 7).</a:t>
            </a:r>
          </a:p>
          <a:p>
            <a:pPr>
              <a:spcAft>
                <a:spcPts val="200"/>
              </a:spcAft>
              <a:defRPr b="1" sz="1500">
                <a:solidFill>
                  <a:srgbClr val="0F1E4A"/>
                </a:solidFill>
              </a:defRPr>
            </a:pPr>
            <a:r>
              <a:t>• Syndrome Word Calculation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   Receiver calculates syndrome bits $s_3 s_2 s_1$. If syndrome is `000`, no error occurred. If syndrome equals binary integer $k$ ($1 \le k \le 7$), bit position $k$ is inverted and corrected!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55279" y="1280160"/>
            <a:ext cx="3566160" cy="484632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0E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38160" y="1417320"/>
            <a:ext cx="3200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b="1" sz="1500">
                <a:solidFill>
                  <a:srgbClr val="0E7490"/>
                </a:solidFill>
              </a:defRPr>
            </a:pPr>
            <a:r>
              <a:t>Hamming Key Rules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Parity bit positions: 1, 2, 4, 8...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Parity bits formula: 2^p &gt;= m + p + 1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Syndrome indicates exact bit error position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</a:defRPr>
            </a:pPr>
            <a:r>
              <a:t>→ Detects 2-bit, corrects 1-bit errors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30936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PCCST501 Computer Networks | KTU 2024 Scheme | Prof. Anju Markose | Assistant Professor, Dept. of CSE | VJCET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E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9264"/>
            <a:ext cx="12191695" cy="36576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"/>
            <a:ext cx="84124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300">
                <a:solidFill>
                  <a:srgbClr val="F8FAFC"/>
                </a:solidFill>
              </a:defRPr>
            </a:pPr>
            <a:r>
              <a:t>3.2.3 Sliding Window Flow Control: Stop-and-Wait vs GBN vs SR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0" y="164592"/>
            <a:ext cx="329184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b="1" sz="1300">
                <a:solidFill>
                  <a:srgbClr val="D97706"/>
                </a:solidFill>
              </a:defRPr>
            </a:pPr>
            <a:r>
              <a:t>M3.2 ARQ PROTOCOLS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280160"/>
            <a:ext cx="5212080" cy="484632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0E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417320"/>
            <a:ext cx="4846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1600">
                <a:solidFill>
                  <a:srgbClr val="0F1E4A"/>
                </a:solidFill>
              </a:defRPr>
            </a:pPr>
            <a:r>
              <a:t>Go-Back-N ARQ (GBN)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Sender Window: Size $N &gt; 1$; unacked frames inflight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Receiver Window: Size = 1; accepts frames strictly in-order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On Out-of-Order Frame: Discards frame and re-sends ACK for last in-order frame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On Timeout: Retransmits ALL $N$ unacknowledged frames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Sequence Numbers: Requires sequence numbers $\ge N + 1$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280160"/>
            <a:ext cx="5212080" cy="4846320"/>
          </a:xfrm>
          <a:prstGeom prst="roundRect">
            <a:avLst/>
          </a:prstGeom>
          <a:solidFill>
            <a:srgbClr val="EEF2FF"/>
          </a:solidFill>
          <a:ln w="19050">
            <a:solidFill>
              <a:srgbClr val="0F1E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1417320"/>
            <a:ext cx="4846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1600">
                <a:solidFill>
                  <a:srgbClr val="0E7490"/>
                </a:solidFill>
              </a:defRPr>
            </a:pPr>
            <a:r>
              <a:t>Selective Repeat ARQ (SR)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Sender Window: Size $N &gt; 1$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Receiver Window: Size $N &gt; 1$; buffers out-of-order frames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On Damaged Frame: Sends Negative ACK (NAK) or waits for timeout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On Timeout: Retransmits ONLY the specific damaged/lost frame</a:t>
            </a:r>
          </a:p>
          <a:p>
            <a:pPr>
              <a:spcAft>
                <a:spcPts val="600"/>
              </a:spcAft>
              <a:defRPr sz="1250">
                <a:solidFill>
                  <a:srgbClr val="1E293B"/>
                </a:solidFill>
              </a:defRPr>
            </a:pPr>
            <a:r>
              <a:t>• Sequence Numbers: Requires sequence numbers $\ge 2N$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30936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</a:defRPr>
            </a:pPr>
            <a:r>
              <a:t>PCCST501 Computer Networks | KTU 2024 Scheme | Prof. Anju Markose | Assistant Professor, Dept. of CSE | VJCET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