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MASTER • MODULE 1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&amp; Internet Fundamentals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M1.1 through M1.9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Overview of the Internet Architecture &amp; Performance Metrics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Network Edge, Network Core, Packet vs Circuit Switching, Delay Models, Queuing Loss &amp; Throughput Bottlenecks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1.1.1 The Internet: Structural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INTERNET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Internet: Network of Networks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vast, distributed interconnection of billions of heterogeneous computing devices (end systems / hosts) running networked software.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Edge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End systems (clients, servers, mobile, IoT devices) that generate and consume application data. Connected via Access Networks (DSL, FTTH, 4G/5G, Wi-Fi 6).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Core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mesh of interconnected packet switches (routers and link-layer switches) responsible for routing and forwarding data across global ISP tiers.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ISP Tier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Tier-1 ISPs (global transit providers like Lumen, AT&amp;T), connected via IXPs (Internet Exchange Points), supplying regional and local access ISPs.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Protocols &amp; Standards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Network protocols define message format, ordering, transmission rules, and error handling. Governed by IETF RFCs and IEEE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Structural Layers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Tier-1 ISPs: Global backbone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IXPs: Free/peered routing exchange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Regional ISPs: Connect local access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Access Nets: DSL, PON/Fiber, Wireless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End Systems: Run user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1.1.2 Switching Paradigms: Packet vs Circuit Switching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SWITCHING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Packet Switching (Internet)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Unit: Discrete chunks called packets (Header + Payload)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Statistical Multiplexing — resources allocated on demand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Link Utilization: High efficiency; handles bursty internet traffic seamlessly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Delays &amp; Loss: Queuing delay occurs; buffers drop packets on congestion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 Maintenance: Stateless core routers; adaptive per-packet dynamic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Circuit Switching (Legacy PSTN)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Unit: Continuous bit stream over reserved physical channel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Fixed allocation via FDM (Frequency) or TDM (Time) slots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Link Utilization: Low; reserved bandwidth wasted during idle/silent periods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Delays &amp; Loss: Zero queuing delay; calls blocked if no circuit available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 Maintenance: Dedicated call setup and teardown state in every 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1.1.3 Mathematical Delay Models in Packet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NODAL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Total Nodal Delay ($d_{nodal}$)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Sum of 4 fundamental delay components at each intermediate router hop: $d_{nodal} = d_{proc} + d_{queue} + d_{trans} + d_{prop}$.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Nodal Processing Delay ($d_{proc}$)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taken by router CPU to inspect packet header, compute bit checksums, and determine output interface (microseconds).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Queuing Delay ($d_{queue}$)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packet waits inside output buffer queue before transmission. Governed by Traffic Intensity $I = (L \cdot a) / R$ ($L$ = bits, $a$ = arrival rate, $R$ = bandwidth).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Transmission Delay ($d_{trans}$)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required to push all $L$ bits of the packet onto the link at rate $R$: $d_{trans} = L / R$ seconds.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Propagation Delay ($d_{prop}$)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for a physical bit to travel through the physical medium over distance $d$ at speed $s \approx 2 \times 10^8$ m/s in copper/fiber: $d_{prop} = d / s$ seconds.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Loss &amp; Throughput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arriving traffic exceeds buffer capacity, packet drop occurs. End-to-end throughput is bottlenecked by the minimum link capacity along the transmission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Delay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d_nodal = d_proc + d_queue + d_trans + d_prop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d_trans = L / R (sec)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d_prop = d / s (sec)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Traffic Intensity: I = (L * a) / 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I -&gt; 1: Queuing delay -&gt; infinity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Bottleneck Throughput = min(R1, R2, 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1.1.4 Worked KTU Numerical: Delay &amp;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1500-byte packet is transmitted over a 100 km fiber link with transmission rate R = 10 Mbps. Propagation speed in fiber is s = 2 * 10^8 m/s. Nodal processing delay is 5 microseconds and the router queue currently holds 2 packets of 1500 bytes each. Calculate: (a) Transmission delay, (b) Propagation delay, (c) Queuing delay, (d) Total nodal delay.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 = 1500 bytes = 1500 * 8 = 12,000 bits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 = 10 Mbps = 10 * 10^6 bps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 = 100 km = 10^5 m, s = 2 * 10^8 m/s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d_trans = L / R, d_prop = d / s, d_queue = 2 * (L / 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d_trans = 12,000 / 10^7 = 1.2 * 10^-3 s = 1.2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d_prop = 10^5 / (2 * 10^8) = 0.5 * 10^-3 s = 0.5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d_queue = 2 * 1.2 ms = 2.4 ms (2 packets ahead in queue)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d_proc = 5 microseconds = 0.005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d_nodal = 0.005 + 2.4 + 1.2 + 0.5 = 4.105 ms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Total Nodal Delay = 4.105 ms (Queuing delay is dominant)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In university exams, always convert bytes to bits (multiply by 8) before dividing by transmission rate R (bps).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Internet Architecture &amp; Delay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/ 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packet switching and circuit switching with respect to bandwidth utilization, delays, and state maintenance.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four components of nodal delay in packet-switched networks with mathematical equations and units.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statistical multiplexing and explain why traffic intensity I &gt; 1 causes buffer overflow and packet loss.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Packet switching enables statistical multiplexing without dedicated circuits.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Transmission delay (L/R) depends on bandwidth; Propagation delay (d/s) depends on distance.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Queuing delay grows non-linearly as traffic intensity I = (L*a)/R approaches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End-to-end throughput is always throttled by the bottleneck link on the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Protocol Layering &amp; Network Models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Layering Principles, OSI 7-Layer Reference Model, TCP/IP 5-Layer Stack, PDU Encapsulation &amp; Addressing Hierarchy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1.2.1 Principles of Layered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PROTOCOL LAYERING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Modularity &amp; Abstraction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Dividing the massive complexity of network communication into decoupled functional layers. Each layer provides well-defined services to the layer above.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Layer Independence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internal implementation of a layer protocol can be completely modified or replaced without affecting adjacent layers as long as the layer interface remains unchanged.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Encapsulation at Sender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 moves top-down; each layer adds its own Protocol Header (and L2 adds a trailer) containing control metadata (addresses, sequence numbers, checksums).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Decapsulation at Receiver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 moves bottom-up; each layer processes and strips its corresponding header, passing the demultiplexed payload to the upper layer.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Protocol Data Unit (PDU) Terminology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L5: Message (App) -&gt; L4: Segment (TCP) / Datagram (UDP) -&gt; L3: Packet / Datagram (IP) -&gt; L2: Frame (Ethernet/Wi-Fi) -&gt; L1: Raw Bit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Benefits of Layering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Simplifies system design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Standardizes interfaces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Enables multi-vendor hardware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Isolates layer troubleshooting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Facilitates protocol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1.2.2 Comprehensive Architecture: OSI 7-Layer vs TCP/IP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OSI VS TCP/IP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OSI 7-Layer Model (ISO Conceptual)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7. Application: User applications &amp; network services (HTTP, DNS)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6. Presentation: Data formatting, compression, encryption/decryption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Session: Dialog management, token coordination, checkpoints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Transport: End-to-end reliability, flow control, port addressing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Network: Logical host addressing (IP) &amp; packet routing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Data Link: Node-to-node frame transfer &amp; MAC error control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Physical: Unstructured bit transmission over raw copper/fiber/air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TCP/IP 5-Layer Internet Stack (Practical)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Application: Integrates OSI L7, L6, L5; protocols: HTTP, SMTP, DNS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Transport: Process-to-process multiplexing: TCP (reliable) &amp; UDP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Network (Internet): Host-to-host delivery across networks: IPv4, IPv6, ICMP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Data Link: Hardware framing, MAC addressing: Ethernet, 802.11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Physical: Signals, voltages, optical pulses, RF frequencies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1.2.3 Addressing Hierarchy &amp; PDU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ADDRESSING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Application Layer Addressing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Uniform Resource Identifiers (URIs), Domain Names (FQDNs), and standardized Port Numbers.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Layer Addressing (Port Numbers)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16-bit Port Number (0 - 65,535). Well-known ports (0-1023: HTTP 80, HTTPS 443, SSH 22), Registered (1024-49151), Dynamic/Private (49152-65535).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Layer Addressing (IP Addresses)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Logical 32-bit IPv4 or 128-bit IPv6 address used for global routing across subnets and autonomous systems.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Link Layer Addressing (MAC Addresses)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Physical 48-bit (6-byte) EUI-48 hardware address burned into the NIC (e.g., `00:1A:2B:3C:4D:5E`). Used strictly on the local link.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Cross-Layer Demultiplexing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L2 Frame Type field identifies L3 (IPv4 0x0800, ARP 0x0806) -&gt; L3 Protocol field identifies L4 (TCP 6, UDP 17) -&gt; L4 Port identifies L5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Addressing Summary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Process ID: 16-bit Port Number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Host ID: 32-bit / 128-bit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NIC ID: 48-bit MAC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Type 0x0800 -&gt; IPv4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Protocol 6 -&gt; TCP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Protocol 17 -&gt; 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Protocol Layering &amp; Network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the OSI 7-Layer model with the TCP/IP 5-Layer stack. Explain why the Presentation and Session layers are merged in TCP/IP.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step-by-step PDU encapsulation and decapsulation process across all layers with a neat labeled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three-level addressing hierarchy (Port, IP, MAC) and describe how demultiplexing occurs at each layer.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OSI is a conceptual model; TCP/IP is the practical architecture implemented across the Internet.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Headers prepend metadata: Port at L4, IP at L3, MAC and CRC FCS trailer at L2.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L2 MAC changes at every router hop; L3 Source and Destination IP remain unchanged end-to-end (without NAT).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Paradigms &amp; Requirements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Client-Server vs P2P Architectures, Transport Service Needs (Integrity, Throughput, Timing, Security), Socket Interface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1.3.1 Application Paradigms: Client-Server vs P2P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 APPLICATION PARADIGMS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Client-Server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Centralized Server: Always-on host with fixed, well-known IP address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Client Behavior: Initiate requests on demand; clients do not speak to each other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 Limit: Server upload capacity bottlenecks under massive simultaneous loads ($D_{CS} = \max\{N \cdot F / u_s, F / d_i\}$)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Infrastructure Cost: Requires massive data centers, load balancers, and CDN caching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Examples: Web (HTTP), Email (SMTP/IMAP), Remote Login (SSH)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Peer-to-Peer (P2P)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Decentralized Peers: Arbitrary end systems communicate directly without dedicated central servers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Self-Scalability: Peers are both consumers (downloaders) and producers (uploaders) of data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 Formula: Distribution time grows logarithmically: $D_{P2P} = \max\{F / u_s, F / d_{min}, N \cdot F / (u_s + \sum u_i)\}$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Challenges: Churn (peers join/leave dynamically), security, ISP asymmetric bandwidth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Examples: BitTorrent, IPFS, Blockchain, Skype (original)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1.3.2 Transport Layer Service Requirements for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 TRANSPORT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Integrity / Reliability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Loss-intolerant applications (Web documents, file transfer, email, banking) require 100% reliable transport (TCP). Loss-tolerant applications (audio/video streaming, VoIP) can tolerate slight packet loss (UDP).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Throughput Guarantees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Bandwidth-sensitive applications (HD video streaming, real-time conferencing) need minimum throughput guarantees. Elastic applications (Email, Web, FTP) make use of whatever bandwidth is available.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Timing / Latency Guarantees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Interactive gaming and VoIP require tight upper bounds on end-to-end delay (e.g., &lt; 150 ms) to prevent human-perceptible lag.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Security &amp; Encryption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Application data privacy, server authentication, and message integrity provided via TLS (Transport Layer Security) running on top of TCP (e.g., HTTPS, SMTPS).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Choice Mapping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TCP: HTTP/1.1 (80), HTTPS (443), FTP (20/21), SMTP (25), SSH (22). UDP: DNS (53), SNMP (161), RTP/RTSP, DHCP (67/68), QUIC/HTTP3 (443).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Service Classification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Reliability: TCP (Strict) vs UDP (Loss-tolerant)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Timing: Sensitive (VoIP) vs Elastic (Email/Web)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Security: TLS/SSL cryptographic wrapper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Multiplexing: 16-bit Port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Application Paradigms &amp;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Client-Server and Peer-to-Peer network paradigms with real-world examples.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Identify the transport service requirements (loss, throughput, timing, security) for HTTP, VoIP, DNS, and FTP.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the socket interface acts as an API bridge between application-layer user processes and kernel transport protocols.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Client-Server has centralized control and fixed IP; P2P possesses self-scalability as each leecher becomes a seeder.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provides 100% reliable byte-stream delivery with flow and congestion control.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provides low-latency, lightweight datagram delivery without handshake or congestion throttling.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World Wide Web &amp; HTTP Protocol Suite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HTTP/1.0, HTTP/1.1 (Persistent vs Non-Persistent, Pipelining), HTTP/2 (Binary Framing, Streams, Push), HTTP/3 (QUIC), Caching &amp; Cookies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1.4.1 HTTP Protocol Fundamentals &amp; Message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HTTP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(HyperText Transfer Protocol)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Stateless, application-layer request-response protocol operating over TCP (standard port 80, TLS encrypted HTTPS port 443).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Request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Method (GET, POST, HEAD, PUT, DELETE) + Request-URI + HTTP-Version \r\n Header Lines (Host, User-Agent, Accept, Cookie) \r\n\r\n [Optional Entity Body].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HTTP Response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HTTP-Version + Status Code (200 OK, 301 Moved, 304 Not Modified, 404 Not Found, 500 Server Error) + Status Phrase \r\n Headers (Content-Type, Content-Length, Set-Cookie, Cache-Control) \r\n\r\n [Data Body].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Statelessness &amp; State Management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HTTP servers maintain no state across successive requests from the same client. State is tracked using Cookies (via `Set-Cookie` and `Cookie` headers) and Session Tokens.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Conditional GET &amp; Web Caching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Clients and Proxy Caches avoid re-transmitting unmodified objects using the `If-Modified-Since` request header. If object unchanged, server responds `304 Not Modified` with zero body bits.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Status Codes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200 OK: Request succeeded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301 Moved Permanently: Redirect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304 Not Modified: Cache hit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400 Bad Request: Syntax error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404 Not Found: Resource absent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503 Service Unavailable: Busy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1.4.2 HTTP/1.0 vs HTTP/1.1 vs HTTP/2 vs HTTP/3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HTTP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HTTP/1.0 &amp; HTTP/1.1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1.0 Non-Persistent: Opens fresh TCP connection per object ($2 \cdot RTT$ per object); high latency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1.1 Persistent: Reuses single TCP connection for multiple objects; default `Keep-Alive`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Pipelining: Sends multiple requests without waiting for replies (suffers Head-of-Line blocking)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HTTP/2 (RFC 7540)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Binary Framing: Replaces plain text with binary frame parser (Headers &amp; Data frames)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Interleaves streams over single TCP; eliminates HTTP Head-of-Line blocking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Push: Proactively pushes critical resources (CSS, JS) before client requests them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HPACK: Compresses redundant header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HTTP/3 (QUIC / RFC 9000)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QUIC over UDP: Replaces TCP with QUIC transport layer over UDP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 HoL Blocking: Packet loss in one stream never stalls unrelated streams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0-RTT Handshake: Combines connection setup and TLS 1.3 cryptographic handshake in 1 round-trip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1.4.3 Worked KTU Numerical: Web Page Retrieval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base HTML page references 8 small embedded JPEG images located on the same server. Round-Trip Time between client and server is RTT = 40 ms. Base HTML transmission time is negligible. Calculate total retrieval time for: (a) HTTP/1.0 Non-Persistent with sequential TCP connections, (b) HTTP/1.1 Persistent without pipelining, (c) HTTP/1.1 Persistent with pipelining.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Non-Persistent: 1 TCP Handshake (1 RTT) + 1 Request/Response (1 RTT) = 2 RTT per object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Persistent without Pipelining: 1 TCP Handshake (1 RTT) + 1 RTT for Base + N * 1 RTT for images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Persistent with Pipelining: 1 TCP Handshake (1 RTT) + 1 RTT for Base + 1 RTT for all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Total objects = 1 Base HTML + 8 Images = 9 objects.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(a) Non-Persistent: 9 objects * 2 RTT = 18 RTT = 18 * 40 ms = 720 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(b) Persistent without Pipelining: 1 RTT (TCP setup) + 1 RTT (Base HTML) + (8 * 1 RTT) = 10 RTT = 10 * 40 ms = 400 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(c) Persistent with Pipelining: 1 RTT (TCP setup) + 1 RTT (Base HTML) + 1 RTT (pipelined batch) = 3 RTT = 3 * 40 ms = 120 ms.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Non-Persistent: 720 ms | Persistent: 400 ms | Pipelined: 120 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Always remember: TCP 3-way handshake consumes 1 full RTT before any HTTP request can be transmitted.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World Wide Web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difference between non-persistent and persistent HTTP connections with timing diagrams.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Head-of-Line (HoL) blocking? How do HTTP/2 binary framing and HTTP/3 QUIC solve it?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mechanism of Web Caching using the Conditional GET request (`If-Modified-Since`).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HTTP/1.0 incurs 2 RTT per object; HTTP/1.1 persistent reuses TCP connections to save handshakes.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HTTP/2 multiplexes streams over 1 TCP connection using binary framing, but TCP packet loss stalls all streams.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HTTP/3 runs over UDP with QUIC to provide independent stream streams and 0-RTT connection re-establishment.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Web caches reduce traffic intensity on access links and drastically cut down end-user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FTP (File Transfer Protocol)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Out-of-Band Control vs In-Band Data, Control Port 21 vs Data Port 20, Active Mode (PORT) vs Passive Mode (PASV), Stateful Operation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1.5.1 Dual-Channel Architecture of FTP (RFC 959)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 FTP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Out-of-Band Control Connection (Port 21)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FTP establishes a dedicated TCP connection on port 21 solely for control commands (USER, PASS, LIST, RETR, STOR, QUIT) and server status replies (e.g., 220, 331, 230). Remains open throughout session.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In-Band Data Connection (Port 20)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separate, independent TCP connection created strictly for data transfer (file upload/download, directory listings). Opened per file transfer and closed immediately upon completion.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Stateful Connection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Unlike stateless HTTP, FTP servers maintain extensive session state: current working directory, authenticated user credentials, transfer mode (ASCII vs Binary), and client IP/port.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Security Limitations of Plain FTP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Credentials and data transmitted in unencrypted cleartext. Modern secure alternatives: FTPS (FTP over TLS/SSL) and SFTP (SSH File Transfer Protocol).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FTP Commands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USER / PASS: Authentication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LIST: Directory listing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RETR: Retrieve / Download 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STOR: Store / Upload 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 / I: ASCII / Binary mode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QUIT: Close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1.5.2 Active Mode (`PORT`) vs Passive Mode (`PASV`)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 ACTIVE VS PASSIVE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Active Mode FTP (`PORT`)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Control Channel: Client connects from random port $N$ to Server Port 21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Channel Initiation: Client sends `PORT IP,p1,p2` command. Server initiates data connection from Server Port 20 to Client Port $P$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Firewall Problem: Client-side firewalls and NATs block inbound connections initiated by external servers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Usage: Legacy environments without client NAT firewalls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Passive Mode FTP (`PASV`)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Control Channel: Client connects from random port $N$ to Server Port 21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Channel Initiation: Client sends `PASV` command. Server opens random port $M$ and replies with `227 Entering Passive Mode`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Firewall Friendly: Client initiates outbound connection to Server Port $M$; traversable through client NATs/firewalls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Usage: Standard default mode across modern 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FTP Architecture &amp;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why FTP is called an 'out-of-band' control protocol. How does it differ from HTTP?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Active Mode and Passive Mode in FTP with step-by-step connection flow diagrams. Explain why Passive mode is preferred behind NAT firewalls.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FTP separates control signaling (Port 21) from data bulk transfer (Port 20).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 Active mode, server connects to client (fails behind client firewalls).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 Passive mode, client connects to server's dynamically assigned high port (bypasses client NAT restrictions).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Electronic Mail Architecture &amp; Protocols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User Agents (UA), Mail Transfer Agents (MTA), SMTP Push Protocol (Port 25/587), MIME 7-Bit ASCII Encoding, POP3 vs IMAP4 vs Webmail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1.6.1 Email System Architecture &amp; Message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 EMAIL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Components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Three major components: User Agents (mail clients like Thunderbird, Outlook), Mail Servers (run mailboxes and outgoing message queues), and Mail Transfer Protocols.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(Simple Mail Transfer Protocol - RFC 5321)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Push protocol operating over TCP port 25 (inter-server relay) and port 587 (client message submission with STARTTLS).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End-to-End Delivery Flow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Alice (UA) -&gt; Alice's Mail Server (MTA) -&gt; [Internet Relay via SMTP over TCP] -&gt; Bob's Mail Server (MTA mailbox) -&gt; Bob (UA via POP3/IMAP4/HTTPS).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Push vs Pull Architecture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SMTP pushes email from sender to receiver's server. Receiver cannot use SMTP to pull mail to their local client because client may not be online with fixed IP.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SMTP Message Format (RFC 5322)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Header lines (`From:`, `To:`, `Subject:`, `Date:`) separated from Message Body by a blank line `\r\n`. Handled as 7-bit ASCII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SMTP Command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HELO / EHLO: Client intro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MAIL FROM: Sender envelope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RCPT TO: Recipient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DATA: Start message payload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. (Single period): End of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QUIT: Terminate TCP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1.6.2 MIME Extensions &amp; Mail Access: POP3 vs IMAP4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 MIME &amp; ACCESS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MIME (Multipurpose Internet Mail Extensions)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Purpose: Allows non-ASCII binary data (images, audio, PDFs, attachments) over 7-bit ASCII SMTP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MIME Headers: `MIME-Version: 1.0`, `Content-Type: multipart/mixed; boundary=...`, `Content-Transfer-Encoding: base64`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Base64 Encoding: Converts 3 binary bytes (24 bits) into 4 printable ASCII characters (6 bits each; 33% overhead)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Mail Access: POP3 vs IMAP4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POP3 (Post Office Protocol v3): TCP Port 110. 'Download and Delete' mode — copies email to local device; no server synchronization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IMAP4 (Internet Message Access Protocol): TCP Port 143. Retains all messages/folders on server; multi-device synchronization; supports partial retrieval (e.g., fetch headers only)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Webmail (HTTP/HTTPS): User agent runs inside web browser; uses HTTPS to communicate with webmail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Electronic Mail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why SMTP cannot be used by an end user to pull emails from the mail server. (5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POP3 and IMAP4 access protocols with respect to folder synchronization and multi-device access.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MIME in electronic mail. How does Base64 encoding convert 8-bit binary data to 7-bit ASCII?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SMTP is strictly a push protocol; POP3 and IMAP4 are pull protocols.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POP3 is simple and offline-oriented; IMAP4 maintains centralized state and synchronized folders across devices.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MIME headers allow multimedia attachments; Base64 maps 3 binary bytes into 4 ASCII symbols.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M1.7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Domain Name System (DNS)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Hierarchical Distributed Database, Root/TLD/Authoritative Servers, Iterative vs Recursive Queries, DNS Caching &amp; TTL, Resource Records (RR)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1.7.1 DNS: Distributed Hierarchical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DNS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DNS Core Function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Application-layer service translating human-readable hostnames (e.g., `www.vjcet.ac.in`) into 32-bit IPv4 / 128-bit IPv6 machine addresses.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Distributed &amp; Hierarchical?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single centralized database would suffer single-point failure, massive traffic congestion, geographic distance delay, and impossible maintenance.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Root DNS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13 logical root server addresses (A through M, replicated worldwide via Anycast routing). Directs queries to appropriate TLD servers.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Top-Level Domain (TLD)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Responsible for generic TLDs (`.com`, `.org`, `.net`, `.edu`) and country-code ccTLDs (`.in`, `.uk`, `.de`, `.jp`).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Authoritative DNS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Maintained by organizations/service providers containing the definitive, official mapping records for an institution's public hosts.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Local DNS Name Server (Resolver)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ISP / Campus resolver (e.g., Google 8.8.8.8, Cloudflare 1.1.1.1) acting as proxy intermediary cache for client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DNS Hierarchy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Root Servers: Global root '.'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TLD Servers: .com, .in, .org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Authoritative: vjcet.ac.in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Local Resolver: ISP DNS cache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Runs on UDP Port 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1.7.2 DNS Resolution Mechanisms: Iterative vs Recursive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RESOLUTION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Iterative DNS Query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Client Interaction: Local DNS server handles resolution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Response: Contacted server replies: 'I don't know the exact IP, but you should ask this next DNS server' (returns referral delegation)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Query Load: Local DNS server sequentially queries Root -&gt; TLD -&gt; Authoritative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Burden: Puts minimal load on Root and TLD server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Recursive DNS Query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Action: Contacted server takes full responsibility to obtain the final IP address on behalf of the requester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Chain of Queries: Client -&gt; Local -&gt; Root -&gt; TLD -&gt; Authoritative (and returns back up the chain)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Burden: Heavy connection holding state and CPU burden on high-level servers; generally restricted at Root/TLD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 Practice: Client to Local DNS is Recursive; Local DNS to Root/TLD/Authoritative is Iterative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1.7.3 DNS Resource Records (RR) &amp; Message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RESOURCE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Resource Record (RR) 4-Tuple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`(Name, Value, Type, TTL)` stored in DNS database.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A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Hostname, `Value` = IPv4 Address (e.g., `(vjcet.ac.in, 117.211.89.5, A, 3600)`).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AAAA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Hostname, `Value` = 128-bit IPv6 Address.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CNAME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Alias hostname, `Value` = Canonical / True hostname (e.g., `(www.vjcet.org, vjcet.ac.in, CNAME, 86400)`).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NS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Domain, `Value` = Hostname of Authoritative Name Server for domain (e.g., `(vjcet.ac.in, ns1.vjcet.ac.in, NS, 86400)`).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MX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Domain, `Value` = Hostname of Mail Server for domain (e.g., `(vjcet.ac.in, mail.vjcet.ac.in, MX, 3600)`).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DNS Caching &amp; TTL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Resolvers cache mapping records for `TTL` seconds, dramatically reducing query delays and global root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RR Summary Table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A: Hostname -&gt; IPv4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AAAA: Hostname -&gt; IPv6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CNAME: Alias -&gt; Canonical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NS: Domain -&gt; Name Server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MX: Domain -&gt; Mail Server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PTR: IP -&gt; Hostname (Reverse)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Domain Name System (DNS)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and explain the step-by-step resolution process for `www.vjcet.ac.in` comparing Iterative and Recursive queries.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format and role of DNS Resource Records (A, AAAA, CNAME, NS, MX, PTR) with examples.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Why does DNS use UDP on port 53 for standard queries instead of TCP? When is TCP used in DNS?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Standard DNS uses UDP port 53 for fast 1-round-trip resolution without 3-way handshake overhead.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port 53 is used for DNS Zone Transfers between primary/secondary servers and responses exceeding 512 bytes (EDNS0).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DNS caching drastically improves web browsing latency across the globe.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M1.8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Peer-to-Peer Paradigm &amp; BitTorrent Case Study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P2P File Distribution Time ($D_{P2P}$ vs $D_{CS}$), Torrents, Trackers &amp; DHT, Chunks &amp; Pieces, Rarest-First, Tit-for-Tat Choking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1.8.1 P2P File Distribution vs Client-Server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 P2P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File Distribution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server holds a file of size $F$ bits and needs to distribute copies to $N$ independent peer clients. Server upload rate is $u_s$, peer upload rates $u_i$, peer download rates $d_i$.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Client-Server Distribution Time ($D_{CS}$)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$D_{CS} \ge \max \{ \frac{N \cdot F}{u_s}, \frac{F}{d_{min}} \}$. As $N$ grows, $D_{CS}$ increases linearly with $N$. Adding more clients degrades service.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P2P Distribution Time ($D_{P2P}$)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$D_{P2P} \ge \max \{ \frac{F}{u_s}, \frac{F}{d_{min}}, \frac{N \cdot F}{u_s + \sum_{i=1}^N u_i} \}$. Each client donates upload capacity ($u_i$) back to the swarm.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Self-Scalability of P2P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As $N \to \infty$, the total upload capacity $(u_s + \sum u_i)$ scales proportionally with demand $N \cdot F$, bounding distribution time to a sub-linear / constant asymptote.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Scalability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D_CS &gt;= max(N*F/u_s, F/d_min)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D_P2P &gt;= max(F/u_s, F/d_min, N*F / (u_s + sum(u_i)))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Client-Server scales O(N)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P2P scales O(1) / O(log 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Peers act as uploaders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1.8.2 BitTorrent Protocol Architecture &amp;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 BITTORRENT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Torrents &amp; Swarms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collection of all peers participating in the distribution of a specific file is called a Swarm. File metadata is encoded in a `.torrent` file containing SHA-1 hashes of chunks.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Chunks &amp; Pieces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file is partitioned into equal chunks (typically 256 KB to 2 MB). As soon as a peer downloads a chunk, it can immediately upload it to other peers.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Tracker &amp; Trackerless DHT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central Tracker node maintains the list of active IP addresses in the swarm. Modern BitTorrent uses Kademlia Distributed Hash Tables (DHT) for trackerless operation.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Rarest-First Chunk Selection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peer determines which chunks are least common among its neighbors and requests those first. Ensures rare chunks are duplicated rapidly across the swarm to prevent missing chunk bottlenecks.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Tit-for-Tat (TFT) Choking Algorithm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peer gives upload priority to the top 4 peers currently supplying data to it at the highest rates (unchoked every 10 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Optimistic Unchoking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Every 30 s, a peer randomly picks 1 additional peer to upload to, discovering new faster partners and allowing newcomers to obtain their initial chunk.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BitTorrent Mechanics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Swarm: Group of active peers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Chunk Size: 256 KB - 2 MB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Rarest-First: Balances supply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Tit-for-Tat: Incentivizes uploading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Optimistic Unchoking: Finds peers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Seeders: 100% complete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P2P &amp; BitTorrent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theoretical file distribution time for Client-Server ($D_{CS}$) and P2P ($D_{P2P}$) architectures.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BitTorrent with focus on Rarest-First chunk selection, Tit-for-Tat choking, and Optimistic Unchoking.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peer churn in P2P networks, and how does Distributed Hash Table (DHT) handle it?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Client-Server distribution time increases linearly with $N$, whereas P2P distributes the upload burden.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Rarest-First ensures even chunk distribution across the swarm.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Tit-for-Tat solves free-riding by rewarding peers who contribute upload bandwidth.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M1.9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Case Study: CDNs &amp; Video Streaming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Content Distribution Networks (CDNs), DNS Redirection, Edge Server Placement, DASH (Dynamic Adaptive Streaming over HTTP)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1.9.1 Content Distribution Networks (CDNs)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 CDN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Web Scale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Serving massive video traffic (YouTube, Netflix) from a single mega data center causes single point of failure, network congestion, long-distance delay, and repeated link traversals.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CDN Philosophy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Deploy thousands of geographically distributed server clusters (Points of Presence - PoPs) at edge ISPs across the globe. Store replicated video copies close to end users.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Server Placement Philosophies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Enter Deep (Akamai): Deploy clusters inside thousands of access ISPs close to users. 2. Bring Home (Limelight): Deploy fewer large clusters at Tier-1 PoPs interconnected by private backbone.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CDN DNS Redirection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user requests `video.netflix.com`, authoritative DNS intercepts the request and returns a CNAME pointing to CDN domain. CDN's DNS resolver uses client IP to return the IP address of the geographically closest edge cache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CDN Benefits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Ultra-low latency to users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Reduces ISP transit costs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Absorbs DDoS attacks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High availability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1.9.2 DASH: Dynamic Adaptive Streaming over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 DASH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Video Encoding &amp; Chunks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Video is pre-encoded at multiple quality/bitrate versions (e.g., 360p 500 kbps, 720p 2 Mbps, 1080p 5 Mbps, 4K 15 Mbps) and partitioned into small chunks (2 to 10 seconds each).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MPD (Media Presentation Description)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An XML manifest file listing the URLs and bitrates for all chunks across every quality level.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Client-Side Dynamic Adaptation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client player continuously monitors available download bandwidth and buffer occupancy. It dynamically requests high-quality chunks when bandwidth is ample, and gracefully steps down to lower bitrates to avoid playback stalling.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over HTTP/TCP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Streams over standard HTTP/HTTPS port 80/443, effortlessly traversing firewalls and NATs without requiring proprietary streaming server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DASH Algorithm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MPD Manifest: Lists chunks &amp; bitrates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Client measures throughput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buffer high -&gt; Request 4K/1080p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bandwidth drops -&gt; Request 720p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Zero playback interruption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CDN &amp; Streaming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Content Distribution Networks (CDNs) use DNS redirection to route user requests to the optimal edge server.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architecture and working of Dynamic Adaptive Streaming over HTTP (DASH).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CDNs bring content close to users, cutting down WAN transit delays and backbone congestion.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DNS CNAME redirection enables real-time dynamic traffic routing based on network conditions.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DASH shifts streaming intelligence to the client, adapting video bitrate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