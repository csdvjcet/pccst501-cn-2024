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COMPLETE • MODULE 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&amp; Peer-to-Peer Paradigms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(M1.1 to M1.9)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Overview of the Internet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Network Edge, Network Core, Packet Switching vs Circuit Switching, Delay Models, Loss &amp; Throughput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1.1.1 Internet Structure: Edge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INTERNET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Internet: Network of Networks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global interconnection of billions of computing devices (hosts/end systems) running distributed network applications.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Edge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End systems (clients, servers, mobile, IoT) running application-layer software. Access networks (DSL, FTTH, 4G/5G, Wi-Fi) connect edge devices to the core.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Core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Interconnected mesh of packet switches (routers, link-layer switches) responsible for forwarding data packets across the global mesh.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Protocols &amp; Standards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Protocols define format, order of messages sent/received, and actions taken upon message transmission/receipt. Governed by IETF RFCs.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Structural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Tier-1 ISPs: Global transit backbone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IXPs: Internet Exchange Points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Regional ISPs: Connect local access nets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End Hosts: Produce &amp; consume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1.1.2 Switching Paradigms: Packet vs 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SWITCHING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Packet Switching (Internet)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Unit: Data chunked into discrete packets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Resource Allocation: Statistical Multiplexing on-demand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High link utilization; handles bursty data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Queueing &amp; Loss: Buffers packets; causes queuing delay &amp; loss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State: Stateless core; flexible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Circuit Switching (Legacy PSTN)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Unit: Continuous stream over dedicated circuit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Resource Allocation: Pre-allocated dedicated bandwidth (FDM/TDM)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Inefficient during idle / silent periods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Queueing &amp; Loss: Zero queuing delay; calls blocked if busy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State: Call setup / teardown state in switches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1.1.3 Delay, Loss &amp; Throughput in Packet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METRICS &amp; DELAYS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Total Nodal Delay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Sum of 4 fundamental delay components: $d_{nodal} = d_{proc} + d_{queue} + d_{trans} + d_{prop}$.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Nodal Processing Delay ($d_{proc}$)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required to inspect packet header, verify bit-level checksums, and determine output link (typically microseconds).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Queuing Delay ($d_{queue}$)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packet waits in output buffer for link transmission. Depends on traffic intensity $I = La / R$ ($I \to 1 \Rightarrow$ queue grows exponentially).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Delay ($d_{trans}$)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to push all packet bits onto link: $d_{trans} = L / R$ ($L$ = Packet bits, $R$ = Link bandwidth in bps).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Propagation Delay ($d_{prop}$)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for a bit to travel physically across link: $d_{prop} = d / s$ ($d$ = distance in meters, $s$ = propagation speed $\approx 2 \times 10^8$ m/s).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Packet Loss &amp; Throughput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buffer queues overflow, arriving packets are dropped. End-to-end throughput is bottlenecked by the slowest link on the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Exam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d_trans = L / R (sec)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d_prop = d / s (sec)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Traffic Intensity: I = (L * a) / 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If I &gt; 1: Queue grows infinitely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Throughput = min(R1, R2, ..., 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Protocol Layering &amp; Network Models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Layering Principles, OSI 7-Layer Architecture, TCP/IP 5-Layer Stack, Encapsulation &amp; PDUs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1.2.1 Protocol Layering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PROTOCOL LAYERING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Modular Architecture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Complex networking tasks are divided into distinct functional layers. Each layer relies on services from the layer below and provides services to the layer above.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Layer Independence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Changes in the internal implementation of one layer do not affect other layers, provided the inter-layer interface remains unchanged.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Encapsulation &amp; Decapsulation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 data travels down the stack at the sender, each layer prepends a header (and sometimes a trailer). At receiver, headers are stripped sequentially.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 Data Units (PDU)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L5: Message (App) $\to$ L4: Segment (TCP) / Datagram (UDP) $\to$ L3: Packet/Datagram (IP) $\to$ L2: Frame (Ethernet) $\to$ L1: Bits (Physical).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Advantages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Modularity simplifies design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Standardized interfaces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Interoperability across vendors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Easy maintenance and upgrades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1.2.2 Model Comparison: OSI 7-Layer vs TCP/IP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OSI VS TCP/IP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OSI Reference Model (ISO)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7. Application: User network interfaces (HTTP, FTP)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6. Presentation: Data translation, compression, encryption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5. Session: Dialog control &amp; synchronization checkpoints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4. Transport: End-to-end process delivery &amp; flow/error control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3. Network: Routing &amp; logical addressing across networks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2. Data Link: Node-to-node framing &amp; MAC error control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1. Physical: Bit stream transmission over raw media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TCP/IP Internet Stack (Practical)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5. Application: Combines OSI L7, L6, and L5 functions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4. Transport: Process-to-process delivery (TCP, UDP)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3. Network (Internet): Host-to-host routing (IPv4, IPv6, ICMP)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2. Data Link: Hardware frame delivery (Ethernet, Wi-Fi)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1. Physical: Cable signals, optical pulses, radio waves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1.2.3 PDU Encapsulation &amp; Addressing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ADDRESSING &amp; PDUs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Application Layer (L5)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Message. Uses Port Numbers (16-bit) and URLs/Hostnames to address application endpoints.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Transport Layer (L4)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Segment / Datagram. Adds Source &amp; Destination Port Numbers (e.g., Port 80, 443, 53) for process-to-process multiplexing.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Layer (L3)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Datagram / Packet. Adds Source &amp; Destination IP Addresses (32-bit IPv4 / 128-bit IPv6) for global host-to-host routing.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Link Layer (L2)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Frame. Adds Source &amp; Destination MAC Addresses (48-bit physical) and CRC-32 Frame Check Sequence (FCS) trailer.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Physical Layer (L1)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Bits. Encodes raw bit stream into voltages, light pulses, or RF carrier modulations.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Addressing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L5/L4: 16-bit Port (0-65535)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L3: 32-bit IPv4 / 128-bit IPv6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L2: 48-bit MAC (Hex notation)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L1: Physical voltage/frequencies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Paradigms &amp; Services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Client-Server vs Peer-to-Peer (P2P), Transport Service Requirements for Applications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1.3.1 Application Architecture Paradigms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M1.3 APP PARADIGMS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Client-Server Architecture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Host: Always-on host with permanent, well-known IP address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Hosts: Communicate with server; intermittent connections; dynamic IPs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Scalability: Server can become bottleneck; requires data centers / load balancers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Control: Centralized control, security, and authentication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Examples: Web (HTTP), Email (SMTP/IMAP), File Transfer (FTP)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Peer-to-Peer (P2P) Architecture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Peers: Arbitrary end systems communicate directly without dedicated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Self-Scalability: New peers bring service capacity as well as demand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Decentralization: No single point of failure; resilient against server outages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Management: Complex churn handling (peers join and leave arbitrarily)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Examples: BitTorrent, Gnutella, Blockchain networks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1.3.2 Transport Services Required by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M1.3 TRANSPORT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Reliable Data Transfer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Financial, web, and email apps require 100% loss-free transfer (TCP). Loss-tolerant audio/video can accept minor loss (UDP).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Throughput / Bandwidth Guarantees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Bandwidth-sensitive apps (VoIP, 4K video) need minimum throughput guarantees. Elastic apps adapt to available bandwidth.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Timing &amp; Latency Constraints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Interactive games and video conferencing require tight bounds on end-to-end delay (e.g. &lt; 150ms).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Security &amp; Encryption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Confidentiality, data integrity, and endpoint authentication provided by Transport Layer Security (TLS/HTTPS).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Abstraction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software interface through which application processes send and receive data over the network stack.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Protocol Matching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 (HTTP): TCP (Port 80/443)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Email (SMTP): TCP (Port 25/587)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DNS: UDP (Port 53) [Low latency]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Streaming: UDP / RTP (or DASH/TCP)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FTP: TCP (Ports 20 &amp; 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World Wide Web &amp; HTTP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HTTP/1.0, HTTP/1.1 Persistent Pipelining, HTTP/2 Binary Multiplexing, HTTP/3, Methods, Status Codes &amp; Caching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1.4.1 HTTP Protocol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HyperText Transfer Protocol (HTTP)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Application-layer request-response protocol running over TCP (Port 80 HTTP, Port 443 HTTPS).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Stateless Nature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Server maintains no information about past client requests. Cookies and sessions add state on top of HTTP.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Request Message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Request Line (`METHOD URL VERSION`), Header Lines (`Host:`, `User-Agent:`, `Accept:`), Blank Line (`\r\n`), and Entity Body (in POST).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Response Message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Status Line (`VERSION STATUS_CODE PHRASE`), Header Lines (`Content-Type:`, `Content-Length:`, `Set-Cookie:`), Blank Line, and Entity Body.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Methods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GET (retrieve data), POST (submit form/JSON), HEAD (fetch headers only), PUT (upload/replace resource), DELETE (remove resource).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Status Codes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200 OK: Request succeeded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301 Moved Permanently: Redirect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304 Not Modified: Cache valid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400 Bad Request: Malformed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404 Not Found: Missing URL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500 Internal Server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1.4.2 HTTP Connections: Non-Persistent vs Persistent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 CONNECTIONS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Non-Persistent HTTP (HTTP/1.0)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 Rule: At most one object sent over a single TCP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New TCP 3-way handshake for EVERY referenced object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Response Time: 2 RTTs + Transmission Time per referenced object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Load: High OS overhead managing multiple short-lived sockets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Parallel Connections: Browsers open ~6 parallel connections to compensate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Persistent HTTP (HTTP/1.1)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 Rule: Multiple objects sent over a SINGLE open TCP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Pipelining: Client sends subsequent requests without waiting for replies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Response Time: 1 RTT for initial connection + 1 RTT per batch of objects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Keep-Alive: Header `Connection: keep-alive` prevents socket teardown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Head-of-Line Blocking: Slow first response blocks subsequent queued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1.4.3 HTTP Evolution: HTTP/2 &amp; HTTP/3 &amp; Web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HTTP/2 &amp; CACHING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HTTP/2 Innovations (RFC 7540)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Replaces plain text with Binary Framing Layer. Introduces Stream Multiplexing: multiple requests/responses interleaved over one TCP connection without Head-of-Line (HoL) blocking.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Header Compression &amp; Server Push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HPACK algorithm compresses redundant headers across requests. Server Push proactively sends required assets (CSS/JS) before client requests them.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HTTP/3 over QUIC (RFC 9000)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Runs over UDP instead of TCP. Eliminates TCP-level Head-of-Line blocking and achieves zero-RTT connection resumption with integrated TLS 1.3.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Web Caching &amp; Proxy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Proxy servers satisfy client requests from local storage without contacting origin server. Reduces response time and access link traffic.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Conditional GET (`If-Modified-Since`)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Cache verifies freshness with origin server. If object unchanged, server returns `304 Not Modified` with zero entity body.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HTTP Evolution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HTTP/1.0: 1 Object per TCP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HTTP/1.1: Persistent + Keep-Alive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HTTP/2: Binary Multiplexing + Push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HTTP/3: UDP (QUIC) + 0-RTT TLS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 Caching: Reduces ISP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File Transfer Protocol (FTP)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Dual Connection Architecture, Out-of-Band Control, Active vs Passive Mode, Commands &amp; Status Codes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1.5.1 FTP Dual-Channel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M1.5 FTP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Two Parallel TCP Connections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FTP separates control signalling from actual data transfer by utilizing two distinct TCP connections.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Control Connection (Port 21)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Client connects to server port 21. Used for sending ASCII commands (`USER`, `PASS`, `LIST`, `RETR`, `STOR`) and receiving 3-digit status codes. Remains open throughout session.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Connection (Port 20 / Ephemeral)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Created dynamically whenever a file transfer or directory listing is requested. Closed immediately upon file transfer completion.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Out-of-Band Control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Because control information is sent on a completely separate connection from data, FTP is termed an 'Out-of-Band' control protocol (unlike HTTP which is in-band).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Stateful Server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FTP server maintains state about client (current directory, authentication state, transfer parameters).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FTP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USER &lt;username&gt;: Login 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PASS &lt;password&gt;: Auth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LIST: Request directory listing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RETR &lt;filename&gt;: Download file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STOR &lt;filename&gt;: Upload file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QUIT: Close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1.5.2 FTP Modes: Active vs Passive (PASV)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M1.5 ACTIVE VS PASSIVE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Active Mode FTP (Standard)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1: Client connects from port N to Server Port 21 (Control)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2: Client sends `PORT` command telling server its IP and port 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3: Server initiates data connection from Port 20 to Client Port 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Firewall Issue: Client-side firewall blocks incoming connection from server port 20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Clients with direct public IP addresses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Passive Mode FTP (PASV - Modern)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1: Client connects from port N to Server Port 21 (Control)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2: Client sends `PASV` command to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3: Server opens random unprivileged port P and tells client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4: Client initiates data connection from port N+1 to Server port P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Firewall Friendly: All connections initiated outbound by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Electronic Mail (SMTP, POP3, IMAP, MIME)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Email Architecture, Push vs Pull Models, Simple Mail Transfer Protocol, POP3 vs IMAP4 &amp; MIME Encoding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1.6.1 Electronic Mail Architecture &amp; SMTP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EMAIL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Three Core Components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User Agents (UA: Mail readers like Outlook, Thunderbird), Mail Servers (contain mailboxes &amp; outgoing message spools), and Transfer Protocols.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SMTP (Simple Mail Transfer Protocol)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Standard push protocol for transferring email messages reliably between mail servers over TCP (Port 25 standard, 587 submission).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SMTP Push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User Agent pushes email to Sender Mail Server via SMTP $\to$ Sender Mail Server pushes email directly to Recipient Mail Server via SMTP.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Connection Phases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Three phases: Handshake (`HELO` / `EHLO`), Message Transfer (`MAIL FROM:`, `RCPT TO:`, `DATA`), and Closure (`QUIT`).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7-Bit ASCII Limitation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Original SMTP body restricted to plain 7-bit ASCII characters. Multimedia require MIME extensions.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SMTP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HELO / EHLO: Client greeting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MAIL FROM: Identifies sender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RCPT TO: Identifies recipient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DATA: Begins email body text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. (Single dot on line): Ends body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QUIT: Terminates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1.6.2 Mail Access Protocols: POP3 vs IMAP4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POP3 VS IMAP4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POP3 (Post Office Protocol v3 - Port 110)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Paradigm: Download-and-delete / Download-and-keep mode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Folder Management: Messages downloaded locally; cannot create server folders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Multi-Device Sync: Poor; state changes on one device not reflected on others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Storage: Minimal server storage required; client maintains local archive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Statelessness: Stateless across client 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IMAP4 (Internet Message Access Protocol - Port 143)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Paradigm: Remote message management on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Folder Management: Allows creating, renaming, and nesting folders on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Multi-Device Sync: Perfect synchronization across phone, laptop, webmail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Partial Download: Allows fetching message headers before downloading body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Stateful: Server tracks read, flagged, and deleted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1.6.3 MIME (Multipurpose Internet Mail Extensions)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MIME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Motivation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Enables sending non-ASCII data (images, audio, video, attachments, non-English character sets) across standard 7-bit ASCII SMTP infrastructure.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MIME Header Extensions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`MIME-Version: 1.0`, `Content-Type:` (e.g. `text/html`, `image/jpeg`, `multipart/mixed`), `Content-Transfer-Encoding:`.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Base64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Converts arbitrary binary data into 6-bit chunks mapped to 64 printable ASCII characters (`A-Z`, `a-z`, `0-9`, `+`, `/`). Every 3 binary bytes produce 4 ASCII chars (33% overhead).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Quoted-Printable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for text with few non-ASCII characters; non-ASCII byte represented as `=XX` (hex).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Multipart MIME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single email message to contain plain text, HTML version, and multiple attached binary files separated by a boundary string.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Push vs Pull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 UA -&gt; Sender Server: SMTP (Push)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 Server -&gt; Recv Server: SMTP (Push)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Recv Server -&gt; Recv UA: POP3/IMAP (Pull)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Webmail: HTTP between UA and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M1.7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Domain Name System (DNS)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Hierarchical Namespace, Root &amp; TLD Servers, Recursive vs Iterative Resolution, Resource Records &amp; Caching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1.7.1 DNS Hierarchy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DNS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DNS Role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Distributed, hierarchical database that translates human-friendly hostnames (e.g. `www.vjcet.ac.in`) into 32-bit IPv4 or 128-bit IPv6 machine addresses. Operates over UDP/TCP Port 53.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Root DNS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Top of DNS tree. 13 logical root server addresses (replicated globally via Anycast routing). Returns TLD server referrals.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Top-Level Domain (TLD)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 top-level domains: Generic TLDs (`.com`, `.org`, `.edu`) and Country-code TLDs (`.in`, `.uk`, `.us`). Returns authoritative server referrals.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Authoritative DNS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Maintained by organizations/service providers. Stores actual mappings for organization's publicly accessible hosts.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Local DNS Resolvers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Operated by ISPs / enterprise networks. Intercepts host queries and performs DNS tree resolution on behalf of the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DNS Server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Root DNS Servers (13)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TLD Servers (.com, .in, .edu)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Authoritative Servers (vjcet.ac.in)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Local Resolvers (ISP / 8.8.8.8)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1.7.2 DNS Query Resolution: Recursive vs Iterative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RESOLUTION METHODS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Recursive DNS Resolution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Burden: Client/resolver offloads full lookup work to queried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Process: Server contacts other servers sequentially until answer found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Root Server Impact: Places heavy processing &amp; memory burden on higher servers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Usage: Standard between Client Host and Local DNS Resolver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Iterative DNS Resolution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Referral Model: Queried server responds immediately with 'I do not know, ask this server next'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Process: Local resolver contacts Root -&gt; TLD -&gt; Authoritative itself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Root Server Impact: Lightweight; preserves root/TLD server capacity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Usage: Standard among Local Resolver, Root, and TLD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1.7.3 DNS Resource Records (RR) &amp;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DNS RECORDS &amp;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Resource Record Format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Stored as 4-tuple: `(Name, Value, Type, TTL)`.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hostname, `Value` is IPv4 address (e.g. `vjcet.ac.in -&gt; 103.112.212.10`).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AAAA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hostname, `Value` is IPv6 address.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CNAME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alias hostname, `Value` is canonical real hostname (e.g. `www.vjcet.ac.in -&gt; vjcet.ac.in`).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MX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domain name, `Value` is mail server hostname handling email for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domain name, `Value` is authoritative name server hostname.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DNS Caching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Resolvers cache learned RRs for duration specified by TTL (Time-to-Live). Drastically reduces internet latency and root server 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Record Types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A: Hostname -&gt; IPv4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AAAA: Hostname -&gt; IPv6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CNAME: Alias -&gt; Canonical Name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MX: Domain -&gt; Mail Server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NS: Domain -&gt; Authoritative Server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TTL: Cache validity time (sec)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M1.8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Peer-to-Peer Paradigm &amp; BitTorrent Case Study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P2P Scalability Analysis, BitTorrent Swarming, Trackers, Rarest-First Chunk Selection &amp; Tit-for-Tat Choking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1.8.1 P2P vs Client-Server File Distribution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P2P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File Distribution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Distribute a large file of size $F$ bits from a single server to $N$ independent peers/clients.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Client-Server Distribution 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$D_{C-S} \ge \max \left( \frac{NF}{u_s}, \frac{F}{d_{min}} \right)$. Time increases LINEARLY with $N$. As $N \to \infty$, server upload link becomes the fatal bottleneck.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P2P Distribution 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$D_{P2P} \ge \max \left( \frac{F}{u_s}, \frac{F}{d_{min}}, \frac{NF}{u_s + \sum_{i=1}^N u_i} \right)$.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Self-Scalability Principle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Each new peer downloading the file ALSO contributes its upload capacity $u_i$ to assist other peers, keeping distribution time bounded.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Scalability Comparison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Client-Server: O(N) linear growth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P2P: Sub-linear, asymptotically bounded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u_s: Server upload capacity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d_min: Minimum client download speed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sum(u_i): Aggregate peer upload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1.8.2 BitTorrent Architecture &amp; Swarm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BITTORRENT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BitTorrent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popular P2P protocol for distributing large files efficiently across thousands of cooperating peers.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Torrent &amp; Chunks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Target file is split into fixed-size chunks (typically 256 KB). A `.torrent` metadata file contains chunk cryptographic hashes and tracker URL.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Tracker &amp; Swarm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centralized server (or distributed DHT) that tracks all peers currently downloading/uploading the torrent. The collection of participating peers is the 'Swarm'.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Leechers vs Seeders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Leechers: Peers still downloading missing chunks while uploading acquired ones. Seeders: Peers possessing 100% of file chunks who remain online solely to upload.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BitTorrent Components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Torrent File: Metadata descriptor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Tracker: Coordinates active peer list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Swarm: Entire pool of active peers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Chunks: 256 KB file fragments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SHA-1 Hashes: Verify chunk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1.8.3 BitTorrent Algorithms: Rarest-First &amp; Tit-for-Tat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BITTORRENT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Rarest-First Chunk Selection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Peers determine which chunks are least common among their connected neighbors and request those first. Prevents rarest chunks from disappearing and maximizes chunk diversity.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Tit-for-Tat (TFT) Choking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Incentivizes uploading. Peer measures upload rates from all neighbors and 'unchokes' the top 4 fastest uploaders. Other neighbors are 'choked' (no data sent). Re-evaluated every 10s.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Optimistic Unchoking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Every 30 seconds, a peer randomly unchokes one additional choked neighbor. Allows discovering new peers with potentially faster upload speeds and lets newly joined leechers acquire their first chunk.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Free-Rider Mitigation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Tit-for-Tat discourages free-riders (peers that download without uploading) by starving them of high-speed data feeds.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Rarest-First: Balances chunk supply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Top 4 Unchoked: Rewards fast peers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Optimistic Unchoke: Discovers new links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TFT cycle: 10s; Opt unchoke: 30s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M1.9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Case Study &amp; Socket Mapping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Comprehensive Protocol Comparison, Port Addressing Summary, and Socket API Interface Mapping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1.9.1 Master Protocol Comparison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M1.9 PROTOCOL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Web &amp; File Transfer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HTTP/1.1: TCP Port 80, In-band, Stateless, Persistent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HTTP/2 &amp; HTTP/3: TCP/443 &amp; UDP/443, Multiplexed, Binary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FTP Control: TCP Port 21, Out-of-band, Stateful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FTP Data: TCP Port 20 (or Ephemeral), Closed per file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DNS: UDP Port 53 (TCP for zone transfers), Hierarchical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Email &amp; P2P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SMTP: TCP Port 25/587, Push model, 7-bit ASCII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POP3: TCP Port 110, Pull model, Download &amp; Delete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IMAP4: TCP Port 143, Pull model, Remote folder sync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BitTorrent: P2P over TCP/UDP, Swarm-based, Tit-for-Tat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MIME: Encapsulation header &amp; Base64 binary encoding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1.9.2 Socket Interface &amp; Application Layer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M1.9 SOCKET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as Application Doorway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Application processes interact with the operating system networking stack via the Berkeley Socket API.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Transport Choice Binding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 chooses `SOCK_STREAM` (TCP for reliability, order, flow control) or `SOCK_DGRAM` (UDP for speed, low overhead, multicasting).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Port Number Binding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Servers bind to well-known ports (&lt; 1024, root privilege) while clients are assigned ephemeral ports (49152 - 65535).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Application Layer Framing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Because TCP is a continuous byte-stream without message boundaries, application protocols must implement their own framing (e.g. `\r\n\r\n` delimiter in HTTP, `Content-Length:` header, or ASN.1 TLV).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Module 1 Review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Edge vs Core &amp; Delays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OSI 7 vs TCP/IP 5 Layers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Client-Server vs P2P Models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HTTP, FTP, SMTP, DNS, P2P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CO1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