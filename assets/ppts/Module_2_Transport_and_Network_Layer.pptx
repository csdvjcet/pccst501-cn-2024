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MASTER • MODULE 2 MASTER DECK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Transport &amp; Network Layer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Complete Lecture Slides for KTU PCCST501 Computer Networks | Topics M2.1.1 through M2.3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Transport Layer Services &amp; Multiplexing Principles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Process-to-Process Communication, Port Addressing, Connectionless vs Connection-Oriented Demultiplexing (2-Tuple vs 4-Tuple)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2.1.1.1 Transport Layer Core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M2.1.1 TRANSPORT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Process-to-Process Logical Delivery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While the Network Layer delivers packets host-to-host between IP addresses, the Transport Layer extends this to deliver messages process-to-process between application sockets.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Port Addressing &amp; Socket Binding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Processes are identified via 16-bit Port Numbers (0 to 65,535). Sockets bind an IP address and Port number together as an end-to-end communication endpoint.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Layer Responsibilities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Multiplexing &amp; Demultiplexing, 2. Reliability (Loss detection, ACKs, retransmissions), 3. Flow Control (Preventing receiver buffer overflow), 4. Congestion Control (Preventing network core collapse).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Limitations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Transport protocols cannot provide hard real-time delay bounds or guaranteed bandwidth on standard best-effort IP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Port Numbers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80: HTTP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443: HTTPS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22: SSH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53: DNS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25: SMTP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21: FTP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2.1.1.2 Demultiplexing: Connectionless (UDP) vs Connection-Oriented (TCP)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M2.1.1 DEMULTIPLEXING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UDP Demultiplexing (2-Tuple)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Identifier Tuple: Identified strictly by: `(Destination IP, Destination Port)`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Behavior: Two UDP datagrams arriving from different source IP/ports targeted at same Dest Port are delivered to the exact same socket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State: Completely stateless; no connection handshake or per-peer buffers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Speed: Zero connection establishment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TCP Demultiplexing (4-Tuple)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Identifier Tuple: Identified by 4-tuple: `(Source IP, Source Port, Destination IP, Destination Port)`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Behavior: Server listening socket (`listen()`) forks/spawns a distinct connected socket (`accept()`) for each unique client 4-tuple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State: Full connection state, sequence tracking, and dedicated receive buffers per connection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Scalability: Enables concurrent multi-client web/database servers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Transport Layer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host-to-host delivery and process-to-process delivery with a neat diagram.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how multiplexing and demultiplexing work in UDP and TCP. Why does TCP require a 4-tuple while UDP needs only a 2-tuple?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Network layer provides host-to-host IP delivery; Transport layer provides process-to-process port delivery.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demux uses Destination Port only; TCP demux uses Source IP, Source Port, Dest IP, Dest Port.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creates separate connected sockets for every distinct client connection.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Transport Protocols &amp; User Datagram Protocol (UDP)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UDP Segment Header Structure, 16-Bit 1's Complement Checksum with Pseudo-Header, UDP Applications &amp; Use Cases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2.1.2.1 UDP Protocol Architecture &amp; 8-Byte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M2.1.2 UDP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UDP Characteristics (RFC 768)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Connectionless, unreliable, lightweight, message-oriented transport protocol. Provides bare minimum services: process multiplexing and optional error checking.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Why Use UDP?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No connection establishment delay (0-RTT), 2. No connection state at server, 3. Small header overhead (8 bytes vs TCP 20 bytes), 4. Unregulated send rate (no congestion throttling).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UDP 8-Byte Header Format (32-bit width)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Source Port (16 bits) | Destination Port (16 bits) \n Length (16 bits, header + payload in bytes) | Checksum (16 bits).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Message Boundary Preservation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UDP sends data in discrete datagrams. If sender writes 500 bytes twice, receiver reads 500 bytes twice (preserves message boundaries, unlike TCP byte stream).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Header Breakdown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Source Port: 16 bits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Destination Port: 16 bits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Length: 16 bits (Min 8 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Checksum: 16 bits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Total Header: Exactly 8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2.1.2.2 UDP 16-Bit 1's Complement Checksum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M2.1.2 CHECKSUM CALCULATION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Compute the UDP checksum for three 16-bit words: Word 1 = 0x66B4 (0110 0110 1011 0100), Word 2 = 0x5555 (0101 0101 0101 0101), Word 3 = 0x8F0C (1000 1111 0000 1100). Show wraparound carry addition and 1's complement inversion. Also explain how the receiver verifies checksum integrity.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1: Sum 16-bit words using standard binary addition.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2: If sum produces a 17th bit (carry overflow), wrap it around and add to the least significant bit.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Step 3: Invert all bits (1's complement) to obtain the transmitted Checksum field.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Receiver: Sums all received words including Checksum; valid result must be 0xFFFF (all 1s).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Sum Word 1 + Word 2: 0x66B4 + 0x5555 = 0xBC09 (1011 1100 0000 1001)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Add Word 3: 0xBC09 + 0x8F0C = 0x14B15 (1 0100 1011 0001 0101 - Carry generated!)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Wrap carry around: 0x4B15 + 1 = 0x4B16 (0100 1011 0001 0110)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Take 1's complement (~0x4B16): 1011 0100 1110 1001 = 0xB4E9 (Checksum transmitted)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Receiver Verification: 0x4B16 + 0xB4E9 = 0xFFFF (1111 1111 1111 1111 -&gt; Verified Valid!)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Transmitted Checksum = 0xB4E9 | Receiver sum = 0xFFFF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Note: UDP includes an IP Pseudo-Header (Source IP, Dest IP, Protocol 17, UDP Length) in checksum calculation to detect misrouted packets.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UDP Protocol &amp; Checksum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UDP segment header format and explain all fields. Why is UDP header size fixed at 8 bytes?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step-by-step procedure for computing the UDP 16-bit 1's complement checksum. What is the role of the pseudo-header?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Why is UDP preferred over TCP for DNS queries, SNMP, and real-time gaming?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header is minimal (8 bytes) with Source Port, Dest Port, Length, and Checksum.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Checksum calculation wraps around carry bits and inverts result for easy receiver verification (0xFFFF).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avoids TCP connection overhead and latency fluctuations from retransmissions.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Transmission Control Protocol (TCP)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TCP 20-Byte Header Format, 3-Way Handshake Connection Setup, 4-Way Connection Teardown (TIME_WAIT 2MSL), Sequence/ACK Mechanics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2.1.3.1 TCP Header Architecture (RFC 793 / 9293)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M2.1.3 TCP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Connection-Oriented Byte Stream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TCP provides full-duplex, reliable, sequenced byte-stream transfer between communicating processes.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Header Format (20 to 60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Source Port (16b) | Destination Port (16b) \n Sequence Number (32b: byte-stream offset) \n Acknowledgment Number (32b: next expected byte) \n Data Offset (4b: header length in 32-bit words) | Reserved (4b) | Flags (8b) | Window Size (16b) \n Checksum (16b) | Urgent Pointer (16b) \n Options (0 to 40 bytes: MSS, Window Scale, SACK, Timestamps).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TCP Control Flags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SYN (Establish connection), ACK (Ack valid), FIN (Close connection), RST (Reset/abort connection), PSH (Push data immediately to app), URG (Urgent pointer active), ECE &amp; CWR (Explicit Congestion Notification).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Cumulative Acknowledgment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TCP Ack number $N$ indicates the receiver has successfully received all contiguous bytes up to $N-1$ and is expecting byte $N$.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TCP Control Flags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SYN: Connection request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ACK: Acknowledgment field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FIN: Graceful teardown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RST: Reset connection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PSH: Push buffer to app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URG: Out-of-band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2.1.3.2 Connection Lifecycle: 3-Way Handshake vs 4-Way Teardown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M2.1.3 TCP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3-Way Handshake (Connection Setup)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1 (Client -&gt; Server): Client sends `SYN = 1`, `Seq = x` (Initial Sequence Number $ISN_c$). Enters `SYN_SENT` state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2 (Server -&gt; Client): Server allocates buffers, replies `SYN = 1`, `ACK = 1`, `Seq = y` ($ISN_s$), `Ack = x + 1`. Enters `SYN_RCVD`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3 (Client -&gt; Server): Client sends `ACK = 1`, `Seq = x + 1`, `Ack = y + 1` (may piggyback initial application data). Enters `ESTABLISHED`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SYN Flood Defense: TCP SYN Cookies prevent server memory exhaustion from bogus SYN requests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4-Way Connection Teardown (Graceful Close)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1 (Client -&gt; Server): Client finishes sending, transmits `FIN = 1`, `Seq = u`. Enters `FIN_WAIT_1`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2 (Server -&gt; Client): Server acknowledges with `ACK = 1`, `Ack = u + 1`. Enters `CLOSE_WAIT`; Client enters `FIN_WAIT_2`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3 (Server -&gt; Client): Server finishes outstanding data, transmits `FIN = 1`, `Seq = v`. Enters `LAST_ACK`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Step 4 (Client -&gt; Server): Client replies `ACK = 1`, `Ack = v + 1`. Client enters `TIME_WAIT` for 2MSL (Maximum Segment Lifetime = 60-120s) before terminating to ensure final ACK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TCP Connection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complete TCP segment header format and explain all fields, especially Sequence Number, ACK Number, and Control Flags.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Illustrate the TCP 3-Way Handshake with sequence and acknowledgment numbers. Why is a 2-way handshake insufficient?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purpose of the `TIME_WAIT` state and the 2MSL timer during TCP connection termination.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Sequence number tracks the byte offset of transmitted data; ACK number represents the next expected byte.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3-way handshake is mandatory to synchronize Initial Sequence Numbers (ISNs) bi-directionally and verify full-duplex connectivity.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`TIME_WAIT` (2MSL) guarantees that any lingering duplicate packets in the network expire before the socket is reused.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TCP Flow &amp; Congestion Control Mechanisms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Sliding Window Flow Control, Silly Window Syndrome, Congestion Window (cwnd), Slow Start, AIMD, Fast Retransmit, TCP Tahoe vs Reno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2.1.4.1 Flow Control &amp; Silly Window Syndrome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 FLOW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Flow Control Goal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Matches the sender's transmission rate to the receiver's consumption rate to prevent receiver buffer overflow.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Receive Window (`rwnd`) Mechanics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Receiver advertises remaining buffer space via `rwnd` field in TCP header. Sender ensures: $\text{LastByteSent} - \text{LastByteAcked} \le \min(\text{cwnd}, \text{rwnd})$.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Zero-Window Probing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When receiver buffer is full (`rwnd = 0`), sender stops transmitting but periodically sends 1-byte probe segments to force receiver to return window update ACKs.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Silly Window Syndrome (SWS)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Occurs when data is transmitted in tiny chunks (1 byte payload + 40 bytes header = 97.5% overhead).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SWS Solutions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**Nagle's Algorithm (Sender-side)**: Send first small segment; buffer subsequent data until all previous data is ACKed or MSS is reached. 2. **Clark's Solution (Receiver-side)**: Receiver advertises `rwnd = 0` until buffer space is at least MSS or 50% buffer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Variables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rwnd: Receiver buffer limit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cwnd: Network congestion limit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Effective Win = min(cwnd, rwnd)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Nagle's: Buffers small writes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Clark's: Suppresses tiny rwnd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2.1.4.2 Congestion Control: TCP Tahoe vs TCP Reno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 TAHOE VS RENO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TCP Tahoe (Legacy)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Slow Start Phase: Begins with `cwnd = 1 MSS`. Increases `cwnd` exponentially: doubles every RTT (`cwnd += 1 MSS` per ACK received)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Congestion Avoidance: When `cwnd &gt;= ssthresh`, transitions to AIMD: increases `cwnd` linearly by 1 MSS per RTT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Loss Detection (Timeout or 3 Dup ACKs): 1. `ssthresh = cwnd / 2` \n 2. Drops `cwnd = 1 MSS` (always resets to slow start)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Performance: Severe throughput collapse upon any single packet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TCP Reno (Standard)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Slow Start &amp; Congestion Avoidance: Identical to Tahoe during normal growth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Timeout Loss: Severe congestion: `ssthresh = cwnd / 2`, `cwnd = 1 MSS` (resets to Slow Start)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On 3 Duplicate ACKs (Fast Retransmit): Mild congestion: Retransmits lost segment immediately without waiting for retransmission timer to expire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Fast Recovery Phase: Skips slow start! Sets `ssthresh = cwnd / 2`, sets `cwnd = ssthresh + 3 MSS`, continues linear AIMD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2.1.4.3 Worked KTU Numerical: TCP Congestion Window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 WORKED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TCP Reno connection has ssthresh = 16 MSS. Starting at RTT 1 with cwnd = 1 MSS in Slow Start: (a) Trace cwnd values up to RTT 8. (b) At RTT 8, three duplicate ACKs are received. Calculate new ssthresh and cwnd for RTT 9 and RTT 10 under Fast Recovery.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Slow Start: cwnd doubles every RTT until ssthresh is reached.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Congestion Avoidance (AIMD): cwnd increases by +1 MSS per RTT.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Fast Retransmit / Fast Recovery (3 Dup ACKs): ssthresh_new = cwnd / 2, cwnd_new = ssthresh_new.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RTT 1: cwnd = 1 MSS (Slow Start)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RTT 2: cwnd = 2 MSS | RTT 3: cwnd = 4 MSS | RTT 4: cwnd = 8 MSS | RTT 5: cwnd = 16 MSS (ssthresh reached)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RTT 6: cwnd = 17 MSS (AIMD Linear) | RTT 7: cwnd = 18 MSS | RTT 8: cwnd = 19 MSS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At RTT 8, 3 Dup ACKs occur: ssthresh_new = 19 / 2 = 9.5 -&gt; 9 MSS.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RTT 9: Under TCP Reno Fast Recovery, cwnd = 9 MSS. RTT 10: cwnd = 10 MSS (continues linear AIMD).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RTT 8: 19 MSS -&gt; Loss -&gt; RTT 9: cwnd = 9 MSS, ssthresh = 9 MSS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If loss was caused by Timeout instead of 3 Dup ACKs, cwnd would drop to 1 MSS.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TCP Flow &amp; Congestion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TCP Sliding Window flow control and how the receiver window `rwnd` prevents buffer overrun.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Silly Window Syndrome? Explain Nagle's algorithm and Clark's solution with examples.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TCP Tahoe and TCP Reno congestion control algorithms with a neat graph plotting `cwnd` versus Transmission RTTs.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Flow control is receiver-driven (`rwnd`); Congestion control is network-driven (`cwnd`).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Effective transmission window is the minimum of `cwnd` and `rwnd`.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Reno avoids slow start upon 3 duplicate ACKs via Fast Retransmit and Fast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Berkeley Socket API &amp; I/O Multiplexing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Socket System Calls Lifecycle (TCP &amp; UDP), I/O Multiplexing with select() and poll(), fd_set Macros, Non-Blocking Sockets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2.1.5.1 Berkeley Socket API System Call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M2.1.5 SOCKET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Socket Abstraction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socket is a kernel endpoint for network I/O represented as an integer file descriptor in Linux (`int sockfd`).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TCP Server Lifecycle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`socket(AF_INET, SOCK_STREAM, 0)` -&gt; Creates endpoint \n 2. `bind(sockfd, &amp;addr, sizeof)` -&gt; Associates socket with IP/Port \n 3. `listen(sockfd, backlog)` -&gt; Sets passive listening mode and backlog queue \n 4. `accept(sockfd, &amp;client_addr, &amp;len)` -&gt; Blocks until client connects, returns new connected descriptor \n 5. `read()` / `write()` or `recv()` / `send()` -&gt; Data exchange \n 6. `close(sockfd)` -&gt; Tears down connection.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TCP Client Lifecycle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`socket()` -&gt; 2. `connect(sockfd, &amp;server_addr, sizeof)` (initiates 3-way handshake) -&gt; 3. `write()` / `read()` -&gt; 4. `close()`.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UDP Sockets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Connectionless: Server calls `socket()` -&gt; `bind()` -&gt; `recvfrom()` -&gt; `sendto()`. Client calls `socket()` -&gt; `sendto()` -&gt; `recvfrom()` without `listen()` or `accept()`.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System Calls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socket(): Create fd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bind(): Bind IP &amp; Port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listen(): Passive queue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accept(): Return client fd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connect(): 3-way handshake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sendto()/recvfrom(): UDP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2.1.5.2 I/O Multiplexing: `select()` System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M2.1.5 IO MULTIPLEXING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2179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</a:defRPr>
            </a:pPr>
            <a:r>
              <a:t>// Linux Socket &amp; Protocol Implementation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#include &lt;sys/select.h&gt;</a:t>
            </a:r>
            <a:br/>
            <a:r>
              <a:t>int max_fd = listen_fd;</a:t>
            </a:r>
            <a:br/>
            <a:r>
              <a:t>fd_set read_fds;</a:t>
            </a:r>
            <a:br/>
            <a:br/>
            <a:r>
              <a:t>while (1) {</a:t>
            </a:r>
            <a:br/>
            <a:r>
              <a:t>    FD_ZERO(&amp;read_fds);</a:t>
            </a:r>
            <a:br/>
            <a:r>
              <a:t>    FD_SET(listen_fd, &amp;read_fds);</a:t>
            </a:r>
            <a:br/>
            <a:r>
              <a:t>    // Add active client descriptors</a:t>
            </a:r>
            <a:br/>
            <a:r>
              <a:t>    for (int i = 0; i &lt; max_clients; i++) {</a:t>
            </a:r>
            <a:br/>
            <a:r>
              <a:t>        if (client_fds[i] &gt; 0) FD_SET(client_fds[i], &amp;read_fds);</a:t>
            </a:r>
            <a:br/>
            <a:r>
              <a:t>        if (client_fds[i] &gt; max_fd) max_fd = client_fds[i];</a:t>
            </a:r>
            <a:br/>
            <a:r>
              <a:t>    }</a:t>
            </a:r>
            <a:br/>
            <a:r>
              <a:t>    // Block until at least one descriptor is ready for read</a:t>
            </a:r>
            <a:br/>
            <a:r>
              <a:t>    int activity = select(max_fd + 1, &amp;read_fds, NULL, NULL, NULL);</a:t>
            </a:r>
            <a:br/>
            <a:r>
              <a:t>    if (FD_ISSET(listen_fd, &amp;read_fds)) {</a:t>
            </a:r>
            <a:br/>
            <a:r>
              <a:t>        int new_fd = accept(listen_fd, ...);</a:t>
            </a:r>
            <a:br/>
            <a:r>
              <a:t>        // Add new_fd to client list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38912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E4A"/>
                </a:solidFill>
              </a:defRPr>
            </a:pPr>
            <a:r>
              <a:t>⚙️ System Call &amp;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Why I/O Multiplexing?: Allows a single-threaded server process to monitor multiple socket descriptors simultaneously without blocking on any single slow client.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`fd_set` Bitmask Macros: `FD_ZERO(&amp;set)` clears mask, `FD_SET(fd, &amp;set)` adds fd, `FD_CLR(fd, &amp;set)` removes fd, `FD_ISSET(fd, &amp;set)` tests readiness.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`select()` Parameters: `int select(int nfds, fd_set *readfds, fd_set *writefds, fd_set *exceptfds, struct timeval *timeout)`. `nfds` is `max_fd + 1`.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`poll()` vs `select()`: `poll()` uses array of `struct pollfd` (no `FD_SETSIZE` 1024 descriptor limit and separate input/output events).</a:t>
            </a:r>
          </a:p>
          <a:p>
            <a:pPr>
              <a:defRPr b="1" sz="1150">
                <a:solidFill>
                  <a:srgbClr val="0E7490"/>
                </a:solidFill>
              </a:defRPr>
            </a:pPr>
            <a:r>
              <a:t>💡 Hands-on Insight: Single-threaded I/O multiplexing handles hundreds of concurrent connections with minimal memory overhead compared to multi-threading.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Socket API &amp; select()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Write the sequence of Berkeley socket system calls executed on both server and client for TCP connection establishment and data transfer.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I/O multiplexing using the `select()` system call with code structure and `fd_set` macros.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blocking, non-blocking, and I/O multiplexed socket architectures.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`listen()` creates a passive socket queue; `accept()` extracts the next connection from the queue.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`select()` monitors multiple file descriptors simultaneously, unblocking as soon as any fd is ready.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`poll()` and `epoll()` overcome the 1024 file descriptor limitation of traditional `select()`.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Network Layer Architecture &amp; Router Design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Data Plane (Forwarding) vs Control Plane (Routing), Datagram Networks vs Virtual Circuits, Router Fabrics &amp; Buffer Queuing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2.2.1.1 Network Layer: Data Plane vs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M2.2.1 NETWORK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Layer Core Mission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Achieving end-to-end host-to-host packet delivery across multiple heterogeneous intermediate networks.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Data Plane (Forwarding)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Local, per-router action. Takes a packet arriving on an input link interface and moves it to the appropriate output link interface in nanoseconds. Implemented in high-speed hardware ASIC/TCAM.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Control Plane (Routing)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Network-wide logic. Determines the end-to-end global path that packets take from source to destination. Implemented in software routing algorithms (OSPF, RIP, BGP) or centralized SDN controllers.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Service Models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Internet uses Best-Effort Service Model: no guarantees on delivery, delay, bandwidth, or ordering. Simplicity in the network core pushed intelligence to end hosts.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Plane Separation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Data Plane: Local forwarding (ASIC/Hardware)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Control Plane: Global routing (Software/OSPF)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Nanosecond speed in Data Plane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Millisecond speed in 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2.2.1.2 Network Models: Datagram vs Virtual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M2.2.1 DATAGRAM VS VC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Datagram Networks (Internet IP)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Connection Setup: No connection setup phase; packets injected immediately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Addressing: Packets carry full global 32-bit/128-bit Source and Destination IP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Routing Path: Each packet routed independently; successive packets may follow different paths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Router State: Stateless routers; failure of a link triggers automatic rerouting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Complexity: Pushed to network edge end hosts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Virtual Circuit Networks (ATM / Frame Relay)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Connection Setup: Mandatory end-to-end signaling setup before data transfer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Addressing: Packets carry small local Virtual Circuit Identifier (VCI)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Routing Path: All packets in a connection follow the exact same fixed virtual path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Router State: Routers maintain per-connection state tables; link failure drops VC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Complexity: Heavy complexity in network core switches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Network Layer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the Data Plane and Control Plane of the Network Layer.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Datagram networks and Virtual Circuit networks with respect to connection setup, addressing, and router state.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internal architecture of a modern high-speed router (Input Ports, Switching Fabric, Output Ports).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Forwarding is local and hardware-based; Routing is global and software-based.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Internet uses datagram packet switching with stateless routers for maximum resilience.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Crossbar switching fabrics eliminate internal shared bus contention in high-speed routers.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IPv4 Addressing, Subnetting, CIDR &amp; NAT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IPv4 20-60 Byte Header, Fragmentation &amp; Reassembly, Classless Addressing (CIDR), Subnet Design, NAT/PAT, ICMP Protocol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2.2.2.1 IPv4 Header Format &amp;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 IPV4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IPv4 Header Structure (20 to 60 Bytes)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Version (4b: 4) | IHL (4b: Header length in 32-bit words, min 5 = 20B) | DSCP/ECN (8b: QoS) | Total Length (16b: Header + Payload, max 65535B) \n Identification (16b) | Flags (3b: Reserved, DF, MF) | Fragment Offset (13b: measured in 8-byte units) \n TTL (8b: Time-to-Live, decremented per hop) | Protocol (8b: ICMP=1, TCP=6, UDP=17) | Header Checksum (16b) \n Source IP (32b) \n Destination IP (32b) \n Options (0-40B).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Fragmentation Fields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**Identification**: Identifies fragments belonging to same original datagram. **DF (Don't Fragment)**: If set to 1, router drops packet if larger than MTU. **MF (More Fragments)**: 1 for all fragments except the final one (0). **Fragment Offset**: Byte offset divided by 8.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Reassembly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Occurs strictly at the final destination host before delivering to the transport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Header Fields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IHL: Header words (x4 bytes)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Total Length: Max 65,535 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TTL: Prevents routing loops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Protocol: 6=TCP, 17=UDP, 1=ICMP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Offset unit = 8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2.2.2.2 Worked KTU Numerical: IPv4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 FRAGMENTATION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An IPv4 datagram with Total Length = 4000 bytes (20-byte IP header + 3980 bytes payload) arrives at a router whose outgoing link has Maximum Transmission Unit MTU = 1500 bytes. Calculate the Total Length, Payload Length, MF flag, and Fragment Offset for all resulting fragments.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MTU = 1500 bytes (Max payload per fragment = 1500 - 20 = 1480 bytes).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1480 is divisible by 8 (1480 / 8 = 185) -&gt; Valid maximum payload per fragment.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Total payload to fragment = 3980 bytes.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Fragment Offset = Total previous payload bytes divided by 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Frag 1: Header = 20 B, Payload = 1480 B, Total Length = 1500 B, MF = 1, Offset = 0 / 8 = 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Frag 2: Header = 20 B, Payload = 1480 B, Total Length = 1500 B, MF = 1, Offset = 1480 / 8 = 185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Remaining payload = 3980 - 1480 - 1480 = 1020 B.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Frag 3: Header = 20 B, Payload = 1020 B, Total Length = 1040 B, MF = 0 (last fragment!), Offset = 2960 / 8 = 370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Frag 1: Len 1500, MF=1, Off=0 | Frag 2: Len 1500, MF=1, Off=185 | Frag 3: Len 1040, MF=0, Off=370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Always verify that Fragment Offset values are integer multiples of 8 bytes!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2.2.2.3 Worked KTU Numerical: CIDR Subnetting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 SUBNETTING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An organization is allocated the block `200.50.16.0/24`. Design 4 equal-sized subnets. For each subnet, specify: (a) Subnet Mask, (b) Network Address, (c) Usable Host Range, (d) Direct Broadcast Address, (e) Maximum usable hosts.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Given /24 network: 8 host bits (256 addresses).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To create 4 subnets: Need 2 subnet bits (2^2 = 4). New prefix = /24 + 2 = /26.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Block size per subnet = 256 / 4 = 64 addresses.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Usable hosts per subnet = 2^(32 - 26) - 2 = 64 - 2 = 62 hosts.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Subnet Mask: 255.255.255.192 (/26)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Subnet 1: Net = 200.50.16.0/26 | Hosts = 200.50.16.1 to 200.50.16.62 | Broadcast = 200.50.16.63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Subnet 2: Net = 200.50.16.64/26 | Hosts = 200.50.16.65 to 200.50.16.126 | Broadcast = 200.50.16.127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Subnet 3: Net = 200.50.16.128/26 | Hosts = 200.50.16.129 to 200.50.16.190 | Broadcast = 200.50.16.191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5: Subnet 4: Net = 200.50.16.192/26 | Hosts = 200.50.16.193 to 200.50.16.254 | Broadcast = 200.50.16.255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4 Subnets of /26 mask (255.255.255.192), each accommodating 62 usable hosts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First address is Network ID; Last address is Directed Broadcast; both cannot be assigned to hosts.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IPv4, CIDR &amp;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complete IPv4 header format and explain all fields with numerical significance.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Network Address Translation (NAT) and Port Address Translation (PAT) with translation table examples.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ICMP? Explain its role in error reporting (Destination Unreachable, Time Exceeded) and diagnostic tools (`ping`, `traceroute`).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IPv4 fragmentation uses ID, Flags (DF, MF), and Offset in 8-byte blocks.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CIDR replaces classful boundaries with arbitrary prefix lengths (/N) and Longest Prefix Matching.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NAT allows private IP subnets (RFC 1918) to share a single public IP using port mapping 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Unicast Routing Protocols &amp; Algorithms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Link-State Routing &amp; Dijkstra's Algorithm, Distance-Vector &amp; Bellman-Ford, Count-to-Infinity, RIP, OSPF &amp; BGP-4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2.2.3.1 Link-State (LS) vs Distance-Vector (DV)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M2.2.3 LS VS DV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Link-State (LS) Routing (e.g., OSPF)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Global Topology Knowledge: Every router floods link-state advertisements (LSAs); all nodes possess full network topology graph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Algorithm: Dijkstra's Shortest Path Algorithm run locally on each router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Convergence Speed: Ultra-fast convergence; zero routing loops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Message Overhead: $O(N \cdot E)$ messages flooded periodically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Complexity: $O(V^2)$ or $O(E \log V)$ computation per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Distance-Vector (DV) Routing (e.g., RIP)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Local Knowledge Only: Routers only know cost to immediate direct neighbors; exchange vectors periodically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Algorithm: Distributed Bellman-Ford equation: $d_x(y) = \min_v \{c(x,v) + d_v(y)\}$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Convergence Speed: Slow convergence; susceptible to Count-to-Infinity problem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Mitigation: Split Horizon and Poisoned Reverse rules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Simplicity: Lightweight computation; suitable for small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2.2.3.2 Internet Routing Protocols: RIP vs OSPF vs BGP-4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M2.2.3 PROTOCOL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RIP (Routing Information Protocol - RFC 2453)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Intra-AS Distance Vector protocol. Uses Hop Count metric (max 15 hops; 16 = infinity). Updates broadcast every 30s over UDP port 520.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OSPF (Open Shortest Path First - RFC 2328)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Intra-AS Link State protocol. Uses link cost based on inverse bandwidth. Hierarchical design with Area 0 (Backbone Area) and non-backbone areas. Runs directly over IP protocol 89. Supports authenticated LSA flooding and ECMP (Equal-Cost Multi-Path).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BGP-4 (Border Gateway Protocol - RFC 4271)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Inter-AS Path Vector protocol glueing the global Internet together. Operates over reliable TCP port 179. Advertises AS-PATH attributes to prevent loops and enforces policy-based business routing between Autonomous Systems (eBGP and iBGP).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Protocol Matrix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RIP: DV, Hop count (Max 15), UDP 520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OSPF: LS, Dijkstra, IP 89, Areas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BGP: Path Vector, AS-PATH, TCP 179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Intra-AS: RIP, OSPF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Inter-AS: BGP-4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Unicast Routing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Dijkstra's shortest path algorithm with a step-by-step table derivation for a 5-node network graph. (9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the Count-to-Infinity problem in Distance Vector routing? Explain how Split Horizon and Poisoned Reverse mitigate it.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RIP, OSPF, and BGP-4 with respect to routing algorithm, metric, transport protocol, and scalability.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Dijkstra computes shortest path trees using complete topological knowledge.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Distance vector iterates Bellman-Ford equations among adjacent neighbors.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OSPF structures networks into areas with Area 0 backbone to scale within large enterprises.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BGP-4 implements policy routing and loop prevention across Autonomous Systems using AS-PATH.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Multicast Routing Protocols &amp; IGMP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Multicast Addressing (Class D), IGMP Host-Router Membership, Source-Based Trees vs Group-Shared Trees, RPF, PIM-DM vs PIM-SM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2.2.4.1 Multicast Fundamentals &amp; IGMP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M2.2.4 MULTICAST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Multicast Concept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Delivering a single stream of datagrams from one or more sources to a specific group of interested receivers simultaneously without duplicate packet transmission on shared links.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Multicast Addressing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IPv4 Class D range `224.0.0.0` to `239.255.255.255`. Special groups: `224.0.0.1` (All systems on subnet), `224.0.0.2` (All routers).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IGMP (Internet Group Management Protocol - RFC 3376)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Operates locally between end hosts and their attached first-hop multicast router. Hosts send IGMP Membership Reports; router sends periodic Membership Queries.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Multicast Routing Trees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**Source-Based Tree (Shortest Path Tree)**: Builds a separate tree rooted at each sender source (used in DVMRP, PIM-DM). 2. **Group-Shared Tree (Core-Based Tree)**: All sources transmit to a shared Rendezvous Point (RP) / Core router (used in PIM-SM).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Reverse Path Forwarding (RPF)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Loop-prevention rule: Router accepts a multicast packet only if it arrived on the interface that is the shortest path back to the sender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Mechanisms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Class D: 224.0.0.0/4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IGMP: Local group membership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Source Tree: Optimal delay per source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Shared Tree: Minimal router state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RPF: Prevents multicast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2.2.4.2 PIM Protocols: Dense Mode (PIM-DM) vs Sparse Mode (PIM-SM)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M2.2.4 PIM DENSE VS SPARSE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PIM Dense Mode (PIM-DM / Flood &amp; Prune)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Assumed Environment: Receivers densely populated across almost every subnet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Tree Construction: Source-Based Shortest Path Trees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Mechanics: 1. **Flood**: Broadcasts multicast traffic everywhere \n 2. **Prune**: Routers with no interested members send Prune messages back upstream \n 3. **Graft**: New receivers send Graft to re-attach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Overhead: High periodic flooding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PIM Sparse Mode (PIM-SM / Explicit Join)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Assumed Environment: Receivers sparsely distributed across wide area WAN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Tree Construction: Group-Shared Tree rooted at Rendezvous Point (RP)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Mechanics: 1. Receivers send explicit `IGMP Join` -&gt; Router sends `PIM Join` towards RP \n 2. Sources register with RP \n 3. Traffic flows down shared tree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Overhead: Zero flooding; highly scalable for enterprise IPTV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Multicast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role of IGMP in managing multicast group memberships on local subnets.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Source-Based Trees and Group-Shared Trees in multicast routing.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PIM-DM (Flood and Prune) versus PIM-SM (Rendezvous Point and Explicit Joins).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IGMP connects local hosts to their edge multicast router.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Source-based trees minimize latency per sender; Shared trees minimize router state.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RPF algorithm discards packets that do not arrive on the shortest return path to the 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Next Generation IP: IPv6 Architecture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IPv6 128-Bit Addressing, 40-Byte Fixed Header, Extension Headers, IPv4 vs IPv6 Comparison, Transition Strategies (Dual Stack, Tunneling, NAT64)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2.2.5.1 IPv6 Addressing &amp; 40-Byte Fixed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M2.2.5 IPV6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Motivation for IPv6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Exhaustion of the 32-bit IPv4 address space ($2^{32} \approx 4.3 \times 10^9$ addresses). IPv6 provides $2^{128} \approx 3.4 \times 10^{38}$ unique addresses.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IPv6 Address Notation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8 groups of 4 hexadecimal digits separated by colons (e.g., `2001:0db8:85a3:0000:0000:8a2e:0370:7334`). Leading zeros omitted (`2001:db8:85a3::8a2e:370:7334`); `::` compresses consecutive zero blocks once.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40-Byte Fixed Header Format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Version (4b: 6) | Traffic Class (8b: QoS DSCP) | Flow Label (20b: identifies packet flow for non-default routing) \n Payload Length (16b: data + extension headers) | Next Header (8b: specifies upper layer or extension header) | Hop Limit (8b: decremented per hop, replaces TTL) \n Source IPv6 Address (128 bits / 16 bytes) \n Destination IPv6 Address (128 bits / 16 bytes).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Key Structural Improvements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No header checksum (speeds up router processing), no in-network fragmentation (handled via Path MTU Discovery by end hosts), fixed 40-byte base size.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Header Breakdown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Fixed Header: Exactly 40 Bytes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Source IP: 128 bits (16 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Destination IP: 128 bits (16 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Hop Limit: Replaces TTL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Next Header: Chains extensions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Flow Label: 20-bit stream tagging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2.2.5.2 IPv4 vs IPv6 &amp; Transition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M2.2.5 IPV4 VS IPV6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IPv4 vs IPv6 Header Comparison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Address Size: IPv4: 32 bits (4 Bytes) vs IPv6: 128 bits (16 Bytes)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Header Length: IPv4: Variable 20-60B (IHL field) vs IPv6: Fixed 40 Bytes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Checksum: IPv4: 16-bit header checksum vs IPv6: Removed entirely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Fragmentation: IPv4: Routers fragment packets vs IPv6: End systems only (PMTUD)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Broadcast: IPv4: Broadcast supported vs IPv6: Replaced by Multicast &amp; Anycast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IPv4 to IPv6 Migration Mechanisms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Dual Stack: Nodes run both IPv4 and IPv6 protocol stacks simultaneously on all interfaces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Tunneling (6to4 / Teredo): IPv6 datagrams encapsulated as payload inside IPv4 packets across legacy IPv4 transit networks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Header Translation (NAT64/DNS64): Translates IPv6 packet headers directly to IPv4 headers for legacy server interoperation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IPv6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IPv6 fixed header format and explain all fields. How does it improve router forwarding performance over IPv4?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IPv4 and IPv6 across addressing, header structure, fragmentation, and error checking.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 transition mechanisms from IPv4 to IPv6: Dual Stack, Tunneling, and NAT64.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IPv6 fixed 40-byte header streamlines hardware ASIC forwarding.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Extension headers (Hop-by-Hop, Routing, Fragment, ESP, AH) are daisy-chained via `Next Header`.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Dual stack and encapsulation tunneling enable smooth evolutionary migration from IPv4.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M2.2.6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Quality of Service (QoS) &amp; Traffic Shaping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QoS Metrics (Delay, Jitter, Loss), Traffic Policing vs Shaping, Leaky Bucket vs Token Bucket, Scheduling (FIFO, WFQ), DiffServ vs IntServ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2.2.6.1 Traffic Shaping: Leaky Bucket vs Token Bucket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M2.2.6 TRAFFIC SHAPING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Leaky Bucket Algorithm (Constant Output)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Concept: A bucket with a hole at the bottom; incoming packets buffer up to bucket capacity $C$ and leak out at a strictly constant rate $\rho$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Output Profile: Strictly constant, smooth output stream regardless of incoming burstiness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Burst Handling: Eliminates bursts entirely; discards packets if bucket overflows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Suitability: Constant Bit Rate (CBR) traffic like uncompressed voice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Token Bucket Algorithm (Burst-Tolerant)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Concept: Tokens generate at rate $r$ tokens/sec up to max token capacity $b$. A packet of size $m$ bytes consumes $m$ tokens to transmit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Output Profile: Allows short-term traffic bursts up to bucket size $b$ while enforcing average long-term rate $r$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Burst Handling: Max burst transmission speed = link wire rate $R$ for duration $T = b / (R - r)$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Suitability: Variable Bit Rate (VBR) video streaming and web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2.2.6.2 Worked KTU Numerical: Token Bucket Burst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M2.2.6 TOKEN BUCKET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4864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F1E4A"/>
                </a:solidFill>
              </a:defRPr>
            </a:pPr>
            <a:r>
              <a:t>📌 KTU Numerical Problem Statement</a:t>
            </a:r>
          </a:p>
          <a:p>
            <a:pPr>
              <a:spcAft>
                <a:spcPts val="1400"/>
              </a:spcAft>
              <a:defRPr sz="1250">
                <a:solidFill>
                  <a:srgbClr val="0F172A"/>
                </a:solidFill>
              </a:defRPr>
            </a:pPr>
            <a:r>
              <a:t>A token bucket has token arrival rate r = 2 MB/sec and token bucket capacity b = 16 MB. The transmission link wire rate is R = 10 MB/sec. Calculate: (a) Maximum burst duration at wire rate R, (b) Maximum total data transmitted during this burst period.</a:t>
            </a:r>
          </a:p>
          <a:p>
            <a:pPr>
              <a:spcAft>
                <a:spcPts val="600"/>
              </a:spcAft>
              <a:defRPr b="1" sz="1350">
                <a:solidFill>
                  <a:srgbClr val="0E7490"/>
                </a:solidFill>
              </a:defRPr>
            </a:pPr>
            <a:r>
              <a:t>📐 Governing Formulas &amp; Principles: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Burst duration formula: T = b / (R - r)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Where b = bucket size (MB), R = peak transmission rate (MB/s), r = token replenishment rate (MB/s).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Total data transmitted during burst: D = R * T = (b * R) / (R - 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34440"/>
            <a:ext cx="5029200" cy="4892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50">
                <a:solidFill>
                  <a:srgbClr val="047857"/>
                </a:solidFill>
              </a:defRPr>
            </a:pPr>
            <a:r>
              <a:t>📝 Step-by-Step Derivation &amp;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1: b = 16 MB, R = 10 MB/s, r = 2 MB/s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2: T = 16 / (10 - 2) = 16 / 8 = 2.0 seconds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3: Total data transmitted = R * T = 10 MB/s * 2.0 s = 20 MB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Step 4: Verification: Initial tokens (16 MB) + Newly generated tokens in 2s (2 MB/s * 2s = 4 MB) = 20 MB.</a:t>
            </a:r>
          </a:p>
          <a:p>
            <a:pPr>
              <a:spcAft>
                <a:spcPts val="800"/>
              </a:spcAft>
              <a:defRPr b="1" sz="1300">
                <a:solidFill>
                  <a:srgbClr val="047857"/>
                </a:solidFill>
              </a:defRPr>
            </a:pPr>
            <a:r>
              <a:t>✅ FINAL ANSWER: Max Burst Duration T = 2.0 seconds | Total Burst Data = 20 MB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💡 Exam Tip: After 2 seconds, the transmission rate drops strictly to the average token rate r = 2 MB/sec.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Quality of Service (QoS)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M2.2.6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Traffic Policing and Traffic Shaping with neat diagrams.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Leaky Bucket and Token Bucket traffic shaping algorithms with equations and operating principles.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Differentiated Services (DiffServ) architecture: Packet Classification, DSCP marking, and Per-Hop Behaviors (EF &amp; AF).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Leaky bucket produces rigid constant output; Token bucket permits regulated bursts.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Weighted Fair Queuing (WFQ) guarantees minimum bandwidth shares to different service classes.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DiffServ scales across WANs by classifying packets at boundary routers and using 6-bit DSCP markings.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Linux Kernel TCP/IP Stack &amp; Routing Implementation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Linux Network Packet Flow, sk_buff Data Structure, net_device, Forwarding Information Base (FIB), Route Cache, Linux iproute2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2.3.1 Linux Kernel Network Subsystem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M2.3 LINUX KERNEL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The `sk_buff` (Socket Buffer) Structure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universal data structure representing network packets in Linux. Contains pointers: `head`, `data`, `tail`, `end`. Allows zero-copy header prepending/stripping across layers simply by moving the `data` pointer.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Packet Ingress Flow (RX)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NIC receives frame -&gt; DMA transfer to Ring Buffer -&gt; Triggers Hard IRQ -&gt; NAPI poll scheduled (SoftIRQ `NET_RX_SOFTIRQ`) -&gt; `netif_receive_skb()` -&gt; L3 `ip_rcv()` -&gt; L4 `tcp_v4_rcv()` -&gt; Socket receive queue -&gt; `read()`.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Packet Egress Flow (TX)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App calls `write()` -&gt; L4 `tcp_sendmsg()` creates `sk_buff` -&gt; L3 `ip_queue_xmit()` routes packet -&gt; L2 `dev_queue_xmit()` enqueues to `qdisc` -&gt; NIC DMA transmit -&gt; Hardware TX IRQ.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Forwarding Information Base (FIB)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core kernel routing table in Linux organized as a fast LC-trie (Level-Compressed Trie) supporting sub-microsecond Longest Prefix Matching.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Policy-Based Routing (PBR)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Linux supports multiple routing tables selected via `ip rule` based on source IP, TOS, fwmark, or incoming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Kernel Data Structures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sk_buff: Packet descriptor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net_device: Hardware NIC abstraction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FIB: Kernel routing table trie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qdisc: Traffic queuing discipline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NAPI: Interrupt mitigation polling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2.3.2 Hands-On: Linux Kernel Routing with `iproute2`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M2.3 LINUX IPROUTE2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21792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</a:defRPr>
            </a:pPr>
            <a:r>
              <a:t>// Linux Socket &amp; Protocol Implementation</a:t>
            </a:r>
          </a:p>
          <a:p>
            <a:pPr>
              <a:defRPr sz="1050">
                <a:solidFill>
                  <a:srgbClr val="E2E8F0"/>
                </a:solidFill>
                <a:latin typeface="Consolas"/>
              </a:defRPr>
            </a:pPr>
            <a:r>
              <a:t># Linux iproute2 Advanced Routing Commands</a:t>
            </a:r>
            <a:br/>
            <a:br/>
            <a:r>
              <a:t># 1. Inspect kernel routing table</a:t>
            </a:r>
            <a:br/>
            <a:r>
              <a:t>ip route show</a:t>
            </a:r>
            <a:br/>
            <a:br/>
            <a:r>
              <a:t># 2. Add static route via gateway</a:t>
            </a:r>
            <a:br/>
            <a:r>
              <a:t>ip route add 192.168.10.0/24 via 10.0.0.1 dev eth0</a:t>
            </a:r>
            <a:br/>
            <a:br/>
            <a:r>
              <a:t># 3. Create Policy-Based Routing (PBR) table</a:t>
            </a:r>
            <a:br/>
            <a:r>
              <a:t>echo "200 custom_table" &gt;&gt; /etc/iproute2/rt_tables</a:t>
            </a:r>
            <a:br/>
            <a:r>
              <a:t>ip rule add from 192.168.1.50 table custom_table</a:t>
            </a:r>
            <a:br/>
            <a:r>
              <a:t>ip route add default via 10.0.0.254 dev eth1 table custom_table</a:t>
            </a:r>
            <a:br/>
            <a:br/>
            <a:r>
              <a:t># 4. Flush and inspect route cache</a:t>
            </a:r>
            <a:br/>
            <a:r>
              <a:t>ip route flush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38912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1E4A"/>
                </a:solidFill>
              </a:defRPr>
            </a:pPr>
            <a:r>
              <a:t>⚙️ System Call &amp; Execution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`ip route` Suite: Replaces deprecated `route` and `ifconfig` tools with direct Netlink socket communication to kernel.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Custom Routing Tables: Linux supports up to 255 independent routing tables for multi-homing and ISP failover.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`ip rule` Subsystem: Evaluates routing policy database (RPDB) rules sequentially to select appropriate routing table.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Route Cache Behavior: Historical kernels maintained route hash cache; modern kernels use ultra-fast lockless FIB trie lookups.</a:t>
            </a:r>
          </a:p>
          <a:p>
            <a:pPr>
              <a:defRPr b="1" sz="1150">
                <a:solidFill>
                  <a:srgbClr val="0E7490"/>
                </a:solidFill>
              </a:defRPr>
            </a:pPr>
            <a:r>
              <a:t>💡 Hands-on Insight: Kernel `sk_buff` zero-copy architecture allows Linux to process millions of packets per second per CPU 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Linux Kernel Routing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architecture and role of the `sk_buff` data structure in Linux packet processing.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Trace the step-by-step path of an incoming packet from physical NIC reception to application socket delivery in the Linux kernel.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Demonstrate Policy-Based Routing (PBR) in Linux using `ip rule` and `ip route` commands.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`sk_buff` avoids costly memory copies across protocol layers using internal buffer pointers.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NAPI SoftIRQs prevent interrupt livelock during heavy packet bursts.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FIB LC-trie enables sub-microsecond Longest Prefix Matching across hundreds of thousands of BGP routes.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