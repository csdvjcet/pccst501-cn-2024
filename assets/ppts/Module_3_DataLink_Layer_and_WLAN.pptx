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72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914400" y="1371600"/>
            <a:ext cx="182880" cy="4114800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371600" y="1371600"/>
            <a:ext cx="9601200" cy="4114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b="1" sz="1600">
                <a:solidFill>
                  <a:srgbClr val="F59E0B"/>
                </a:solidFill>
              </a:defRPr>
            </a:pPr>
            <a:r>
              <a:t>PCCST501 COMPUTER NETWORKS | MODULE 3</a:t>
            </a:r>
          </a:p>
          <a:p>
            <a:pPr>
              <a:spcAft>
                <a:spcPts val="2000"/>
              </a:spcAft>
              <a:defRPr b="1" sz="3800">
                <a:solidFill>
                  <a:srgbClr val="F8FAFC"/>
                </a:solidFill>
              </a:defRPr>
            </a:pPr>
            <a:r>
              <a:t>Data Link Layer, Ethernet &amp; Wireless LANs</a:t>
            </a:r>
          </a:p>
          <a:p>
            <a:pPr>
              <a:spcAft>
                <a:spcPts val="2400"/>
              </a:spcAft>
              <a:defRPr sz="2000">
                <a:solidFill>
                  <a:srgbClr val="94A3B8"/>
                </a:solidFill>
              </a:defRPr>
            </a:pPr>
            <a:r>
              <a:t>Framing, Error/Flow Control, MAC Protocols, 802.11 &amp; Mobile IP</a:t>
            </a:r>
          </a:p>
          <a:p>
            <a:pPr>
              <a:defRPr sz="1400">
                <a:solidFill>
                  <a:srgbClr val="CBD5E1"/>
                </a:solidFill>
              </a:defRPr>
            </a:pPr>
            <a:r>
              <a:t>Prof. Anju Markose | Assistant Professor, Dept. of CSE | VJCET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3.1 Data Link Control: Framing, Error &amp; Flow Control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Data Link Layer Responsibilities: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Node-to-node frame delivery across physical link, framing, link-layer addressing, error/flow control.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Framing Techniques: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Character Count (vulnerable to bit flips), Byte Stuffing (ESC character), Bit Stuffing (0 inserted after five consecutive 1s).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Error Detection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Parity check, Checksum, Cyclic Redundancy Check (CRC using generator polynomial division).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Error Correction Codes: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Hamming Code: detects 2-bit errors, corrects single-bit errors using parity check bits at positions 2^k.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Flow Control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Stop-and-Wait, Sliding Window: Go-Back-N (window N, discards out of order), Selective Repeat (individual ACKs).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Framing &amp; CRC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Bit Stuffing Flag: 01111110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CRC Divisor: (n+1) bit polynomial produces n-bit FCS remainder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Hamming Distance: d_min determines detection/correction power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3.2 Multiple Access Protocols (MAC)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Random Access Protocols: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Pure ALOHA (Max throughput 18.4%), Slotted ALOHA (Max throughput 36.8%).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 (Carrier Sense Multiple Access):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1-persistent, Non-persistent, p-persistent carrier sensing strategies.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CSMA/CD (Collision Detection):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Listen while transmitting; if collision detected, abort, transmit jam signal, apply Binary Exponential Backoff (Used in Ethernet).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CSMA/CA (Collision Avoidance):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Used in Wireless LANs; uses Inter-Frame Spacing (IFS), Contention Window, and optional RTS/CTS handshake.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Controlled Access &amp; Channelization: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Reservation, Polling, Token Ring; FDMA, TDMA, CDMA (Orthogonal Walsh-Hadamard codes).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CSMA/CD Minimum Frame Size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Condition: Trans_Time &gt;= 2 * Prop_Time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Min Frame Length = 2 * Propagation Delay * Bandwidth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Guarantees sender detects collision before transmission finishes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3.3 Link Layer Addressing &amp; Ethernet Protocols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MAC / Link Layer Addressing: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48-bit physical address (6 octets in hex: `00:1A:2B:3C:4D:5E`). First 24 bits: OUI vendor ID, last 24: device serial.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Address Resolution Protocol (ARP):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Dynamically maps 32-bit IPv4 address to 48-bit MAC address using broadcast request &amp; unicast reply.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Standard Ethernet (IEEE 802.3):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10 Mbps baseband, Manchester encoding, 10BASE5 / 10BASE2 / 10BASE-T.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High-Speed Ethernet Evolution: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Fast Ethernet (100 Mbps, 802.3u), Gigabit Ethernet (1 Gbps, 802.3ab), 10-Gigabit Ethernet (802.3ae).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Ethernet Frame Format: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Preamble (7B), SFD (1B), Dst MAC (6B), Src MAC (6B), Type/Length (2B), Payload (46-1500B), CRC FCS (4B).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ARP Cache &amp; Frames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ARP Request: Broadcast (FF:FF:FF:FF:FF:FF)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ARP Reply: Unicast to requester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Min Ethernet Frame: 64 Bytes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Max Ethernet Frame (MTU): 1518 Bytes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3.4 Connecting Devices &amp; VLANs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Physical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Repeaters &amp; Hubs: regenerate/broadcast electrical signals; single collision &amp; broadcast domain.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Data Link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Bridges &amp; Layer 2 Switches: filter frames based on MAC address tables; separate collision domains, single broadcast domain.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Learning Switch Algorithm: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Inspects Source MAC of incoming frames to learn port mappings; floods frames if Destination MAC unknown.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Virtual LANs (VLAN - IEEE 802.1Q):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Logically segments a physical switch into multiple isolated broadcast domains; uses 4-byte 802.1Q tag with 12-bit VLAN ID.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Network Layer Devices: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Routers: forward packets based on IP addresses; separate both collision AND broadcast domains.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Collision vs Broadcast Domains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Hub: 1 Collision, 1 Broadcast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Switch: N Collision (per port), 1 Broadcast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Switch + VLANs: N Collision, M Broadcast (per VLAN)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Router: Separates all Collision &amp; Broadcast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05840"/>
          </a:xfrm>
          <a:prstGeom prst="rect">
            <a:avLst/>
          </a:prstGeom>
          <a:solidFill>
            <a:srgbClr val="1E3A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37160"/>
            <a:ext cx="8686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b="1" sz="2400">
                <a:solidFill>
                  <a:srgbClr val="F8FAFC"/>
                </a:solidFill>
              </a:defRPr>
            </a:pPr>
            <a:r>
              <a:t>3.5 Wireless LANs (IEEE 802.11) &amp; Mobile IP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686800" y="137160"/>
            <a:ext cx="292608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b="1" sz="1300">
                <a:solidFill>
                  <a:srgbClr val="F59E0B"/>
                </a:solidFill>
              </a:defRPr>
            </a:pPr>
            <a:r>
              <a:t>MODULE 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280160"/>
            <a:ext cx="68580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IEEE 802.11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Basic Service Set (BSS) with Access Point (AP) or Ad-hoc; Extended Service Set (ESS) connected via Distribution System (DS).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MAC Sublayer in 802.11: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CSMA/CA with Network Allocation Vector (NAV) virtual carrier sensing; Inter-frame Spaces (SIFS &lt; PIFS &lt; DIFS).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Hidden &amp; Exposed Terminal Problems: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Hidden Node: Solved by RTS (Request to Send) / CTS (Clear to Send) exchange; Exposed Node: prevented from transmitting unnecessarily.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Mobile IP Architecture: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Mobile Node (MN), Home Agent (HA), Foreign Agent (FA), Home Address (static) &amp; Care-of Address (COA temporary).</a:t>
            </a:r>
          </a:p>
          <a:p>
            <a:pPr>
              <a:spcAft>
                <a:spcPts val="400"/>
              </a:spcAft>
              <a:defRPr b="1" sz="1600">
                <a:solidFill>
                  <a:srgbClr val="1E3A8A"/>
                </a:solidFill>
              </a:defRPr>
            </a:pPr>
            <a:r>
              <a:t>• Triangle Routing &amp; Optimization: </a:t>
            </a:r>
          </a:p>
          <a:p>
            <a:pPr>
              <a:spcAft>
                <a:spcPts val="1000"/>
              </a:spcAft>
              <a:defRPr sz="1400">
                <a:solidFill>
                  <a:srgbClr val="1E293B"/>
                </a:solidFill>
              </a:defRPr>
            </a:pPr>
            <a:r>
              <a:t>   Correspondent Node -&gt; Home Agent -&gt; Foreign Agent -&gt; Mobile Node encapsulation tunneling; Direct binding route optimization.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7955279" y="1371600"/>
            <a:ext cx="3566160" cy="484632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0E749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138160" y="1554480"/>
            <a:ext cx="3200400" cy="4480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00"/>
              </a:spcAft>
              <a:defRPr b="1" sz="1600">
                <a:solidFill>
                  <a:srgbClr val="0E7490"/>
                </a:solidFill>
              </a:defRPr>
            </a:pPr>
            <a:r>
              <a:t>802.11 Standards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802.11b: 2.4 GHz, 11 Mbps (DSSS)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802.11g: 2.4 GHz, 54 Mbps (OFDM)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802.11n: 2.4/5 GHz, 600 Mbps (MIMO)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802.11ac: 5 GHz, 6.9 Gbps (MU-MIMO)</a:t>
            </a:r>
          </a:p>
          <a:p>
            <a:pPr>
              <a:spcAft>
                <a:spcPts val="800"/>
              </a:spcAft>
              <a:defRPr sz="1300">
                <a:solidFill>
                  <a:srgbClr val="1E293B"/>
                </a:solidFill>
              </a:defRPr>
            </a:pPr>
            <a:r>
              <a:t>→ 802.11ax (WiFi 6): OFDMA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6309360"/>
            <a:ext cx="107899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>
                <a:solidFill>
                  <a:srgbClr val="64748B"/>
                </a:solidFill>
              </a:defRPr>
            </a:pPr>
            <a:r>
              <a:t>PCCST501 Computer Networks | VJCET Dept of CSE | Prepared by Prof. Anju Markose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