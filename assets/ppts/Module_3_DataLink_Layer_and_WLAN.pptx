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MASTER • MODULE 3 MASTER DECK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Link Layer, MAC Protocols &amp; Wireless LANs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Complete Lecture Slides for KTU PCCST501 Computer Networks | Topics M3.1 through M3.9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Link Layer Design &amp; Framing Techniques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Node-to-Node Link Services, Character Count, Byte Stuffing (Flag/ESC), Bit Stuffing (HDLC), Physical Coding Violations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3.1.1 Data Link Layer Design &amp; Link Abstraction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M3.1 FRAMING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Node-to-Node Service Mission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Responsible for transferring datagrams from one node (host, router, switch) to an adjacent node over an individual physical communication link.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Link Layer Responsibilities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**Framing**: Encapsulating L3 datagrams into L2 frames with header and trailer. 2. **Link Access**: MAC protocols coordinate shared medium access. 3. **Reliable Delivery**: Flow control and ARQ on error-prone wireless links. 4. **Error Detection &amp; Correction**: Parity, Checksum, CRC, Hamming codes.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Framing Methods Overview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Character Count, 2. Byte Stuffing (Character-oriented), 3. Bit Stuffing (Bit-oriented), 4. Physical Layer Coding Violations (e.g., Manchester invalid transitions).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Framing Taxonomy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Byte Count: Header count field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Byte Stuffing: Flag + ESC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Bit Stuffing: 5 consecutive 1s rule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Physical Violations: Line coding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FCS: CRC trailer at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3.1.2 Stuffing Techniques: Byte Stuffing vs Bit Stuffing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M3.1 STUFFING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Byte Stuffing (Character-Oriented Framing)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Delimiter: Frame begins and ends with dedicated Flag Byte `FLAG` (e.g., `0x7E` in PPP)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Escape Mechanism: If `FLAG` occurs inside payload data, sender inserts an Escape Byte `ESC` (`0x7D`) immediately before it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ESC in Data: If `ESC` itself appears in data, sender escapes it with another `ESC` (`ESC ESC`)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Receiver Action: Receiver strips any `ESC` byte and treats following byte as raw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Bit Stuffing (Bit-Oriented Framing / HDLC)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Delimiter Pattern: Frame delimited by 8-bit flag pattern `01111110` (`0x7E`) at start and end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Sender Rule: Whenever sender encounters **5 consecutive 1s** in data stream (`11111`), it automatically stuffs a **`0` bit** immediately after it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Receiver Rule: Whenever receiver detects 5 consecutive 1s: if 6th bit is `0`, it de-stuffs (discards) the `0`; if 6th bit is `1` and 7th is `0`, it recognizes `FLAG`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Advantage: Completely arbitrary payload length; zero character-set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Data Link Layer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four framing methods used in the Data Link Layer with neat diagrams.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Given the data bit stream `01101111110111110010`, show the transmitted bit sequence after bit stuffing in HDLC.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Bit stuffing inserts a 0 after five consecutive 1s to prevent false flag detection.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Byte stuffing uses escape characters (`ESC`) to preserve transparency in character protocols.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Framing enables receivers to reliably locate the start and end of frames in raw bit streams.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Link Control: Error Detection, Correction &amp; Flow Control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Hamming Distance, 2D Parity, Internet Checksum, CRC-32 Modulo-2 Division, Hamming (7,4) Code, Stop-and-Wait, Go-Back-N, Selective Repeat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3.2.1 Block Coding &amp; Hamming Distance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ERROR CONTROL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Block Coding Principles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Dataword of $k$ bits encoded into Codeword of $n$ bits ($n &gt; k$) by appending $r = n - k$ redundant parity bits.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Hamming Distance $d(x,y)$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number of bit positions in which two codewords $x$ and $y$ differ (computed by taking XOR and counting number of 1s).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Minimum Hamming Distance ($d_{min}$)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smallest Hamming distance between any pair of valid codewords in the codebook.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Error Detection Capability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To detect up to $s$ bit errors: $d_{min} \ge s + 1$ (e.g., Simple Parity has $d_{min} = 2$, detects single-bit errors $s = 1$).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Error Correction Capability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To correct up to $t$ bit errors: $d_{min} \ge 2t + 1$ (e.g., Single-bit error correction $t = 1$ requires $d_{min} \ge 3$).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Hamming Distance Rules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Detect s errors: d_min &gt;= s + 1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Correct t errors: d_min &gt;= 2t + 1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Simple Parity: d_min = 2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Hamming (7,4): d_min = 3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 parity bits: 2^r &gt;= k + r + 1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3.2.2 Worked KTU Numerical: CRC Modulo-2 Polynomial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CRC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data bit stream D = 10100100 is to be transmitted using CRC generator polynomial G(x) = x^4 + x^2 + 1 (binary generator G = 10101). (a) Determine the 4-bit CRC Checksum (Frame Check Sequence FCS), (b) What codeword is transmitted? (c) Show that receiver detects zero remainder in the absence of bit errors.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Generator G(x) = x^4 + x^2 + 1 -&gt; Degree r = 4 -&gt; Generator bit string G = 10101 (5 bits).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1: Append r = 4 zeros to data D: D' = 10100100 0000 (12 bits).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2: Perform Modulo-2 binary division (XOR operations) of D' by 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3: Remainder of division is the 4-bit CRC Checksum 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Dividend: 101001000000 | Divisor: 10101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10100 XOR 10101 -&gt; Remainder 00001; bring down bits -&gt; 0001100...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Continuing Modulo-2 XOR division yields 4-bit Remainder R = 1100.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Transmitted Codeword T = Data + CRC = 10100100 1100 (12 bits).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Receiver Divides T (101001001100) by G (10101) -&gt; Remainder = 0000 (Valid / No errors!).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CRC Checksum = 1100 | Transmitted Codeword = 101001001100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Modulo-2 addition and subtraction are both identical to bitwise XOR with zero carries/borrows.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3.2.3 Worked KTU Numerical: Hamming (7,4) Single-Bit Error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HAMMING CODE WORKED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4-bit dataword D = 1011 (d4=1, d3=0, d2=1, d1=1) is encoded using Hamming (7,4) code with parity bits at positions 1, 2, 4. (a) Generate 7-bit codeword. (b) If received word is R = 1011011, calculate syndrome bits (s3, s2, s1) and locate the erroneous bit position.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Bit positions 1 to 7: p1 (pos 1), p2 (pos 2), d1 (pos 3), p4 (pos 4), d2 (pos 5), d3 (pos 6), d4 (pos 7).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p1 checks positions with bit 1 set (1, 3, 5, 7): p1 = d1 XOR d2 XOR d4.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p2 checks positions with bit 2 set (2, 3, 6, 7): p2 = d1 XOR d3 XOR d4.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p4 checks positions with bit 4 set (4, 5, 6, 7): p4 = d2 XOR d3 XOR d4.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Syndrome S = (s4 s2 s1) indicates decimal error bit position (0 = no error).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p1 = 1 XOR 1 XOR 1 = 1 | p2 = 1 XOR 0 XOR 1 = 0 | p4 = 1 XOR 0 XOR 1 = 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Generated Codeword: (p1, p2, d1, p4, d2, d3, d4) = (1, 0, 1, 0, 1, 0, 1) -&gt; 1010101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Received Word R = (r1..r7) = (1, 1, 0, 1, 1, 0, 1) (bit 2 corrupted!)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s1 = r1 XOR r3 XOR r5 XOR r7 = 1 XOR 0 XOR 1 XOR 1 = 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s2 = r2 XOR r3 XOR r6 XOR r7 = 1 XOR 0 XOR 0 XOR 1 = 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6: s4 = r4 XOR r5 XOR r6 XOR r7 = 1 XOR 1 XOR 0 XOR 1 = 1 -&gt; Syndrome = 101_2 = Pos 5 (d2 corrupted!)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Syndrome S = 101 (Binary 5) -&gt; Bit position 5 is inverted and corrected!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Hamming (7,4) code can correct any single-bit error and detect any double-bit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3.2.4 Sliding Window Flow Control: Stop-and-Wait vs GBN vs Selective Repeat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 ARQ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Stop-and-Wait ARQ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Window Size: $W_s = 1$, $W_r = 1$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Sequence Bits: 1-bit ($m=1$, sequence numbers 0 and 1)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Efficiency: Extremely low on high-bandwidth-delay product links: $\eta = 1 / (1 + 2a)$ where $a = t_{prop} / t_{trans}$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Buffering: 1 frame buffer at sender and receiver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Go-Back-N (GBN) ARQ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Window Size: $W_s = 2^m - 1$, $W_r = 1$ (Cumulative ACKs)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Loss: Discards all subsequent out-of-order frames; retransmits entire window from lost frame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Sender Buffer: Buffers $W_s$ frames; receiver requires zero buffer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Efficiency: High efficiency unless error rate is severe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Selective Repeat (SR) ARQ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Window Size: $W_s = 2^{m-1}$, $W_r = 2^{m-1}$ (Individual ACKs)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Loss: Receiver buffers out-of-order frames; sender retransmits **only the lost frame**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Buffer Needs: Both sender and receiver maintain $2^{m-1}$ buffer queues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Efficiency: Optimal bandwidth utilization on noisy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Error Detection &amp; Flow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CRC error detection with a polynomial division example. Why is CRC implemented in hardware with LFSR shift registers?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maximum sender window size for Go-Back-N ($2^m - 1$) and Selective Repeat ($2^{m-1}$). Explain why exceeding these limits causes protocol failure.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Hamming (7,4) code with syndrome error correction calculation.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CRC detects all single-bit, double-bit, odd numbers of errors, and burst errors up to generator polynomial degree $r$.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Go-Back-N window is $2^m - 1$ to prevent receiver from mistaking duplicate frames for new ones.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Selective Repeat requires equal sender and receiver window sizes bounded at $2^{m-1}$.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Multiple Access Control (MAC) Protocols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Random Access (Pure &amp; Slotted ALOHA, CSMA, CSMA/CD, CSMA/CA), Controlled Access (Polling, Token Ring), Channelization (CDMA)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3.3.1 Random Access: Pure ALOHA vs Slotted ALOHA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 ALOHA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Pure ALOHA (Norman Abramson, 1970)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Transmission Rule: Transmit continuous frame whenever data is ready without sensing channel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Vulnerable Period: $V_p = 2 \times T_{frame}$ (Collision occurs if any other node transmits within 2 frame times)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Throughput Formula: $S = G \cdot e^{-2G}$ where $G$ = traffic load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Maximum Efficiency: Maximum throughput $S_{max} = 1 / (2e) \approx 18.4\%$ at $G = 0.5$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Collisions: High collision rate due to uncoordinated overlapping frames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Slotted ALOHA (Roberts, 1972)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Transmission Rule: Time divided into discrete slots equal to $T_{frame}$. Nodes transmit strictly at slot boundaries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Vulnerable Period: $V_p = 1 \times T_{frame}$ (Halves vulnerability interval)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Throughput Formula: $S = G \cdot e^{-G}$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Maximum Efficiency: Maximum throughput $S_{max} = 1 / e \approx 36.8\%$ at $G = 1.0$ (Exactly doubles Pure ALOHA!)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Synchronization: Requires global slot synchronization across all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3.3.2 CSMA/CD: Carrier Sense Multiple Access with Collision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 CSMA/CD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Carrier Sense (Listen Before Talk)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 listens to channel before transmitting. 1-persistent: transmits immediately when idle; Non-persistent: waits random backoff if busy; p-persistent: transmits with probability $p$ when idle.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Collision Detection (Listen While Talk)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 continuously monitors voltage/energy on wire while transmitting. If signal amplitude exceeds collision threshold, collision is detected immediately!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Jam Signal &amp; Abort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Upon detecting collision, node aborts transmission immediately and broadcasts a 32-48 bit **Jam Signal** to ensure all other nodes detect the collision.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Minimum Frame Size Constraint ($L_{min}$)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To ensure a sender does not finish transmitting before collision signal propagates back: $T_{frame} \ge 2 \times T_{prop} \implies \frac{L_{min}}{R} \ge 2 \cdot \frac{d}{s} \implies L_{min} = 2 \times T_{prop} \times R$.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Binary Exponential Backoff (BEB)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After $k$-th collision ($k \le 10$), node picks random wait slot $r \in \{0, 1, 2, \dots, 2^k - 1\}$ and waits $r \times 512$ bit times. Aborts after 16 consecutive collisions.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CSMA/CD Summary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1-persistent sense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Jam signal on collision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L_min = 2 * t_prop * 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Standard Ethernet L_min = 64 Bytes (512 bits)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Backoff range: [0, 2^k - 1]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3.3.3 Worked KTU Numerical: CSMA/CD Minimum Frame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 CSMA/CD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1 Gbps Ethernet LAN runs over a 1 km fiber link with propagation speed s = 2 * 10^8 m/s. Calculate the minimum frame size required for proper collision detection. If transmission rate is increased to 10 Gbps over the same link, what must the new minimum frame size be?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L_min = 2 * t_prop * R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t_prop = d / s = 1000 m / (2 * 10^8 m/s) = 5 * 10^-6 s = 5 microseconds.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Round-trip propagation time 2 * t_prop = 10 microseconds = 10^-5 seconds.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L_min = 2 * t_prop * R (bits).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For R = 1 Gbps = 10^9 bps: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L_min = 10^-5 s * 10^9 bps = 10,000 bits = 10,000 / 8 = 1250 Bytes.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For R = 10 Gbps = 10^10 bps: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L_min = 10^-5 s * 10^10 bps = 100,000 bits = 12,500 Bytes (12.5 KB).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Conclusion: At 10 Gbps, minimum frame size becomes unfeasibly large; hence 10 Gigabit Ethernet mandates full-duplex point-to-point links (disabling CSMA/CD entirely).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1 Gbps: L_min = 1250 Bytes | 10 Gbps: L_min = 12,500 Bytes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CSMA/CD is only applicable on half-duplex shared media; full-duplex switched Ethernet does not require CSMA/CD.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Multiple Access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maximum channel throughput for Pure ALOHA ($18.4\%$) and Slotted ALOHA ($36.8\%$) with vulnerable period diagrams.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CSMA/CD with the Binary Exponential Backoff (BEB) algorithm and minimum frame size derivation.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Code Division Multiple Access (CDMA) using orthogonal Walsh chip sequences with an encoding and decoding example.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Slotted ALOHA doubles Pure ALOHA efficiency by eliminating partial frame collisions.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Minimum frame size in CSMA/CD guarantees collision detection before transmission ends ($L_{min} = 2 \cdot t_{prop} \cdot R$).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CDMA allows simultaneous transmission over the same frequency band using orthogonal chip codes.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Link-Layer Addressing &amp; Address Resolution Protocol (ARP)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48-Bit MAC Addresses (EUI-48), ARP Request (Broadcast) &amp; ARP Reply (Unicast), ARP Cache &amp; Timeout, Proxy ARP, Subnet Crossing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3.4.1 MAC Addressing &amp; Address Resolution Protocol (ARP)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M3.4 ARP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MAC Hardware Address (48 bits / 6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Burned into NIC ROM (e.g., `1A:2B:3C:4D:5E:6F`). First 24 bits = OUI (Organizationally Unique Identifier assigned by IEEE); Last 24 bits = Vendor NIC serial number.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ARP Mission (RFC 826)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Dynamically resolves a known 32-bit IP address into its corresponding 48-bit MAC address on the local physical subnet.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ARP Message Flow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**ARP Request**: Host broadcasts frame (`FF:FF:FF:FF:FF:FF`) asking: 'Who owns IP 192.168.1.5? Send your MAC to 192.168.1.2'. \n 2. **ARP Reply**: Target host unicasts reply containing its physical MAC address directly to the sender. \n 3. **ARP Table**: Sender caches the mapping in its local ARP Cache table with a TTL timer (typically 20 minutes).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Proxy ARP &amp; Gratuitous ARP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**Proxy ARP**: Router responds to ARP request on behalf of a remote node. **Gratuitous ARP**: Host announces its own IP/MAC to detect duplicate IP conflicts and update switch MAC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ARP Key Facts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ARP Request: L2 Broadcast (FF:..:FF)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ARP Reply: L2 Unicast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L2 Frame Type: 0x0806 (ARP)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ARP Cache: Dynamic IP-&gt;MAC table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Gratuitous ARP: IP conflict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3.4.2 Packet Forwarding Across Subnets (MAC &amp; IP Rewriting)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M3.4 SUBNET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Scenario: Host A (Subnet 1) sends packet to Host B (Subnet 2) via Router R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Source Host A creates L3 IP packet: `Src IP = IP_A`, `Dst IP = IP_B` (IP addresses remain constant throughout end-to-end path).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Hop 1 (Host A -&gt; Router 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Host A inspects routing table; determines destination `IP_B` is outside local subnet. Encapsulates IP packet into L2 frame: `Src MAC = MAC_A`, `Dst MAC = MAC_Router_Interface_1` (uses ARP to find router MAC).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Router R Processing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Router decapsulates L2 frame, inspects L3 `Dst IP = IP_B`, consults FIB routing table, decrements TTL, recomputes IP checksum, and determines outgoing Interface 2.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Hop 2 (Router R -&gt; Host B)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Router encapsulates packet into a fresh L2 frame: `Src MAC = MAC_Router_Interface_2`, `Dst MAC = MAC_B` (via ARP on Subnet 2).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Core Takeaway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**IP addresses remain unchanged end-to-end; MAC addresses change at every single router hop!**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Hop-by-Hop Headers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Hop 1: Src MAC_A -&gt; Dst MAC_R1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Hop 2: Src MAC_R2 -&gt; Dst MAC_B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End-to-End: Src IP_A -&gt; Dst IP_B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L2 MAC rewritten per hop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IP preserved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MAC Addressing &amp; 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operation of Address Resolution Protocol (ARP) with request and reply frame structures.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Trace the step-by-step changes in Source/Destination IP and Source/Destination MAC addresses as a packet travels from Host A to Host B across an intermediate router.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ARP bridges Layer 3 IP addresses to Layer 2 physical MAC addresses.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ARP requests are L2 broadcasts (`FF:FF:FF:FF:FF:FF`); ARP replies are L2 unicasts.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L3 IP addresses identify end hosts; L2 MAC addresses identify next-hop network interfaces.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Ethernet Protocols &amp; IEEE 802.3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Standard Ethernet (10M), Fast Ethernet (100M), Gigabit Ethernet (1G), 10GbE, IEEE 802.3 Frame Format (64B to 1518B)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3.5.1 IEEE 802.3 Ethernet Frame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 ETHERNET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Preamble (7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7 bytes of alternating `10101010` patterns used to synchronize receiver clock circuitry.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Start of Frame Delimiter - SFD (1 Byte)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 byte pattern `10101011` indicating that destination MAC address begins immediately on the next bit.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Destination MAC Address (6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48-bit hardware address of target NIC (or broadcast `FF:FF:FF:FF:FF:FF`).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Source MAC Address (6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48-bit hardware address of sending NIC.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/ Length Field (2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If $\ge 1536$ (0x0600), specifies upper layer protocol (EtherType: IPv4 `0x0800`, ARP `0x0806`, IPv6 `0x86DD`). If $\le 1500$, specifies frame payload length.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Payload / Data (46 to 1500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Carries L3 datagram. Minimum payload is 46 bytes (padded with zeros if smaller) to enforce the 64-byte minimum frame size constraint.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Frame Check Sequence - FCS (4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32-bit Cyclic Redundancy Check (CRC-32) computed over Dst MAC, Src MAC, Type, and Payload.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Frame Sizes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Preamble + SFD: 8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Header + FCS: 18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Min Payload: 46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Max Payload (MTU): 1500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Min Frame Size: 64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Max Frame Size: 1518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3.5.2 Ethernet Speed Evolution: Standard to 10GbE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 ETHERNET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Standard &amp; Fast Ethernet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Standard (10 Mbps): 10Base5 (Thicknet coaxial), 10Base2 (Thinnet), 10Base-T (UTP Cat 3/5 with Hub/Switch). Uses Manchester line coding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Fast Ethernet (100 Mbps): 100Base-TX (Cat 5 UTP using 4B/5B and MLT-3 coding), 100Base-FX (Fiber). Introduces Auto-Negotiation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Gigabit &amp; 10G Ethernet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Gigabit Ethernet (1 Gbps): 1000Base-T (Cat 5e/6 UTP using 4 pairs full-duplex with 8B/10B coding), 1000Base-SX/LX (Fiber). Introduces Carrier Extension and Packet Bursting for half-duplex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10 Gigabit Ethernet (10 Gbps): 10GBase-T (Cat 6a/7) and 10GBase-SR/LR. Exclusively full-duplex switched connections; eliminates CSMA/CD completely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IEEE 802.3 Ethernet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IEEE 802.3 Ethernet frame format and explain the function of each field. Why is the minimum frame size 64 bytes and maximum 1518 bytes?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Standard Ethernet, Fast Ethernet, Gigabit Ethernet, and 10 Gigabit Ethernet with respect to medium, coding, and transmission modes.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Preamble and SFD synchronize bit timing; FCS trailer provides CRC-32 error detection.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64-byte minimum frame ensures collision detection in 10/100 Mbps CSMA/CD networks.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10GbE operates strictly in full-duplex mode over switches and fiber links.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M3.5V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Virtual Local Area Networks (VLANs - IEEE 802.1Q)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Broadcast Containment, Port-Based vs Tagged VLANs, IEEE 802.1Q 4-Byte Tag (VID 1-4094), Access vs Trunk Ports, Router-on-a-Stick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3.5V.1 VLAN Motivation &amp; IEEE 802.1Q Tagged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M3.5V VLAN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VLAN Motivation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Physically co-located hosts can be partitioned into logical broadcast domains regardless of physical switch topology. Prevents broadcast storms, enhances security, and organizes departments logically (e.g., Faculty VLAN, Student VLAN, Lab VLAN).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Port-Based VLAN (Untagged)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Switch ports assigned static VLAN IDs. Traffic inside switch segregated by port group; frames on access links remain standard untagged Ethernet frames.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IEEE 802.1Q Tagged Frame (4 Bytes Inserted after Source MAC)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**TPID (Tag Protocol Identifier - 16 bits)**: Set to `0x8100` (identifies frame as 802.1Q tagged). \n 2. **PCP (Priority Code Point - 3 bits)**: IEEE 802.1p Quality of Service priority (0 to 7). \n 3. **DEI (Drop Eligible Indicator - 1 bit)**: Set to 1 if frame can be dropped during congestion. \n 4. **VID (VLAN Identifier - 12 bits)**: Uniquely identifies VLAN number (1 to 4094; 0 and 4095 reserved).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Access Port vs Trunk Port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**Access Port**: Connects end hosts; carries traffic for 1 untagged VLAN only. **Trunk Port**: Interconnects switches/routers; carries multiplexed tagged traffic for multiple VLANs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IEEE 802.1Q Tag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TPID: 0x8100 (16 bits)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PCP: 3 bits (QoS Priority)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DEI: 1 bit (Drop eligibility)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VID: 12 bits (4094 VLANs)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Trunking: Carries tagged frames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Access: Carries untagged 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3.5V.2 Inter-VLAN Routing: Router-on-a-Stick vs Layer 3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M3.5V INTER-VLAN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Why Inter-VLAN Routing?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By design, hosts on different VLANs cannot communicate at Layer 2 even if plugged into the same physical switch. Inter-VLAN routing requires Layer 3 packet forwarding.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Router-on-a-Stick (Legacy Approach)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single physical Ethernet interface on an external router is connected to a switch Trunk port. The router interface is divided into logical **Sub-interfaces** (e.g., `eth0.10`, `eth0.20`), each configured with the default gateway IP and 802.1Q encapsulation for its respective VLAN.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Layer 3 Switch (Modern Core Routing)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Switches with built-in hardware ASIC routing capabilities. Configured with **Switched Virtual Interfaces (SVIs)** (`interface vlan 10`, `interface vlan 20`) providing multi-gigabit wire-speed inter-VLAN routing without external router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Inter-VLAN Methods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Router-on-a-Stick: 1 Trunk link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Sub-interfaces: eth0.10, eth0.20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Switch: Hardware SVI routing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Wire-speed routing in L3 switch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Isolates broadcast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Virtual LANs (VLANs)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benefits of VLANs and illustrate the 4-byte IEEE 802.1Q tag header format.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Access ports and Trunk ports on an Ethernet switch. (5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Inter-VLAN routing using the Router-on-a-Stick architecture with a network diagram and configuration concepts.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VLANs partition a single physical switch into multiple isolated broadcast domains.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IEEE 802.1Q tag inserts 4 bytes (TPID 0x8100 + 12-bit VID for 4094 VLANs).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Trunk links carry tagged multiplexed frames between switches and routers.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Connecting Devices &amp; Spanning Tree Protocol (STP)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Repeaters, Hubs (L1), Bridges &amp; Layer 2 Switches (MAC Learning), Spanning Tree Protocol (IEEE 802.1D STP), Routers &amp; Layer 3 Switches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3.6.1 Connecting Devices Taxonomy &amp; Collision/Broadcast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M3.6 CONNECTING DEVICES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Layer 1: Repeaters &amp; Hubs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Operating Layer: Physical Layer (L1)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Function: Regenerates and amplifies electrical/optical signals; broadcasts incoming bits to all ports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 Domains: Single shared collision domain across all ports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 Domains: Single broadcast domain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Intelligence: Zero intelligence / No buffering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Layer 2: Bridges &amp; Switches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Operating Layer: Data Link Layer (L2)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Function: Inspects MAC addresses; filters and forwards frames selectively using hardware MAC Learning table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 Domains: Microsegmentation: **Each individual port is an isolated collision domain**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 Domains: Single broadcast domain (unless partitioned via VLANs)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Buffering: Store-and-forward / Cut-through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Layer 3: Routers &amp; L3 Switches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Operating Layer: Network Layer (L3)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Function: Routes packets across heterogeneous networks using IP addresses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Collision Domains: Separate collision domain per port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 Domains: **Separates broadcast domains** (does not forward L2 broadcasts)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Routing Table: Maintains FIB routing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3.6.2 Spanning Tree Protocol (IEEE 802.1D STP)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M3.6 SPANNING TREE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Layer 2 Loop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Redundant links between switches provide fault tolerance, but create disastrous **Broadcast Storms**, multiple frame copies, and MAC table instability.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STP Goal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Logically disables redundant links by placing them in Blocking state, dynamically constructing a loop-free active tree topology while keeping backup paths on standby.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BPDU (Bridge Protocol Data Units)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Switches exchange BPDUs containing: `Bridge ID = Priority (2B) + MAC Address (6B)` (Default priority = 32768).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4-Step STP Algorithm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**Root Bridge Election**: Switch with the lowest Bridge ID becomes the Root Bridge. \n 2. **Root Port (RP) Selection**: On each non-root switch, the port with the lowest path cost to the Root Bridge is selected as RP. \n 3. **Designated Port (DP) Selection**: On each LAN segment, the port with the lowest path cost to Root becomes DP. \n 4. **Blocking State**: All remaining ports are placed in Blocking/Discarding state to break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STP Algorithm Steps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 Lowest Bridge ID -&gt; Root Bridge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2. Lowest Cost to Root -&gt; Root Port (RP)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3. Lowest Cost per Link -&gt; Designated Port (DP)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4. Remaining Ports -&gt; Blocked / Alternate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Convergence time: ~30-50 seconds (RSTP: &lt; 1s)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Connecting Devices &amp; STP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Repeaters, Hubs, Switches, and Routers with respect to operating layer, collision domains, and broadcast domains.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the Spanning Tree Protocol (IEEE 802.1D) with Bridge ID, Root Bridge election, Root Ports, and Blocking ports.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Hubs extend collision domains; Switches isolate collision domains; Routers isolate broadcast domains.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Transparent switches dynamically populate MAC tables by inspecting source MACs of arriving frames.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STP prevents broadcast storms by breaking physical switching loops into a single logical tree.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M3.7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Wireless LANs: IEEE 802.11 (Wi-Fi)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BSS, AP, ESS, Distribution System, Hidden/Exposed Terminal Problems, CSMA/CA with RTS/CTS, SIFS/PIFS/DIFS, 802.11 Frame (4 Addresses)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3.7.1 IEEE 802.11 Architecture &amp; Terminal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M3.7 WIRELESS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Basic Service Set (BSS)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fundamental building block consisting of wireless stations and a central Access Point (AP) in Infrastructure mode (or peer-to-peer in Ad-hoc / IBSS mode).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Extended Service Set (ESS)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Multiple BSSs interconnected via a wired Distribution System (DS) sharing a common SSID, enabling seamless roaming across campus.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Hidden Terminal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Nodes A and C cannot hear each other due to distance or physical obstacles, but both are in range of AP B. If A and C transmit simultaneously, their frames collide at B!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Exposed Terminal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Node B is transmitting to A. Node C wants to transmit to D (away from A). C senses B transmitting and unnecessarily defers, wasting channel capacity.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Solution: CSMA/CA with RTS/CTS Handshake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Sender transmits short **RTS (Request to Send)** frame (20B). AP replies with **CTS (Clear to Send)** broadcast (14B) containing Network Allocation Vector (NAV) reservation time, silencing hidden terminals.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802.11 Topology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BSS: AP + Associated Stations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ESS: Multiple BSSs + Wired 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Hidden Terminal: Collisions at AP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RTS/CTS: Virtual carrier sensing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NAV: Channel reservation timer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3.7.2 CSMA/CA Protocol Timing Intervals &amp; 4-Address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M3.7 CSMA/CA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Inter-Frame Space (IFS) Hierarchy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**SIFS (Short IFS)**: Highest priority; used for immediate ACKs, CTS, and fragmented frames. \n 2. **PIFS (PCF IFS)**: Medium priority; used in polling mode. \n 3. **DIFS (DCF IFS)**: Standard priority; minimum wait time before station can contend for channel.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Contention Window (CW) &amp; Backoff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Station waits DIFS; if idle, selects random backoff slot in $[0, CW]$. Counts down while channel is idle; freezes counter during busy periods.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IEEE 802.11 4-Address Frame Format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Frame Control (2B) | Duration/ID (2B) | Address 1 (6B: Receiver MAC) | Address 2 (6B: Transmitter MAC) | Address 3 (6B: Original Source or Final Dest MAC) | Sequence Control (2B) | Address 4 (6B: Used strictly when bridging across WDS wireless distribution links) | Payload (0-2312B) | FCS (4B).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Timing Hierarchy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SIFS &lt; PIFS &lt; DIFS &lt; EIFS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SIFS: ACKs &amp; CTS (Highest priority)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DIFS: Standard data contention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1: Immediate Receiver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2: Immediate Transmitter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3: Original Source / Dest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Addr 4: WDS Wireless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IEEE 802.11 Wireless 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Hidden Terminal and Exposed Terminal problems in Wireless LANs. How does CSMA/CA with RTS/CTS resolve them?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timing relationships between SIFS, PIFS, and DIFS in IEEE 802.11 CSMA/CA with a neat timing diagram.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four MAC address fields in the IEEE 802.11 frame format. When is Address 4 used?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Wireless radios cannot detect collisions while transmitting; hence Wi-Fi uses collision avoidance (CSMA/CA).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RTS and CTS frames carry NAV reservation timers to silence hidden nodes.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Address 4 is populated only when frames are bridged between two wireless APs in WDS mode.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M3.8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Mobile IP Architecture &amp; Protocols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Mobile Node (MN), Home Agent (HA), Foreign Agent (FA), Home Address (HoA), Care-of Address (CoA), Tunneling &amp; Triangle Routing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3.8.1 Mobile IP Architecture &amp; Entities (RFC 5944)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M3.8 MOBILE IP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Mobility Challenge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Standard IP routing uses destination IP prefixes. If a mobile laptop moves to a new subnet, changing its IP address terminates all active TCP connections! Mobile IP allows a host to retain its permanent IP transparently.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Mobile IP Entities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**Mobile Node (MN)**: The roaming host. \n 2. **Home Network &amp; Home Agent (HA)**: The home subnet and the router acting on behalf of MN when away. \n 3. **Foreign Network &amp; Foreign Agent (FA)**: The visited subnet router assisting MN. \n 4. **Correspondent Node (CN)**: The peer host communicating with MN.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Dual-Address Mechanism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**Home Address (HoA)**: Permanent IP address assigned in home subnet (used for active TCP sessions). \n 2. **Care-of Address (CoA)**: Temporary IP address associated with visited foreign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Core Entities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MN: Mobile Node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HA: Home Agent router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FA: Foreign Agent router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HoA: Permanent IP address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CoA: Temporary visited 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CN: Correspondent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3.8.2 Operational Phases: Registration, Tunneling &amp; Triangle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M3.8 MOBILE IP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Phase 1: Agent Discovery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Foreign Agents broadcast periodic Agent Advertisements (ICMP extension); MN detects it has moved and obtains a CoA.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Phase 2: Registration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MN sends Registration Request to FA -&gt; FA forwards to Home Agent (HA) -&gt; HA updates binding table (`HoA -&gt; CoA`) and sends Registration Reply.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Phase 3: Data Transfer (IP-in-IP Encapsulation Tunneling)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CN sends packet to `HoA` -&gt; Routed to Home Network -&gt; Home Agent intercepts packet via Proxy ARP -&gt; HA encapsulates packet inside a new IP header (`Src IP = HA`, `Dst IP = CoA`) -&gt; Transmits through IP tunnel to FA -&gt; FA decapsulates and delivers to MN.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Reverse Path &amp; Triangle Routing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MN sends directly to CN via standard IP routing. However, traffic from CN travels through HA -&gt; FA -&gt; MN (inefficient Triangle Routing). Solution: Route Optimization allows CN to cache MN's CoA and tunnel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Tunneling 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CN -&gt; Home Agent (HoA)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 intercepts (Proxy ARP)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HA tunnels to FA (IP-in-IP)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FA decapsulates -&gt; MN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MN replies directly to CN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Triangle Routing fixed via CoA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Mobile IP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architecture and entities of Mobile IP (MN, HA, FA, HoA, CoA) with a neat diagram.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 operational phases of Mobile IP: Agent Discovery, Registration, and Encapsulation Tunneling.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the Triangle Routing problem in Mobile IP, and how does Route Optimization solve it?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Mobile IP preserves TCP connection survivability during subnet roaming.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Home Agent intercepts packets using Proxy ARP and encapsulates them via IP-in-IP tunneling to the Care-of Address.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Triangle routing introduces latency by routing all forward traffic through the Home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M3.9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Linux Network Programming: Raw Sockets &amp; PF_PACKET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Data Link Provider Interface (DLPI), BSD Packet Filter (BPF), Linux PF_PACKET / AF_PACKET (SOCK_RAW, ETH_P_ALL), Promiscuous Sniffer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3.9.1 Hands-On: Packet Sniffing with Linux `PF_PACKET`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M3.9 LINUX RAW SOCKETS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2179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</a:defRPr>
            </a:pPr>
            <a:r>
              <a:t>// Linux Socket &amp; Protocol Implementation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#include &lt;sys/socket.h&gt;</a:t>
            </a:r>
            <a:br/>
            <a:r>
              <a:t>#include &lt;netinet/ether.h&gt;</a:t>
            </a:r>
            <a:br/>
            <a:r>
              <a:t>#include &lt;net/if.h&gt;</a:t>
            </a:r>
            <a:br/>
            <a:r>
              <a:t>#include &lt;sys/ioctl.h&gt;</a:t>
            </a:r>
            <a:br/>
            <a:br/>
            <a:r>
              <a:t>int main() {</a:t>
            </a:r>
            <a:br/>
            <a:r>
              <a:t>    // 1. Create Raw Packet Socket to capture all Ethernet frames</a:t>
            </a:r>
            <a:br/>
            <a:r>
              <a:t>    int raw_sock = socket(AF_PACKET, SOCK_RAW, htons(ETH_P_ALL));</a:t>
            </a:r>
            <a:br/>
            <a:r>
              <a:t>    </a:t>
            </a:r>
            <a:br/>
            <a:r>
              <a:t>    // 2. Enable Promiscuous Mode on network interface eth0</a:t>
            </a:r>
            <a:br/>
            <a:r>
              <a:t>    struct ifreq ifr;</a:t>
            </a:r>
            <a:br/>
            <a:r>
              <a:t>    strcpy(ifr.ifr_name, "eth0");</a:t>
            </a:r>
            <a:br/>
            <a:r>
              <a:t>    ioctl(raw_sock, SIOCGIFFLAGS, &amp;ifr);</a:t>
            </a:r>
            <a:br/>
            <a:r>
              <a:t>    ifr.ifr_flags |= IFF_PROMISC;</a:t>
            </a:r>
            <a:br/>
            <a:r>
              <a:t>    ioctl(raw_sock, SIOCSIFFLAGS, &amp;ifr);</a:t>
            </a:r>
            <a:br/>
            <a:r>
              <a:t>    </a:t>
            </a:r>
            <a:br/>
            <a:r>
              <a:t>    // 3. Capture and Dissect Raw Ethernet Frame</a:t>
            </a:r>
            <a:br/>
            <a:r>
              <a:t>    unsigned char buffer[2048];</a:t>
            </a:r>
            <a:br/>
            <a:r>
              <a:t>    while (1) {</a:t>
            </a:r>
            <a:br/>
            <a:r>
              <a:t>        int len = recvfrom(raw_sock, buffer, sizeof(buffer), 0, NULL, NULL);</a:t>
            </a:r>
            <a:br/>
            <a:r>
              <a:t>        struct ether_header *eth = (struct ether_header *)buffer;</a:t>
            </a:r>
            <a:br/>
            <a:r>
              <a:t>        printf("Src MAC: %s -&gt; Dst MAC: %s | Protocol: 0x%04X\n",</a:t>
            </a:r>
            <a:br/>
            <a:r>
              <a:t>               ether_ntoa((struct ether_addr *)eth-&gt;ether_shost),</a:t>
            </a:r>
            <a:br/>
            <a:r>
              <a:t>               ether_ntoa((struct ether_addr *)eth-&gt;ether_dhost),</a:t>
            </a:r>
            <a:br/>
            <a:r>
              <a:t>               ntohs(eth-&gt;ether_type));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38912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E4A"/>
                </a:solidFill>
              </a:defRPr>
            </a:pPr>
            <a:r>
              <a:t>⚙️ System Call &amp;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`AF_PACKET` / `PF_PACKET`: Linux-specific socket domain allowing direct interaction with Layer 2 device drivers, bypassing the standard kernel TCP/IP protocol stack entirely.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`SOCK_RAW` vs `SOCK_DGRAM`: `SOCK_RAW` provides raw Ethernet frames including L2 header and trailer; `SOCK_DGRAM` provides frames with L2 header stripped.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Protocol Filter `ETH_P_ALL`: Captures all incoming and outgoing frames (IPv4, ARP, IPv6, STP, VLAN).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Promiscuous Mode (`IFF_PROMISC`): Instructs the NIC hardware to disable MAC address filtering and deliver all overheard frames on the physical wire to the OS.</a:t>
            </a:r>
          </a:p>
          <a:p>
            <a:pPr>
              <a:defRPr b="1" sz="1150">
                <a:solidFill>
                  <a:srgbClr val="0E7490"/>
                </a:solidFill>
              </a:defRPr>
            </a:pPr>
            <a:r>
              <a:t>💡 Hands-on Insight: Used by network diagnostic tools like Wireshark, tcpdump, and custom IDS packet analysis engines.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Linux Raw Sockets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difference between standard Berkeley sockets (`AF_INET`) and Linux packet sockets (`AF_PACKET`).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Write a C program using `PF_PACKET` and `SOCK_RAW` to capture Ethernet frames and extract Source and Destination MAC addresses.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`AF_PACKET` gives direct access to Layer 2 raw Ethernet frames.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Promiscuous mode captures all frames on the shared link regardless of destination MAC.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`ETH_P_ALL` captures all Layer 3 protocol payloads.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