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COMPLETE • MODULE 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Data Link Layer, MAC Protocols &amp; Wireless LANs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Complete Lecture &amp; Revision Master Deck (M3.1 to M3.9)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M3.1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Data Link Layer &amp; Framing Techniques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Node-to-Node Delivery, Character Count, Byte Stuffing with Escape Characters &amp; Bit Stuffing with Flags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3.1.1 Data Link Layer Role &amp; 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M3.1 FRAMING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Node-to-Node Delivery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Data Link Layer encapsulates Network Layer datagrams into hardware Frames and delivers them across a single physical link between adjacent nodes.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Framing Concept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Dividing the raw bit stream from the Physical Layer into discrete, manageable data units (frames) with identifiable boundaries.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Character Count Method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Frame header includes a field specifying total number of characters in the frame. Flaw: If a transmission error corrupts the count field, sender and receiver lose synchronization permanently!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Byte Stuffing (Character-Oriented)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Frame delimited by special flag bytes (e.g. `FLAG` = `0x7E`). Whenever `FLAG` or `ESC` occurs in payload data, sender inserts an escape byte (`ESC` = `0x1B`) before it. Receiver removes `ESC`.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Bit Stuffing (Bit-Oriented - HDLC/PPP)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Frame delimited by special flag pattern `01111110` (six consecutive 1s). Whenever sender detects FIVE consecutive 1s in payload, it automatically stuffs a '0' bit. Receiver strips the stuffed '0' after five 1s.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Bit Stuffing Rule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Flag: 01111110 (6 ones)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Sender: Stuffs '0' after 5 ones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Example Data: 01111110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Transmitted: 011111010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Receiver: Strips '0' after 5 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M3.2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Error Control &amp; Flow Control in Data Link Layer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CRC-32 Modulo-2 Polynomial Division, Hamming (7,4) Error Correction, Stop-and-Wait, Go-Back-N &amp; Selective Repeat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3.2.1 Error Detection: Cyclic Redundancy Check (CRC)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M3.2 CRC POLYNOMIAL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CRC Concept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Powerful polynomial-based error detection method based on binary Modulo-2 division (XOR operations without carry).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Generator Polynomial $G(x)$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Agreed polynomial of degree $r$ (represented as an $(r+1)$-bit divisor). E.g., CRC-32 has $r=32$ bits.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Sender FCS Generation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Append $r$ zeros to the data block $D$. Perform Modulo-2 division of $D \cdot 2^r$ by divisor $G$. The remainder $R$ (of length $r$ bits) is the Frame Check Sequence (FCS). Frame sent is $T = D \cdot 2^r \oplus R$.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Receiver Verification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Receiver divides arriving frame $T$ by divisor $G$. If remainder is EXACTLY ZERO, frame is accepted as error-free; otherwise discarded.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Error Detection Strength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Detects all single-bit errors, all double errors, all odd numbers of bit errors, and all burst errors of length $\le r$.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CRC Algorithm Steps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1. Let divisor G have length k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2. Append (k - 1) zeros to Data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3. Divide using XOR Modulo-2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4. Remainder = FCS (Checksum)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5. Transmit Data + FCS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6. Receiver Remainder must be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3.2.2 Error Correction: Hamming Code (7,4)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M3.2 HAMMING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Hamming Distance ($d_{min}$)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 detect $e$ errors, minimum Hamming distance must be $d_{min} \ge e + 1$. To correct $t$ errors, $d_{min} \ge 2t + 1$.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Hamming (7,4) Code Structure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Transmits 4 data bits ($d_1, d_2, d_3, d_4$) with 3 parity check bits ($p_1, p_2, p_3$) at power-of-2 positions ($1, 2, 4$). Total codeword = 7 bits.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Parity Bit Assignment (Even Parity)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$p_1$ checks bits (1, 3, 5, 7); $p_2$ checks bits (2, 3, 6, 7); $p_4$ checks bits (4, 5, 6, 7).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Syndrome Word Calculation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Receiver calculates syndrome bits $s_3 s_2 s_1$. If syndrome is `000`, no error occurred. If syndrome equals binary integer $k$ ($1 \le k \le 7$), bit position $k$ is inverted and corrected!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Hamming Key Rules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Parity bit positions: 1, 2, 4, 8...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Parity bits formula: 2^p &gt;= m + p + 1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Syndrome indicates exact bit error position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Detects 2-bit, corrects 1-bit errors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3.2.3 Sliding Window Flow Control: Stop-and-Wait vs GBN vs SR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M3.2 ARQ PROTOCOLS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Go-Back-N ARQ (GBN)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Sender Window: Size $N &gt; 1$; unacked frames inflight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Receiver Window: Size = 1; accepts frames strictly in-order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On Out-of-Order Frame: Discards frame and re-sends ACK for last in-order frame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On Timeout: Retransmits ALL $N$ unacknowledged frames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Sequence Numbers: Requires sequence numbers $\ge N + 1$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Selective Repeat ARQ (SR)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Sender Window: Size $N &gt; 1$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Receiver Window: Size $N &gt; 1$; buffers out-of-order frames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On Damaged Frame: Sends Negative ACK (NAK) or waits for timeout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On Timeout: Retransmits ONLY the specific damaged/lost frame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Sequence Numbers: Requires sequence numbers $\ge 2N$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Multiple Access Protocols (MAC)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Random Access (ALOHA, CSMA/CD, CSMA/CA), Controlled Access (Polling, Token Ring) &amp; Channelization (CDMA)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3.3.1 Random Access: Pure ALOHA vs Slotted ALOHA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M3.3 ALOHA PROTOCOLS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Pure ALOHA (Abramson, 1970)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Transmission Rule: Nodes transmit frames immediately whenever data is ready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Vulnerable Period: $2 \times T_{frame}$ (collision if any other node transmits within $\pm T_{frame}$)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Throughput Equation: $S = G \cdot e^{-2G}$ (where $G$ is traffic load)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Maximum Throughput: $S_{max} = \frac{1}{2e} \approx 18.4\%$ (achieved at $G = 0.5$)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Slotted ALOHA (Roberts, 1972)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Transmission Rule: Time divided into synchronized slots ($T_{slot} = T_{frame}$). Nodes transmit only at slot boundary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Vulnerable Period: $1 \times T_{frame}$ (halved compared to Pure ALOHA)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Throughput Equation: $S = G \cdot e^{-G}$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Maximum Throughput: $S_{max} = \frac{1}{e} \approx 36.8\%$ (achieved at $G = 1.0$)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3.3.2 CSMA/CD (Carrier Sense Multiple Access with Collision Detection)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M3.3 CSMA/CD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Carrier Sensing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Listen Before Talk: Station senses channel before transmitting (1-persistent: transmits immediately when idle; Non-persistent: waits random delay if busy; p-persistent: transmits with probability $p$).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Collision Detection (Listen While Talk)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Station monitors signal energy while transmitting. If signal energy exceeds normal threshold, collision detected $\implies$ abort immediately and transmit a 32-bit Jam Signal.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Binary Exponential Backoff Algorithm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After $n$-th collision ($1 \le n \le 10$), choose random slot delay $k \in [0, 2^n - 1]$. Wait time $= k \times 51.2\,\mu\text{s}$. Abort if $n = 16$.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Minimum Frame Size Condition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Sender must transmit for at least $2 \times T_{prop}$ to detect collisions before transmission finishes: $T_{trans} \ge 2 \times T_{prop} \implies L_{min} = 2 \times T_{prop} \times \text{Bandwidth}$ (64 Bytes in 10 Mbps Ethernet).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CSMA/CD Key Formulas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Backoff Range: k in [0, 2^n - 1]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Slot Time: 51.2 microseconds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Min Frame Length = 2 * d_prop * Rate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Standard Ethernet Min Frame = 64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Jam Signal: 32 to 48 bits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3.3.3 Channelization &amp; CDMA (Code Division Multiple Access)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M3.3 CHANNELIZATION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Channelization Principles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Shared bandwidth divided among stations: FDMA (Frequency bands), TDMA (Time slots), and CDMA (Orthogonal Codes).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CDMA Fundamentals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All stations transmit simultaneously across the entire frequency band. Signals are separated using orthogonal chip sequences.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Orthogonal Chip Sequences (Walsh Codes)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Each station is assigned an $N$-bit orthogonal chip code $C_i$ where $C_i \cdot C_j = 0$ (if $i \neq j$) and $C_i \cdot C_i = 1$.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CDMA Encoding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 send bit 1: transmit code $C_i$. To send bit 0: transmit inverse $-C_i$. If silent: transmit 0.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CDMA Decoding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Receiver multiplies composite incoming signal $S$ by desired station's code $C_i$: $S \cdot C_i = (d_1 C_1 + d_2 C_2 + \dots) \cdot C_i = d_i (C_i \cdot C_i) = d_i$. All other signals cancel to 0!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CDMA Properties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Inner Product: Ci * Cj = 0 (i != j)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Self Product: Ci * Ci = 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Immune to interference &amp; jamming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Used in 3G mobile networks &amp; GPS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M3.4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Link Layer Addressing &amp; Address Resolution Protocol (ARP)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48-Bit IEEE MAC Addresses, OUI Vendor Allocation, ARP Query &amp; Reply Protocol Mechanism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3.4.1 MAC Addressing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M3.4 MAC ADDRESSES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48-Bit Physical Address (6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Burned into the Network Interface Card (NIC) ROM. Represented as 12 hexadecimal digits: `00:1A:2B:3C:4D:5E`.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Organizationally Unique Identifier (OUI - First 24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Assigned by IEEE to the hardware manufacturer (e.g. Intel, Cisco, Apple).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NIC Serial Number (Last 24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Assigned uniquely by manufacturer to individual network interfaces.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Broadcast MAC Address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`FF:FF:FF:FF:FF:FF` (all 48 bits are 1s). Processed by every adapter on the local LAN broadcast domain.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Multicast MAC Address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Least Significant Bit of first byte is 1 (e.g. `01:00:5E:xx:xx:xx` for IPv4 multicast).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MAC Address Structure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First 3 Bytes (24b): OUI Vendor ID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Last 3 Bytes (24b): Device Serial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Unicast: 00:1A:2B:3C:4D:5E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Broadcast: FF:FF:FF:FF:FF:FF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Flat physical addressing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3.4.2 Address Resolution Protocol (ARP)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M3.4 ARP 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ARP Purpose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Dynamically translates a known 32-bit IP address into its corresponding 48-bit MAC address on the same local subnet.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ARP Request (Broadcast)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Sender broadcasts an Ethernet frame (`Dst MAC = FF:FF:FF:FF:FF:FF`) asking: 'Who has IP `192.168.1.5`? Tell `192.168.1.1`'.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ARP Reply (Unicast)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host with target IP `192.168.1.5` responds with a unicast frame directly to sender's MAC containing its physical address.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ARP Cache Table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Sender caches the `(IP, MAC, TTL)` mapping (typically for 20 minutes) to eliminate redundant broadcasts for future packets.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Gratuitous ARP &amp; Proxy ARP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Gratuitous ARP: Host announces its own IP/MAC on boot to detect IP address conflicts. Proxy ARP: Router responds on behalf of remote hosts.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ARP Protocol Flow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1. ARP Request -&gt; Broadcast (FF:..:FF)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2. Target Host -&gt; Unicast ARP Reply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3. Host stores in ARP Cache Table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4. Cache expires after TTL (20 min)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Gratuitous ARP: Detects IP conflicts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M3.5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Ethernet Protocols (IEEE 802.3)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Standard Ethernet (10BASE-T), Fast Ethernet, Gigabit Ethernet, 10GbE, Frame Format &amp; MTU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3.5.1 IEEE 802.3 Ethernet Frame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M3.5 ETHERNET 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Preamble (7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Alternating `10101010` pattern for receiver clock synchronization.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Start of Frame Delimiter (SFD - 1 Byte)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`10101011` pattern signaling start of valid frame data.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Destination MAC (6 Bytes) &amp; Source MAC (6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48-bit physical hardware addresses of receiver and sender.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/ Length Field (2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If $\ge 1536$ (`0x0600`), specifies upper layer protocol (`0x0800` for IPv4, `0x0806` for ARP). If $\le 1500$, specifies payload byte length.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Data Payload (46 to 1500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Minimum 46 bytes (padded with zeros if smaller to meet 64B frame minimum) and Maximum 1500 bytes (MTU).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CRC-32 FCS Trailer (4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Cyclic Redundancy Check trailer verifying frame integrity.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Frame Size Limits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Min Frame Size: 64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Max Frame Size: 1518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Min Payload: 46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Max Payload (MTU): 1500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Preamble + SFD = 8 Bytes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3.5.2 High-Speed Ethernet Standards 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M3.5 ETHERNET EVOLUTION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Standard &amp; Fast Ethernet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Standard Ethernet (10BASE-T): 10 Mbps, Cat 3/5 UTP, Manchester encoding, Hub topology, CSMA/CD half-duplex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Fast Ethernet (100BASE-TX): 100 Mbps, Cat 5 UTP (2 pairs), 4B/5B + MLT-3 line encoding, Switch full-duplex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100BASE-FX: 100 Mbps over Multi-mode Optical Fiber (2 km reach)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Gigabit &amp; 10G Ethernet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Gigabit Ethernet (1000BASE-T): 1000 Mbps (1 Gbps), Cat 5e/6 UTP (all 4 pairs simultaneous bidirectional), 4D-PAM5 encoding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1000BASE-SX / LX: 1 Gbps over Short-wavelength / Long-wavelength Optical Fiber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10-Gigabit Ethernet (802.3ae): 10 Gbps, Optical Fiber &amp; Cat 6A UTP; Full-duplex only (CSMA/CD disabled!)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M3.5V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Virtual LANs (VLAN - IEEE 802.1Q)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Broadcast Domain Segmentation, IEEE 802.1Q Frame Tagging, Trunk Ports vs Access Ports &amp; Inter-VLAN Routing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3.5V.1 VLAN Motivation &amp; IEEE 802.1Q Tagging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M3.5V VLAN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VLAN Concept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Logically segments a single physical switch infrastructure into multiple isolated broadcast domains, improving security, traffic management, and bandwidth efficiency.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Access Ports vs Trunk Ports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Access Ports: Connect to end devices (PCs, printers); belong to a single VLAN and carry standard untagged Ethernet frames. Trunk Ports: Connect switch-to-switch or switch-to-router; carry multiplexed traffic for multiple VLANs using 802.1Q tags.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IEEE 802.1Q Tag (4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Inserted between Source MAC and Type/Length fields of standard Ethernet frame.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Tag Fields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TPID (Tag Protocol ID: 16b = `0x8100`), Priority Code Point (PCP: 3b QoS), DEI (Drop Eligible: 1b), and VLAN ID (VID: 12 bits = 4094 possible VLANs).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802.1Q Tag Format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Tag Size: 4 Bytes (32 bits)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TPID: 0x8100 (16 bits)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Priority (PCP): 3 bits (802.1p)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VLAN ID: 12 bits (1 to 4094)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Trunking: Carries tagged traffic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3.5V.2 Inter-VLAN Routing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M3.5V INTER-VLAN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Need for Layer 3 Routing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Hosts in different VLANs cannot communicate at Layer 2 even if connected to the same physical switch. Communication requires a Layer 3 routing device.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Router-on-a-Stick (ROAS)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Single physical router interface connected to switch trunk port. Divided into logical sub-interfaces (e.g. `eth0.10`, `eth0.20`), each configured with the default gateway IP for its respective VLAN.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Layer 3 Switches (Multilayer Switching)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High-performance switch with built-in hardware ASIC IP routing. Switch Virtual Interfaces (SVIs: `interface vlan 10`) provide wirespeed line-rate Inter-VLAN forwarding without external router bottlenecks.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Inter-VLAN Methods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Legacy: Dedicated router port per VLAN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Router-on-a-Stick: 802.1Q sub-interfaces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Layer 3 Switch: SVI hardware routing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Separates broadcast, secures subnets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M3.6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Connecting Devices &amp; Domain Segmentation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Repeaters, Hubs, Bridges, Layer 2 Learning Switches, Routers &amp; Collision vs Broadcast Domain Analysis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3.6.1 Connecting Devices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M3.6 CONNECTING DEVICES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Physical Layer (L1): Repeaters &amp; Hubs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Regenerate/amplify electrical signals and broadcast bits to all ports. Single Collision Domain &amp; Single Broadcast Domain.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Data Link Layer (L2): Bridges &amp; Switches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Forward frames based on 48-bit MAC address tables. Break network into separate Collision Domains per port while maintaining a Single Broadcast Domain.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Learning Switch Algorithm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Switch inspects Source MAC of incoming frame to update `(MAC, Port, TTL)` table. If Destination MAC is in table $\implies$ selective forward to specific port; if destination unknown/broadcast $\implies$ flood to all ports except incoming.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Network Layer (L3): Routers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Forward packets based on 32-bit/128-bit IP addresses. Break network into separate Collision Domains AND separate Broadcast Domains.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Device Hierarchy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L1 Hub: Bit repeater (dumb)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L2 Switch: Frame filter (MAC)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L3 Router: Packet forwarder (IP)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L7 Gateway: Protocol translation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3.6.2 Collision Domains vs Broadcast Domains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M3.6 DOMAIN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Collision Domain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Definition: Network segment where simultaneous transmissions cause physical signal collision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Hub / Repeater: Entire hub is 1 single collision domain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Layer 2 Switch: Each individual switch port is an isolated collision domain ($N$ ports = $N$ domains)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Router: Each router interface is an isolated collision domain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Full-Duplex Switch: Zero collisions occur in full-duplex switch links!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Broadcast Domain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Definition: Network segment reached by an L2 broadcast frame (`FF:FF:FF:FF:FF:FF`)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Hub / Switch: All connected ports belong to 1 single broadcast domain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Switch with VLANs: Each configured VLAN forms an isolated broadcast domain ($M$ VLANs = $M$ domains)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Router: Routers block L2 broadcasts by default; each router interface is a separate broadcast domain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M3.7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Wireless LANs (IEEE 802.11 Wi-Fi)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Architecture (BSS, ESS, AP), CSMA/CA Protocol, NAV, IFS, Hidden/Exposed Terminals, RTS/CTS &amp; Wi-Fi Standards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3.7.1 IEEE 802.11 Wi-Fi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M3.7 802.11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Basic Service Set (BSS)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Building block of 802.11. Consists of wireless stations. Infrastructure BSS includes a central Access Point (AP); Ad-hoc / IBSS has peer-to-peer communication without an AP.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Extended Service Set (ESS)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Two or more BSSs interconnected by a wired Distribution System (DS / Ethernet switch backbone) sharing a common SSID, enabling seamless mobile client roaming.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Service Set Identifier (SSID)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Human-readable name of the wireless network (up to 32 characters) advertised in Periodic Beacon frames by APs.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BSSID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48-bit MAC address of the Access Point's wireless radio interface.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Wi-Fi Topologies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Infrastructure Mode: With AP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Ad-hoc Mode: Peer-to-peer (IBSS)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ESS: Multiple APs on wired 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SSID: Network broadcast name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BSSID: 48-bit AP MAC address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3.7.2 CSMA/CA &amp; Inter-Frame Spaces (IFS)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M3.7 CSMA/CA &amp; 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Why CSMA/CD Fails in Wireless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1. Wireless radios cannot transmit and receive simultaneously on same channel (half-duplex). 2. Signal attenuation makes collision detection impossible at sender $\implies$ Wi-Fi uses Collision AVOIDANCE (CSMA/CA).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CSMA/CA Protocol Flow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Station senses medium. If idle for DIFS, it selects random backoff slot count. Decrements counter while medium idle. Transmits when counter reaches 0. Receiver sends ACK after SIFS.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Inter-Frame Spaces (IFS Hierarchy)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SIFS (Short IFS - highest priority for ACKs/CTS) &lt; PIFS (PCF IFS) &lt; DIFS (DCF IFS - standard data frames).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Network Allocation Vector (NAV)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Virtual carrier sensing. Frames carry a `Duration` field. Stations hearing duration set their internal NAV timer and refrain from transmitting until NAV expires.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IFS Priority Hierarchy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1. SIFS: Lowest delay (ACK / CTS)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2. PIFS: Medium delay (Polling)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3. DIFS: Highest delay (Data frames)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NAV: Virtual countdown timer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Exponential Contention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3.7.3 Hidden vs Exposed Terminals &amp; RTS/CTS Handshake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M3.7 RTS/CTS MECHANISM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Hidden Terminal Problem (Solved by RTS/CTS)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Scenario: Station A and C both communicate with AP B, but A and C cannot hear each other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Problem: Simultaneous transmissions from A and C collide at B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Solution: A sends RTS $\to$ B replies with CTS (heard by C) $\to$ C sets NAV and stays silent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Handshake: RTS (20B) $\to$ CTS (14B) $\to$ DATA $\to$ 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Exposed Terminal Problem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Scenario: B transmits to A; C wants to transmit to D (outside B's range)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Problem: C senses carrier from B and unnecessarily delays transmitting to D even though no collision would occur at A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Resolution: Directional antennas or spatial reuse techniques in modern Wi-Fi 6 (BSS Coloring)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M3.8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Mobile IP Architecture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Entities (MN, HA, FA), Home Address vs Care-of Address, Agent Discovery, Triangle Routing &amp; Route Optimization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3.8.1 Mobile IP Entities &amp; Addressing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M3.8 MOBILE IP ENTITIES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Mobile IP (RFC 5944)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Allows mobile devices (Mobile Nodes) to change their point of attachment to the Internet without changing their static IP address, preserving active TCP connections.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Mobile Node (MN)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End system that moves across subnets (e.g. smartphone moving between Wi-Fi and 5G).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Home Agent (HA)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Router on the Mobile Node's home network that tunnels packets to the MN when it is away from home.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Foreign Agent (FA)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Router on the visited foreign network that assists the MN in receiving packets and provides a Care-of Address (COA).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Two IP Addresses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Permanent Home Address (static IP identifying MN) and Temporary Care-of Address (COA identifying current location).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Mobile IP Terminology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MN: Mobile Node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HA: Home Agent router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FA: Foreign Agent router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Home Address: Permanent static IP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COA: Temporary location address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3.8.2 Triangle Routing &amp; Encapsulation Tunneling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M3.8 TRIANGLE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Agent Discovery &amp; Registration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Foreign Agents broadcast periodic Agent Advertisements. MN registers its new COA with Home Agent via Registration Request.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Triangle Routing Mechanism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1. Correspondent Node (CN) sends packet to MN's Home Address. 2. Home Agent intercepts packet. 3. HA encapsulates packet inside a new IP header (`Dst = COA`) [IP-in-IP Tunneling]. 4. FA decapsulates packet and delivers to MN. 5. MN replies directly to CN.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Inefficiency of Triangle Routing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Packets travel an indirect triangular path through the Home Agent even if CN and MN are on adjacent networks, adding propagation delay.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Route Optimization Solution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HA sends a Binding Update to CN containing MN's current COA, allowing CN to tunnel future packets directly to MN's COA.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Takeaways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IP-in-IP Encapsulation Tunneling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Triangle Path: CN -&gt; HA -&gt; FA -&gt; MN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Direct Reply: MN -&gt; CN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Binding Update: Eliminates triangle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M3.9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Linux Raw Socket Link Layer Programming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Datalink Provider Interface, SOCK_PACKET vs PF_PACKET, struct sockaddr_ll &amp; Custom Frame Sniffing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3.9.1 Linux Raw Sockets &amp; PF_PACKET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M3.9 LINUX RAW SOCKETS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Link-Layer Direct Access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Standard sockets operate at L4/L3. Link-layer raw sockets allow application programs to send and receive raw L2 Ethernet frames directly bypassing kernel IP stack.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Legacy `SOCK_PACKET` vs Modern `PF_PACKET`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`SOCK_PACKET` (Linux 2.0) passed device name in `sockaddr`. Replaced in modern Linux by `socket(PF_PACKET, SOCK_RAW, htons(ETH_P_ALL))` which provides cleaner device binding and hardware header access.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`struct sockaddr_ll` Structure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Socket address struct for link layer: `sll_family = AF_PACKET`, `sll_protocol = htons(ETH_P_ALL)`, `sll_ifindex` (interface index), `sll_hatype` (ARP hardware type), `sll_addr` (MAC address bytes).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Promiscuous Mode Sniffing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NIC configured with `IFF_PROMISC` flag captures ALL frames traversing the physical wire regardless of Destination MAC (used by Wireshark/tcpdump).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Hands-on Code Snip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 = socket(PF_PACKET, SOCK_RAW, htons(ETH_P_ALL));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recvfrom(s, buffer, 2048, 0, NULL, NULL);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struct ethhdr *eth = (struct ethhdr*)buffer;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All KTU CO4 Topics Covered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