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MASTER • MODULE 4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Management &amp; Physical Layer Fundamentals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M4.1 through M4.6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Management Architecture &amp; SNMP Protocol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Managing Entities (Managers), Managed Devices (Agents), MIB, SNMP Protocol Operations, SNMPv1 vs SNMPv2c vs SNMPv3 (USM &amp; VACM)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4.1.1 Network Management Framework &amp; SNMP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Management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Consists of 4 pillars: 1. **Managing Entity (Manager / NMS)**: Centralized workstation running management software. 2. **Managed Devices**: Routers, switches, servers, hosts containing management data. 3. **Management Agent**: Software daemon running inside managed device. 4. **Management Information Base (MIB)**: Virtual database of manageable object variables.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SNMP Protocol (Simple Network Management Protocol - RFC 3411)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over UDP port 161 (Manager to Agent queries) and UDP port 162 (Agent to Manager asynchronous Traps).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SNMP Protocol Operations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**GetRequest**: Manager fetches value of 1 or more MIB variables from Agent. \n 2. **GetNextRequest**: Manager fetches the lexicographically next MIB variable (used for MIB tree walking and table traversal). \n 3. **GetBulkRequest (v2c/v3)**: Fetches large blocks of table rows in a single packet. \n 4. **SetRequest**: Manager sets/modifies configuration value on Agent device. \n 5. **Response**: Agent returns requested data values or error status. \n 6. **Trap / InformRequest**: Unsolicited alert sent by Agent to Manager upon an event (e.g., link failure, reboot). `InformRequest` requires Manager 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SNMP Ports &amp; PDUs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161: Agent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162: Manager Trap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GetRequest: Read variable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SetRequest: Write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GetNext: Sequential MIB walk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GetBulk: Fast table download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Trap: Asynchronous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4.1.2 SNMP Version Evolution: SNMPv1 vs SNMPv2c vs SNMPv3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SNMPv1 &amp; SNMPv2c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Plaintext Community Strings (`public` for read-only, `private` for read-write). Vulnerable to packet sniffing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Operations (v1): Get, GetNext, Set, Response, Trap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Enhancements (v2c): Adds `GetBulkRequest` for fast table fetching and 64-bit high-capacity counters (`Counter64`), but retains plaintext community security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Isolated, trusted internal LANs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SNMPv3 (Cryptographically Secure)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User-Based Security Model (USM) + View-Based Access Control Model (VACM)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Authentication: Message digest authentication via HMAC-MD5 or HMAC-SHA (verifies origin and prevents tampering)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Confidentiality: Payload encryption via DES or AES-128 / AES-256 (prevents eavesdropping)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Freshness: Timestamps and boot counters prevent Replay attacks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Enterprise Standard: Mandatory standard for secure network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Management &amp; SNMP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components of the Network Management architecture (Manager, Agent, MIB, SNMP) with a neat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various SNMP protocol operations (GetRequest, GetNextRequest, GetBulkRequest, SetRequest, Trap, InformRequest).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SNMPv1, SNMPv2c, and SNMPv3 with focus on the User-Based Security Model (USM) in SNMPv3.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 uses UDP port 161 for synchronous polling and port 162 for asynchronous event Traps.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SNMPv2c introduced `GetBulk` and 64-bit counters; SNMPv3 added cryptographic authentication and AES encryption.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`InformRequest` provides reliable delivery of trap notifications with manager acknowledgments.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Structure of Management Information (SMI) &amp; ASN.1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Abstract Syntax Notation One (ASN.1), SMIv2 Macro Definitions, MIB OID Tree Hierarchy (1.3.6.1.2.1), Standard MIB-II Groups, BER Encoding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4.2.1 SMIv2 &amp; MIB Object Identifier (OID) Tree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 SMI &amp; MIB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SMI (Structure of Management Information - RFC 2578)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formal language defining the rules for naming, specifying data types, and structuring management objects in the MIB.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ASN.1 (Abstract Syntax Notation One)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formal notation for describing data structures independently of machine hardware architectures. Defines primitives (INTEGER, OCTET STRING, OBJECT IDENTIFIER, SEQUENCE).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Globally Unique OID Tree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manageable variable is assigned a globally unique dot-delimited Object Identifier (OID) arranged in an inverted tree: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Internet MIB-2 Path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`iso(1)` -&gt; `org(3)` -&gt; `dod(6)` -&gt; `internet(1)` -&gt; `mgmt(2)` -&gt; `mib-2(1)` = **`1.3.6.1.2.1`**.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MIB-II Functional Groups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`system (1.3.6.1.2.1.1)`: Device name, description, uptime, contact. \n 2. `interfaces (1.3.6.1.2.1.2)`: Subnet interfaces, MTU, speed, packet counters. \n 3. `ip (1.3.6.1.2.1.4)`: IP routing tables, forward state, TTL, packet discards. \n 4. `tcp (1.3.6.1.2.1.6)`: Active TCP connection table, current connections, timeouts. \n 5. `udp (1.3.6.1.2.1.7)`: UDP listener table and datagram counters.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Encoding Rules (BER)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Transfers data over wire using **TLV format**: `Tag (Type)` | `Length` | `Value`.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Standard MIB-2 Groups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1.3.6.1.2.1.1: system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1.3.6.1.2.1.2: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1.3.6.1.2.1.4: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1.3.6.1.2.1.6: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1.3.6.1.2.1.7: udp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1.3.6.1.2.1.11: snmp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Encoding: BER TLV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SMI &amp; ASN.1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SMI and ASN.1 in SNMP network management.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MIB Object Identifier (OID) tree hierarchy from Root to MIB-II (`1.3.6.1.2.1`) and describe the primary MIB-II groups (`system`, `interfaces`, `ip`, `tcp`).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Basic Encoding Rules (BER) and the Tag-Length-Value (TLV) encoding format with an example.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SMI defines how MIB data objects are formally defined using ASN.1 syntax.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OID `1.3.6.1.2.1` is the root prefix for all standard Internet MIB-II management objects.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BER encodes variables into machine-independent Tag-Length-Value (TLV) binary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Data and Signals: Theoretical Channel Capacity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Analog vs Digital Signals, Bandwidth, Transmission Impairments (Attenuation, Noise), Signal-to-Noise Ratio (SNR), Nyquist Rate vs Shannon Capacity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4.3.1 Signals, Bandwidth &amp; Transmission Impairments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DATA &amp;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Analog vs Digital Signals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Analog signals have infinitely many continuous values over time (e.g., sine wave $s(t) = A \sin(2\pi f t + \phi)$). Digital signals have discrete discrete levels (e.g., 0V and 5V pulses representing bits 0 and 1).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Bandwidth ($B$)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range of frequencies contained in a composite signal: $B = f_{max} - f_{min}$ Hertz (Hz).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Impairments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**Attenuation**: Loss of signal energy over distance (measured in decibels $dB = 10 \log_{10} (P_2 / P_1)$). Corrected via amplifiers/repeaters. \n 2. **Distortion**: Different frequency components travel at different speeds, altering composite waveform shape. \n 3. **Noise**: Unwanted external energy added to signal (Thermal noise $N_0 = kTB$, Induced noise, Crosstalk, Impulse noise).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Signal-to-Noise Ratio (SNR)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Ratio of signal power to noise power: $SNR = \frac{P_{signal}}{P_{noise}}$. In decibels: $SNR_{dB} = 10 \log_{10} (SNR)$ (e.g., $SNR = 1000 \implies SNR_{dB} = 30$ 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Bandwidth: B = f_max - f_min (Hz)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Decibels: dB = 10 * log10(P2 / P1)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P_signal / P_noise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SNR_dB = 10 * log10(SNR)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SNR = 10^(SNR_dB /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4.3.2 Channel Capacity Limits: Nyquist vs Shannon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NYQUIST VS SHANNON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Nyquist Bit Rate (Noiseless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Harry Nyquist (1928)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theoretical **noiseless** channel with bandwidth $B$ Hz and $L$ discrete signaling levels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2 \times B \times \log_2 (L)$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Data rate can be increased indefinitely by increasing the number of signal levels $L$, but is constrained by noise in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Shannon Capacity (Noisy Channel)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Formulated By: Claude Shannon (1948)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Channel Condition: Assumes real-world channel contaminated with Thermal White Noise (Gaussian Noise)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Formula: $C = B \times \log_2 (1 + SNR)$ bps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Implication: Defines the absolute physical upper bound on error-free channel capacity regardless of how many signal levels $L$ are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4.3.3 Worked KTU Numerical: Nyquist &amp; Shannon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 CAPACITY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telephone line has bandwidth B = 3000 Hz and Signal-to-Noise ratio SNR_dB = 31.62 dB (SNR approx 1452). (a) Calculate the theoretical maximum Shannon channel capacity. (b) To achieve this capacity on a noiseless line with B = 3000 Hz, how many signal levels L are required by Nyquist formula?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Shannon Capacity: C = B * log2(1 + SNR)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SNR_dB = 31.62 dB -&gt; SNR = 10^(31.62 / 10) = 10^3.162 = 1452.1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Nyquist Bit Rate: C = 2 * B * log2(L) bps -&gt; log2(L) = C / (2 * B) -&gt; L = 2^(C / 2B).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1 + SNR = 1 + 1452.1 = 1453.1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log2(1453.1) = log10(1453.1) / log10(2) = 3.1623 / 0.30103 = 10.505 bits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Shannon Capacity C = 3000 Hz * 10.505 = 31,515 bps (approx 31.5 kbps).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Equating to Nyquist: 31,515 = 2 * 3000 * log2(L) = 6000 * log2(L)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log2(L) = 31,515 / 6000 = 5.2525 -&gt; L = 2^5.2525 = 38.12 -&gt; L = 38 signal levels.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Shannon Capacity C = 31.5 kbps | Required Nyquist signal levels L = 38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Shannon determines the upper capacity limit; Nyquist tells us how many signal levels L are required to realize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Channel Capacity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transmission impairments: Attenuation, Distortion, and Noise with diagrams and formulas.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State and derive the Nyquist Bit Rate formula for noiseless channels and Shannon Capacity theorem for noisy channels.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A channel has bandwidth B = 4 kHz. Calculate Shannon capacity if SNR_dB = 20 dB.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Nyquist bit rate ($2B \log_2 L$) applies to ideal noiseless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Shannon capacity ($B \log_2(1+SNR)$) establishes the fundamental thermodynamic limit of noisy channels.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Decibels convert logarithmic power ratios into simple additive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Digital Transmission &amp; Line Coding Schemes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Line Coding Criteria (DC, Sync, Baseline Wander), Unipolar, Polar (NRZ, RZ, Manchester, Diff Manchester), Bipolar (AMI), Block Coding (4B/5B), PCM &amp; DM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4.4.1 Line Coding Design Criteria &amp;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LINE CODING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Line Coding Definition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process of converting a sequence of digital bits (1s and 0s) into a discrete electrical/optical signal waveform for baseband transmission.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Line Coding Design Criteria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**Signal Level vs Data Level**: Number of voltage states ($L$) vs bit values. \n 2. **DC Component**: Frequencies around 0 Hz create heat, cannot pass through transformers/capacitors, and waste transmitter power. Desirable = Zero DC. \n 3. **Self-Synchronization**: Signal transitions (edges) must allow receiver clock to synchronize timing, especially during long strings of consecutive 0s or 1s. \n 4. **Baseline Wander**: Running average of signal voltage must remain constant to maintain accurate decision slicing threshold. \n 5. **Error Detection**: Built-in coding violations indicate physical link errors.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Pulse Code Modulation (PCM)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Digitizes analog signals in 3 steps: 1. **Sampling** (Nyquist Rate $f_s \ge 2 f_{max}$), 2. **Quantization** (approximates sample amplitudes to discrete levels; introduces Quantization Error), 3. **Encoding** (maps quantized levels into $n$-bit binary codewords: Bit Rate $= n \times f_s$).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Line Coding Goals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Eliminate DC components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Provide self-synchronization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Prevent baseline wander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Minimize bandwidth needs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PCM: Sample -&gt; Quantize -&gt; 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4.4.2 Major Line Coding Schemes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SCHEMES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Unipolar &amp; Polar NRZ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Unipolar NRZ: Bit 1 = Positive voltage $+V$, Bit 0 = Zero 0V. Severe DC component; no synchronization on long 0s/1s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NRZ-L (Level): Bit 1 = Negative $-V$, Bit 0 = Positive $+V$. Sensitive to polarity inversion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NRZ-I (Invert): Bit 1 = Transition at start of bit interval; Bit 0 = No transition. Immune to polarity inversion, but fails on consecutive 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Biphase: Manchester &amp; Differential Manchester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Manchester (IEEE 802.3): Mid-bit transition: Bit 1 = High-to-Low transition; Bit 0 = Low-to-High transition. Perfect clock synchronization and Zero DC component, but doubles bandwidth requirement ($2 \times$ baud rate)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Differential Manchester (Token Ring): Always transitions in the middle for clocking. Bit 0 = Transition at start of bit interval; Bit 1 = No transition at start. Highly robust against wire twists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Bipolar AMI &amp; Multilevel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Bipolar AMI: Bit 0 = Zero 0V; Bit 1 = Alternating positive $+V$ and negative $-V$. Zero DC component, low bandwidth, but loses sync on long 0s (solved via B8ZS/HDB3 scrambling)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Digital Transmission &amp; Line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line coding waveforms for the bit stream `10110001` using: (a) Unipolar NRZ, (b) NRZ-L, (c) NRZ-I, (d) Manchester, (e) Differential Manchester, (f) Bipolar AMI.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Pulse Code Modulation (PCM) with Sampling Theorem ($f_s \ge 2f_{max}$), Quantization, and Encoding.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DC component problem and baseline wander in digital transmission?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Manchester coding guarantees a transition in every single bit cell for foolproof clock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Differential Manchester transitions at the start for bit 0, and has no start transition for bit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PCM digitizes voice signals at 8000 samples/sec $\times$ 8 bits/sample = 64 kbps (standard DS0 channel).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Analog Transmission &amp; Bandwidth Utilization (Multiplexing)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Digital-to-Analog Modulation (ASK, FSK, PSK, QAM), Multiplexing Techniques (FDM, WDM, Synchronous vs Statistical TDM), Spread Spectrum (FHSS, DSSS)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4.5.1 Digital Modulation Schemes: ASK vs FSK vs PSK vs QAM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MODULATION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ASK, FSK &amp; PSK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ASK (Amplitude Shift Keying / BASK): Bit 1 = High amplitude carrier $A_1 \cos(2\pi f_c t)$; Bit 0 = Low amplitude $A_2$ (or 0 in OOK). Susceptible to noise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FSK (Frequency Shift Keying / BFSK): Bit 1 = Frequency $f_1$; Bit 0 = Frequency $f_2$. Robust against amplitude noise; requires higher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PSK (Phase Shift Keying / BPSK &amp; QPSK): BPSK: Bit 1 = $0^\circ$ phase, Bit 0 = $180^\circ$ phase. QPSK: 2 bits per baud ($00, 01, 10, 11$) using 4 orthogonal phases ($45^\circ, 135^\circ, 225^\circ, 315^\circ$)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QAM (Quadrature Amplitude Modulation)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Combines Amplitude Modulation (ASK) and Phase Modulation (PSK) simultaneously to maximize spectral efficiency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16-QAM &amp; 64-QAM: 16-QAM encodes 4 bits/symbol ($2^4 = 16$ constellation points); 64-QAM encodes 6 bits/symbol; 256-QAM encodes 8 bits/symbol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Constellation Diagrams: Visualizes constellation constellation points in In-Phase ($I$) and Quadrature ($Q$) 2D plane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Applications: Wi-Fi (802.11ac/ax), 4G/5G LTE, Cable modems (DOCSIS)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4.5.2 Multiplexing: FDM vs WDM vs Synchronous TDM vs Statistical TDM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MULTIPLEXING TAXONOMY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Frequency &amp; Optical Multiplexing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FDM (Frequency-Division Multiplexing): Divides total analog bandwidth into distinct frequency channels separated by **Guard Bands** (e.g., FM radio, cable TV)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WDM (Wavelength-Division Multiplexing): Optical analog of FDM. Combines multiple laser light beams of different wavelengths (e.g., 1550 nm, 1310 nm) onto a single optical fiber using diffraction prisms. DWDM handles 80+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Time-Division Multiplexing (TDM)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Synchronous TDM: Time divided into fixed recurring frames containing dedicated slots allocated round-robin to each input line. Slot wasted if an input line is idle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Statistical TDM (Asynchronous): Dynamically allocates time slots **on demand** only to active lines transmitting data. Eliminates idle slot waste by adding channel address headers to each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Analog Transmission &amp;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Quadrature Amplitude Modulation (QAM) and draw the constellation diagrams for 4-QAM and 16-QAM.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Synchronous TDM and Statistical TDM with framing and slot allocation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Spread Spectrum techniques: Frequency Hopping Spread Spectrum (FHSS) vs Direct Sequence Spread Spectrum (DSSS).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QAM modulates both amplitude and phase to pack multiple bits into a single baud symbol.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FDM shares bandwidth in frequency; TDM shares bandwidth in time slots.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Statistical TDM dynamically allocates slots on demand, achieving much higher link utilization than Synchronous TDM.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Physical Transmission Media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Guided Media (Twisted Pair UTP/STP, Coaxial Cable, Fiber Optics SMF/MMF), Unguided Wireless (Radio Waves, Microwaves, Infrared)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4.6.1 Guided Media: Twisted Pair vs Coaxial vs Optical Fiber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GUIDED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Twisted-Pair &amp; Coaxial Cable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Twisted-Pair (UTP / STP): Two insulated copper wires twisted together to cancel electromagnetic interference (crosstalk). Cat 5e (100 MHz, 1 Gbps), Cat 6 (250 MHz, 10 Gbps up to 55m), Cat 6a (500 MHz, 10 Gbps 100m). Terminated with RJ-45 connectors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Coaxial Cable: Central copper core surrounded by dielectric insulator, metallic braided shield, and outer jacket. 10Base5 (Thicknet, 500m), 10Base2 (Thinnet, 185m), RG-59 (Cable TV). Terminated with BNC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Optical Fiber (Total Internal Reflection)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Physics Principle: Light pulses propagate via Total Internal Reflection inside glass core (refractive index $n_1$) surrounded by cladding ($n_2 &lt; n_1$) when incident angle exceeds critical angle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Step-Index: Multiple light rays reflect abruptly at core-cladding boundary; causes modal dispersion (short distances)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Graded-Index: Core refractive index decreases gradually outward; light rays curve smoothly, reducing modal dispersion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Single-Mode Fiber (SMF): Ultra-narrow core (8-10 $\mu$m); single light ray propagates straight; zero modal dispersion; enables 100+ km long-haul backbone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4.6.2 Unguided Media: Wireless Electromagnetic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UNGUIDED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Radio Waves (3 kHz to 1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Omnidirectional radiation pattern (transmitting antenna broadcasts signals in all directions). Penetrates physical walls effortlessly. Subject to multi-path interference. Used in AM/FM radio and cordless phones.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Microwaves (1 GHz to 300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Unidirectional, Line-of-Sight propagation. Focused beam using parabolic dish or horn antennas. Cannot penetrate solid obstacles (walls, hills). Used in cellular networks, satellite communications, and GPS.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Infrared Waves (300 GHz to 400 THz)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High-frequency, short-range line-of-sight communication. Completely blocked by walls and solid obstacles (ensures indoor security without room-to-room interference). Used in TV remote controls and IrDA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Wireless Spectrum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Radio: Omnidirectional (Wall penetration)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Microwaves: Line-of-sight (Dish antenna)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Infrared: Short range (Blocked by walls)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Satellite: Geosynchronous (36,000 km)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Fiber: Total Internal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Transmission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Step-Index Multimode, Graded-Index Multimode, and Single-Mode optical fibers with refractive index profiles and light propagation paths.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Twisted-Pair Cable, Coaxial Cable, and Optical Fiber across bandwidth, attenuation, EMI immunity, and cost.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Radio waves, Microwaves, and Infrared wireless media.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Optical fibers provide immense bandwidth, zero EMI susceptibility, and ultra-low attenuation.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Single-mode fiber eliminates modal dispersion for high-speed long-distance backbones.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Microwaves require line-of-sight parabolic antennas; Infrared is safely contained by room walls.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