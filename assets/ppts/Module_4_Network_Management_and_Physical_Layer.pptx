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COMPLETE • MODULE 4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Network Management &amp; Physical Layer Fundamentals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Complete Lecture &amp; Revision Master Deck (M4.1 to M4.6)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• M4.1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Network Management &amp; SNMP Architecture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Framework Components (NMS, Agent, MIB), SNMP Protocol Operations (UDP 161/162), Evolution: SNMPv1 vs SNMPv2c vs SNMPv3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4.1.1 Network Management Framework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M4.1 SNMP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Network Management Framework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Consists of 4 fundamental components: Managing Entity, Managed Devices, Management Agents, and Management Information Base.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Managing Entity (NMS - Network Management System)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Central workstation executing network management applications. Polls agents, receives alerts, and presents graphical dashboards.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Managed Device &amp; Agent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Routers, switches, servers running an SNMP Management Agent software module that collects local operational metrics and executes configuration commands.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Management Information Base (MIB)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Hierarchical structured collection of managed object variables maintained inside each device (e.g., packets transmitted, CPU utilization, interface status).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UDP Port Protocol Transport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SNMP Manager sends requests to Agent on UDP Port 161; Agent sends unsolicited alerts (Traps) to Manager on UDP Port 162.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SNMP Core Elements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NMS: Central manager console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Agent: Software on managed node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MIB: Device database variables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Port 161 UDP: Requests (Get/Set)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Port 162 UDP: Alerts (Traps/Inform)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4.1.2 SNMP Protocol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M4.1 SNMP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`GetRequest`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Manager requests value of one or more specific MIB variables by OID from Agent.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`GetNextRequest`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Manager requests value of lexicographically next object in MIB tree (used for table traversal / walk).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`GetBulkRequest` (SNMPv2/v3)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Manager efficiently fetches large blocks of tabular data in a single PDU response, minimizing network roundtrips.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`SetRequest`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Manager writes a new value to a MIB variable to reconfigure device state (e.g. enable/disable an interface).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`Response`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Agent replies to Manager with requested data values or error status.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`Trap` (Unsolicited Alert)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Agent proactively sends alert to NMS reporting an asynchronous critical event (e.g. link down, power supply failure, authentication failure). Unacknowledged.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`InformRequest` (SNMPv2/v3)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Manager-to-Manager or Agent-to-Manager acknowledged trap.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Operation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GetRequest: Fetch variable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GetNextRequest: Tree traversal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GetBulkRequest: Table retrieval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SetRequest: Modify configuration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Trap: Unsolicited async event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InformRequest: Acknowledged 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4.1.3 Evolution of SNMP: SNMPv1 vs SNMPv2c vs SNMPv3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M4.1 SNMP EVOLUTION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SNMPv1 &amp; SNMPv2c (Legacy)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Authentication: Plaintext Community Strings (`public` for read, `private` for write) transmitted in cleartext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Security: Vulnerable to packet sniffing, replay attacks, and unauthorized configuration modification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Data Types: v1: 32-bit counters only (rollover in 34s on 1 Gbps links!). v2c: Added 64-bit counters (`Counter64`) &amp; `GetBulkRequest`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SNMPv3 (Modern Standard - RFC 3411)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User-based Security Model (USM): Provides Message Integrity (HMAC-MD5/SHA) and Confidentiality (DES/AES-128/256 payload encryption)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View-based Access Control (VACM): Defines granular read/write access permissions per user group for specific MIB subtrees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Anti-Replay: Timestamps and boot counters prevent replaying captured SNMP packets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• M4.2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Abstract Syntax Notation One (ASN.1) &amp; MIB-2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ASN.1 Data Types, Basic Encoding Rules (BER) Tag-Length-Value Format, MIB-2 Tree Hierarchy &amp; OID Structure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4.2.1 ASN.1 Data Types &amp; BER Wire Encoding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M4.2 ASN.1 &amp; 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Role of ASN.1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 formal, machine-independent language for specifying data types and structured messages independently of operating system hardware or byte-ordering conventions.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Primitive ASN.1 Data Types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`INTEGER` (signed integer), `OCTET STRING` (byte sequence), `OBJECT IDENTIFIER` (dotted OID path), `BOOLEAN` (True/False), `NULL` (empty placeholder).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Constructed ASN.1 Data Types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`SEQUENCE` (ordered list of different types - like a C struct), `SEQUENCE OF` (ordered list of same type - like an array).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Basic Encoding Rules (BER - TLV Format)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Serializes ASN.1 objects into wire bytes as `[Tag | Length | Value]`.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BER Example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Tag specifies data type (e.g. `0x02` for INTEGER), Length specifies payload byte count (e.g. `0x01`), Value contains actual data (e.g. `0x05` $\implies$ `02 01 05` encodes integer 5).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BER TLV Structure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Tag (Type): 1 Byte identifier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Length: Byte count of Value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Value: Actual binary payload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02 01 05: INTEGER 5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04 03 41 42 43: OCTET STRING 'ABC'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4.2.2 Management Information Base (MIB-2) Tree &amp; OIDs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M4.2 MIB-2 HIERARCHY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MIB-2 Tree Hierarchy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All managed objects are organized into a globally unique hierarchical tree identified by dotted numeric Object Identifiers (OIDs).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Standard Internet Root Path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`iso(1) . org(3) . dod(6) . internet(1) . mgmt(2) . mib-2(1)` = `1.3.6.1.2.1`.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Key MIB-2 Functional Groups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1. `system (1.3.6.1.2.1.1)`: Device name, description, uptime, contact.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2. `interfaces (1.3.6.1.2.1.2)`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Number of interfaces, interface speed, MTU, packet counters (`ifInOctets`, `ifOutOctets`).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3. `ip (1.3.6.1.2.1.4)` &amp; `tcp (1.3.6.1.2.1.6)`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IP routing table (`ipRouteTable`), forwarding counters, active TCP connection table (`tcpConnTable`).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MIB OIDs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sysDescr: 1.3.6.1.2.1.1.1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sysUpTime: 1.3.6.1.2.1.1.3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ifNumber: 1.3.6.1.2.1.2.1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ipForwarding: 1.3.6.1.2.1.4.1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Scalar append .0: sysDescr.0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• M4.3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Physical Layer: Data, Signals &amp; Capacity Limits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Analog vs Digital Signals, Fourier Decomposition, Transmission Impairments, Nyquist Bit Rate &amp; Shannon Capacity Theorem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4.3.1 Data, Signals &amp; Transmission Impairments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M4.3 SIGNALS &amp; IMPAIRMENTS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Analog vs Digital Signals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Analog: Continuous signal waveform over time with infinite voltage levels. Digital: Discrete discrete voltage levels representing binary 0s and 1s.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Fourier Harmonic Analysis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Any periodic composite signal can be decomposed into an infinite series of fundamental and harmonic sine waves: $s(t) = \frac{A_0}{2} + \sum [A_n \sin(2\pi n f t) + B_n \cos(2\pi n f t)]$.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Transmission Impairment 1: Attenuation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Loss of signal energy over transmission distance. Measured in decibels (dB): $\text{dB} = 10 \log_{10} \left( \frac{P_2}{P_1} \right)$ (Negative dB = signal loss). Compensated by amplifiers / repeaters.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Transmission Impairment 2: Distortion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Different harmonic frequency components travel at slightly different speeds in guided media, shifting relative phase and altering signal shape.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Transmission Impairment 3: Noise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Thermal noise (Johnson noise: $N = kTB$), Induced noise, Crosstalk (coupling between adjacent wires), Impulse noise (sudden spikes).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Decibel Formulas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Power: dB = 10 * log10(P2 / P1)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Voltage: dB = 20 * log10(V2 / V1)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Half power = -3 dB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10x power = +10 dB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100x power = +20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4.3.2 Channel Capacity Limits: Nyquist vs Shannon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M4.3 THEORETICAL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Nyquist Bit Rate (Noiseless Channel)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Condition: Ideal noiseless channel of bandwidth $B$ Hz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Signal Levels: $L$ distinct discrete signal voltage levels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Formula: $\text{Bit Rate} = 2 \times B \times \log_2(L) \text{ bps}$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Example: Bandwidth = 3000 Hz, $L = 2 \implies \text{Bit Rate} = 2 \times 3000 \times 1 = 6000 \text{ bps}$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Significance: Upper bound determined strictly by bandwidth and modulation levels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Shannon Capacity Theorem (Noisy Channel)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Condition: Real-world physical channel with Gaussian thermal noise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Signal-to-Noise: $\text{SNR} = \frac{\text{Signal Power}}{\text{Noise Power}}$ (Linear scale)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Formula: $\text{Capacity } C = B \times \log_2(1 + \text{SNR}) \text{ bps}$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Example: $B = 3000\text{ Hz}, \text{SNR}_{\text{dB}} = 30\text{ dB} \implies \text{SNR} = 1000$ $\implies C = 3000 \times \log_2(1001) \approx 29,887\text{ bps}$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Significance: Absolute theoretical upper bound regardless of signal levels $L$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• M4.4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Digital Transmission: Line Coding Techniques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Baseband Transmission, Unipolar, Polar (NRZ-L, NRZ-I), Biphase (Manchester, Differential Manchester), Bipolar AMI &amp; Block Codes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4.4.1 NRZ vs Biphase Manchester Line 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M4.4 LINE 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NRZ (Non-Return-to-Zero)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NRZ-L (Level): Bit 0 = Positive voltage $+V$; Bit 1 = Negative voltage $-V$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NRZ-I (Invert): Bit 1 = Transition at bit beginning; Bit 0 = No transition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Drawback: Significant DC component; baseline wander; loss of synchronization on consecutive 0s or 1s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Bandwidth: Low bandwidth ($B = N / 2$)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Manchester &amp; Differential Manchester (Self-Clocking)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Manchester (IEEE 802.3): Bit 0 = High-to-Low mid-bit transition; Bit 1 = Low-to-High mid-bit transition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Diff Manchester (802.5): Always mid-bit transition for clocking. Bit 0 = Transition at bit start; Bit 1 = No transition at start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Advantage: Guaranteed mid-bit transition gives perfect receiver clock synchronization and ZERO DC bias!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Drawback: Requires DOUBLE bandwidth ($B = N$)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4.4.2 Bipolar AMI, Block Coding &amp; Scrambling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M4.4 BIPOLAR &amp; BLOCK CODES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Bipolar AMI (Alternate Mark Inversion)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Bit 0 = Zero volts ($0\text{V}$). Bit 1 = Alternating positive ($+V$) and negative ($-V$) voltages. Eliminates DC component entirely; provides basic error detection (violating polarity rule = error).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Loss of Sync on Zeros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Long strings of consecutive 0s produce continuous $0\text{V}$, causing receiver clock drift.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Scrambling (B8ZS &amp; HDB3)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B8ZS (North America T1): Replaces eight consecutive 0s with `000VB0VB` (where V=Bipolar Violation, B=Bipolar Rule). HDB3 (Europe E1): Replaces four consecutive 0s with `000V` or `B00V`.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Block Coding (4B/5B &amp; 8B/10B)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Converts 4-bit data nibbles into 5-bit codewords ensuring no more than three consecutive 0s ever occur, which are then transmitted using NRZ-I (Used in 100BASE-TX Fast Ethernet).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Line Coding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NRZ: Simple, DC bias issue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Manchester: 802.3, self-clocking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AMI: Alternates +V/-V on 1s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B8ZS/HDB3: Scrambles long 0s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4B/5B: Guarantees clock sync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• M4.5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Analog Transmission &amp; Bandwidth Utilization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Digital-to-Analog Modulation (ASK, FSK, PSK, QAM), Multiplexing Techniques: FDM, WDM, Synchronous TDM &amp; Statistical TDM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4.5.1 Digital-to-Analog Modulation 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M4.5 MODULATION METHODS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Basic Shift Keying (ASK, FSK, PSK)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ASK (Amplitude Shift Keying): Varies carrier amplitude: Bit 1 = High amplitude $A_1$; Bit 0 = Low amplitude $A_2$ (or 0 in OOK). Susceptible to noise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FSK (Frequency Shift Keying): Varies carrier frequency: Bit 1 = Frequency $f_1$; Bit 0 = Frequency $f_2$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BPSK (Binary Phase Shift Keying): Varies carrier phase: Bit 0 = $0^\circ$ phase; Bit 1 = $180^\circ$ phase. Highly robust against noise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QPSK (Quadrature PSK): Uses 4 phase angles ($45^\circ, 135^\circ, 225^\circ, 315^\circ$) to transmit 2 bits per signal baud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QAM (Quadrature Amplitude Modulation)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Concept: Combines Amplitude Shift Keying and Phase Shift Keying to pack multiple bits per baud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16-QAM: 16 constellation points $\implies 4 \text{ bits per baud}$ ($2^4 = 16$)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64-QAM / 256-QAM: 64 points (6 bits/baud) / 256 points (8 bits/baud); used in modern 4G/5G, Wi-Fi 6, and cable modems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Bandwidth Efficiency: Achieves massive bit rates over narrow RF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4.5.2 Multiplexing: FDM, WDM &amp; Time Division Multiplexing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M4.5 MULTIPLEXING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Bandwidth Utilization Goal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Combine multiple low-speed incoming data channels over a single high-capacity physical link.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Frequency Division Multiplexing (FDM)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Analog technique. Divides total link bandwidth into separate non-overlapping frequency carrier bands separated by Guard Bands (Used in Radio, Cable TV, ADSL).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Wavelength Division Multiplexing (WDM / DWDM)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Optical multiplexing over fiber. Multiplexes multiple laser beams of different light wavelengths (colors) into a single fiber strand (Dense WDM carries $&gt; 80$ channels of 100 Gbps each).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Synchronous Time Division Multiplexing (TDM)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Digital technique. Time divided into recurring frames; each frame contains fixed time slots pre-assigned to each input channel. Flaw: Wastes bandwidth if a channel has no data to send (idle slots).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Statistical TDM (Asynchronous TDM)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Time slots allocated dynamically on-demand only to active input channels carrying data. Eliminates wasted idle slots, dramatically increasing link utilization.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Multiplexing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FDM: Analog frequency bands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WDM: Optical wavelengths in fiber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Sync TDM: Fixed pre-assigned slots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Stat TDM: Dynamic on-demand slots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Guard Bands: Prevent interference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• M4.6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Transmission Media (Guided &amp; Unguided)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Guided Media (Twisted Pair UTP/STP, Coaxial, Optical Fiber Single/Multi-mode TIR), Unguided Wireless &amp; Satellite Orbits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4.6.1 Guided Transmission Media: Copper vs Optical Fiber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M4.6 GUIDED MEDIA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Twisted Pair &amp; Coaxial Cable (Copper)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Unshielded Twisted Pair (UTP): Pairs twisted to cancel electromagnetic interference (EMI) and crosstalk. Cat 5e (1 Gbps / 100m), Cat 6/6A (10 Gbps / 55-100m). RJ-45 connector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Shielded Twisted Pair (STP): Metal foil braid per pair for harsh industrial environments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Coaxial Cable: Central copper conductor surrounded by dielectric insulation, metallic braided shield, and jacket. 50$\Omega$ Baseband / 75$\Omega$ Broadband Cable TV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Optical Fiber (Glass / Silica Core)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Propagation Principle: Total Internal Reflection (TIR) when light angle exceeds critical angle (Core refractive index $n_1 &gt;$ Cladding $n_2$)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Step-Index vs Graded-Index: Step-Index: Constant core index. Graded-Index: Parabolic index profile reduces modal dispersion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Single-Mode Fiber (SMF): Tiny core (8-10 $\mu$m); zero modal dispersion; laser source; reach &gt; 40 km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Multi-Mode Fiber (MMF): Larger core (50-62.5 $\mu$m); LED source; short reach (&lt; 2 km) inside LANs/data centers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Immense Advantages: Immense bandwidth, zero electromagnetic interference (EMI), complete electrical isolation, low attenuation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4.6.2 Unguided Media (Wireless) &amp; Satellite Orbits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M4.6 UNGUIDED &amp; SATELLITES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Radio Waves (3 kHz to 1 GHz)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Omnidirectional propagation (signals travel in all directions). Penetrates building walls easily. Used for AM/FM radio, cordless phones, and VHF television.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Microwaves (1 GHz to 300 GHz)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Directional line-of-sight propagation using parabolic dish antennas. Cannot penetrate walls effectively; subject to rain attenuation (Used for terrestrial towers, radar, satellite).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Infrared (300 GHz to 400 THz)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High-frequency line-of-sight; cannot penetrate solid walls (prevents eavesdropping). Used for short-range TV remotes and wireless peripherals.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Geostationary Earth Orbit (GEO ~35,786 km)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Orbital period matches Earth's rotation (24 hrs); fixed position above equator. High propagation delay (~250 ms one-way RTT $\approx 500$ ms).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Medium Earth Orbit (MEO ~2,000 to 20,000 km)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Used by GPS constellations (24 satellites at ~20,200 km).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Low Earth Orbit (LEO ~500 to 1,500 km)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Low propagation delay (~20-40 ms RTT); requires mega-constellations of thousands of satellites (e.g. Starlink, OneWeb).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Satellite Orbits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GEO: 35,786 km (High delay ~500ms)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MEO: 20,200 km (GPS navigation)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LEO: 500-1500 km (Low latency broadband)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All KTU CO5 Topics Covered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