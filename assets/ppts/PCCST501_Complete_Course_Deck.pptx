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188720"/>
            <a:ext cx="164592" cy="44805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0"/>
            <a:ext cx="100584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300">
                <a:solidFill>
                  <a:srgbClr val="D97706"/>
                </a:solidFill>
              </a:defRPr>
            </a:pPr>
            <a:r>
              <a:t>PCCST501 Computer Networks | KTU 2024 Scheme • ALL MODULES • MASTER DECK</a:t>
            </a:r>
          </a:p>
          <a:p>
            <a:pPr>
              <a:spcAft>
                <a:spcPts val="1400"/>
              </a:spcAft>
              <a:defRPr b="1" sz="3200">
                <a:solidFill>
                  <a:srgbClr val="F8FAFC"/>
                </a:solidFill>
              </a:defRPr>
            </a:pPr>
            <a:r>
              <a:t>PCCST501 Computer Networks</a:t>
            </a:r>
          </a:p>
          <a:p>
            <a:pPr>
              <a:spcAft>
                <a:spcPts val="2800"/>
              </a:spcAft>
              <a:defRPr sz="1700">
                <a:solidFill>
                  <a:srgbClr val="94A3B8"/>
                </a:solidFill>
              </a:defRPr>
            </a:pPr>
            <a:r>
              <a:t>Complete Lecture &amp; Revision Course Deck (Modules 1 to 4) • KTU 2024 Scheme</a:t>
            </a:r>
          </a:p>
          <a:p>
            <a:pPr>
              <a:defRPr b="1" sz="1300">
                <a:solidFill>
                  <a:srgbClr val="E2E8F0"/>
                </a:solidFill>
              </a:defRPr>
            </a:pPr>
            <a:r>
              <a:t>Prepared by: Prof. Anju Markose | Assistant Professor, Dept. of CSE | VJCET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Viswajyothi College of Engineering and Technology (VJCET), Vazhakulam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188720"/>
            <a:ext cx="164592" cy="44805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0"/>
            <a:ext cx="100584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300">
                <a:solidFill>
                  <a:srgbClr val="D97706"/>
                </a:solidFill>
              </a:defRPr>
            </a:pPr>
            <a:r>
              <a:t>PCCST501 Computer Networks | KTU 2024 Scheme • MODULE 1 COMPLETE • MODULE 1</a:t>
            </a:r>
          </a:p>
          <a:p>
            <a:pPr>
              <a:spcAft>
                <a:spcPts val="1400"/>
              </a:spcAft>
              <a:defRPr b="1" sz="3200">
                <a:solidFill>
                  <a:srgbClr val="F8FAFC"/>
                </a:solidFill>
              </a:defRPr>
            </a:pPr>
            <a:r>
              <a:t>Application Layer &amp; Peer-to-Peer Paradigms</a:t>
            </a:r>
          </a:p>
          <a:p>
            <a:pPr>
              <a:spcAft>
                <a:spcPts val="2800"/>
              </a:spcAft>
              <a:defRPr sz="1700">
                <a:solidFill>
                  <a:srgbClr val="94A3B8"/>
                </a:solidFill>
              </a:defRPr>
            </a:pPr>
            <a:r>
              <a:t>Complete Lecture &amp; Revision Master Deck (M1.1 to M1.9)</a:t>
            </a:r>
          </a:p>
          <a:p>
            <a:pPr>
              <a:defRPr b="1" sz="1300">
                <a:solidFill>
                  <a:srgbClr val="E2E8F0"/>
                </a:solidFill>
              </a:defRPr>
            </a:pPr>
            <a:r>
              <a:t>Prepared by: Prof. Anju Markose | Assistant Professor, Dept. of CSE | VJCET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Viswajyothi College of Engineering and Technology (VJCET), Vazhakulam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188720"/>
            <a:ext cx="164592" cy="44805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0"/>
            <a:ext cx="100584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300">
                <a:solidFill>
                  <a:srgbClr val="D97706"/>
                </a:solidFill>
              </a:defRPr>
            </a:pPr>
            <a:r>
              <a:t>PCCST501 Computer Networks | KTU 2024 Scheme • MODULE 1 • M1.1</a:t>
            </a:r>
          </a:p>
          <a:p>
            <a:pPr>
              <a:spcAft>
                <a:spcPts val="1400"/>
              </a:spcAft>
              <a:defRPr b="1" sz="3200">
                <a:solidFill>
                  <a:srgbClr val="F8FAFC"/>
                </a:solidFill>
              </a:defRPr>
            </a:pPr>
            <a:r>
              <a:t>Overview of the Internet Architecture</a:t>
            </a:r>
          </a:p>
          <a:p>
            <a:pPr>
              <a:spcAft>
                <a:spcPts val="2800"/>
              </a:spcAft>
              <a:defRPr sz="1700">
                <a:solidFill>
                  <a:srgbClr val="94A3B8"/>
                </a:solidFill>
              </a:defRPr>
            </a:pPr>
            <a:r>
              <a:t>Network Edge, Network Core, Packet Switching vs Circuit Switching, Delay Models, Loss &amp; Throughput</a:t>
            </a:r>
          </a:p>
          <a:p>
            <a:pPr>
              <a:defRPr b="1" sz="1300">
                <a:solidFill>
                  <a:srgbClr val="E2E8F0"/>
                </a:solidFill>
              </a:defRPr>
            </a:pPr>
            <a:r>
              <a:t>Prepared by: Prof. Anju Markose | Assistant Professor, Dept. of CSE | VJCET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Viswajyothi College of Engineering and Technology (VJCET), Vazhakulam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1.1.1 Internet Structure: Edge &amp;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M1.1 INTERNET 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The Internet: Network of Networks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A global interconnection of billions of computing devices (hosts/end systems) running distributed network applications.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Network Edge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End systems (clients, servers, mobile, IoT) running application-layer software. Access networks (DSL, FTTH, 4G/5G, Wi-Fi) connect edge devices to the core.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Network Core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Interconnected mesh of packet switches (routers, link-layer switches) responsible for forwarding data packets across the global mesh.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Protocols &amp; Standards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Protocols define format, order of messages sent/received, and actions taken upon message transmission/receipt. Governed by IETF RFCs.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28016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500">
                <a:solidFill>
                  <a:srgbClr val="0E7490"/>
                </a:solidFill>
              </a:defRPr>
            </a:pPr>
            <a:r>
              <a:t>Structural Hierarchy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Tier-1 ISPs: Global transit backbone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IXPs: Internet Exchange Points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Regional ISPs: Connect local access nets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End Hosts: Produce &amp; consume traffic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1.1.2 Switching Paradigms: Packet vs Circuit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M1.1 SWITCHING COMPARISON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521208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F1E4A"/>
                </a:solidFill>
              </a:defRPr>
            </a:pPr>
            <a:r>
              <a:t>Packet Switching (Internet)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Data Unit: Data chunked into discrete packets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Resource Allocation: Statistical Multiplexing on-demand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Bandwidth Efficiency: High link utilization; handles bursty data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Queueing &amp; Loss: Buffers packets; causes queuing delay &amp; loss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State: Stateless core; flexible routing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280160"/>
            <a:ext cx="5212080" cy="484632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0F1E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41732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E7490"/>
                </a:solidFill>
              </a:defRPr>
            </a:pPr>
            <a:r>
              <a:t>Circuit Switching (Legacy PSTN)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Data Unit: Continuous stream over dedicated circuit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Resource Allocation: Pre-allocated dedicated bandwidth (FDM/TDM)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Bandwidth Efficiency: Inefficient during idle / silent periods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Queueing &amp; Loss: Zero queuing delay; calls blocked if busy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State: Call setup / teardown state in switches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1.1.3 Delay, Loss &amp; Throughput in Packet Networks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M1.1 METRICS &amp; DELAYS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Total Nodal Delay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Sum of 4 fundamental delay components: $d_{nodal} = d_{proc} + d_{queue} + d_{trans} + d_{prop}$.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Nodal Processing Delay ($d_{proc}$)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Time required to inspect packet header, verify bit-level checksums, and determine output link (typically microseconds).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Queuing Delay ($d_{queue}$)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Time packet waits in output buffer for link transmission. Depends on traffic intensity $I = La / R$ ($I \to 1 \Rightarrow$ queue grows exponentially).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Transmission Delay ($d_{trans}$)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Time to push all packet bits onto link: $d_{trans} = L / R$ ($L$ = Packet bits, $R$ = Link bandwidth in bps).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Propagation Delay ($d_{prop}$)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Time for a bit to travel physically across link: $d_{prop} = d / s$ ($d$ = distance in meters, $s$ = propagation speed $\approx 2 \times 10^8$ m/s).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Packet Loss &amp; Throughput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When buffer queues overflow, arriving packets are dropped. End-to-end throughput is bottlenecked by the slowest link on the path.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28016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500">
                <a:solidFill>
                  <a:srgbClr val="0E7490"/>
                </a:solidFill>
              </a:defRPr>
            </a:pPr>
            <a:r>
              <a:t>Exam Formulas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d_trans = L / R (sec)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d_prop = d / s (sec)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Traffic Intensity: I = (L * a) / R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If I &gt; 1: Queue grows infinitely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Throughput = min(R1, R2, ..., Rn)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188720"/>
            <a:ext cx="164592" cy="44805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0"/>
            <a:ext cx="100584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300">
                <a:solidFill>
                  <a:srgbClr val="D97706"/>
                </a:solidFill>
              </a:defRPr>
            </a:pPr>
            <a:r>
              <a:t>PCCST501 Computer Networks | KTU 2024 Scheme • MODULE 1 • M1.2</a:t>
            </a:r>
          </a:p>
          <a:p>
            <a:pPr>
              <a:spcAft>
                <a:spcPts val="1400"/>
              </a:spcAft>
              <a:defRPr b="1" sz="3200">
                <a:solidFill>
                  <a:srgbClr val="F8FAFC"/>
                </a:solidFill>
              </a:defRPr>
            </a:pPr>
            <a:r>
              <a:t>Protocol Layering &amp; Network Models</a:t>
            </a:r>
          </a:p>
          <a:p>
            <a:pPr>
              <a:spcAft>
                <a:spcPts val="2800"/>
              </a:spcAft>
              <a:defRPr sz="1700">
                <a:solidFill>
                  <a:srgbClr val="94A3B8"/>
                </a:solidFill>
              </a:defRPr>
            </a:pPr>
            <a:r>
              <a:t>Layering Principles, OSI 7-Layer Architecture, TCP/IP 5-Layer Stack, Encapsulation &amp; PDUs</a:t>
            </a:r>
          </a:p>
          <a:p>
            <a:pPr>
              <a:defRPr b="1" sz="1300">
                <a:solidFill>
                  <a:srgbClr val="E2E8F0"/>
                </a:solidFill>
              </a:defRPr>
            </a:pPr>
            <a:r>
              <a:t>Prepared by: Prof. Anju Markose | Assistant Professor, Dept. of CSE | VJCET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Viswajyothi College of Engineering and Technology (VJCET), Vazhakulam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1.2.1 Protocol Layering Principles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M1.2 PROTOCOL LAYERING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Modular Architecture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Complex networking tasks are divided into distinct functional layers. Each layer relies on services from the layer below and provides services to the layer above.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Layer Independence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Changes in the internal implementation of one layer do not affect other layers, provided the inter-layer interface remains unchanged.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Encapsulation &amp; Decapsulation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As data travels down the stack at the sender, each layer prepends a header (and sometimes a trailer). At receiver, headers are stripped sequentially.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Protocol Data Units (PDU)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L5: Message (App) $\to$ L4: Segment (TCP) / Datagram (UDP) $\to$ L3: Packet/Datagram (IP) $\to$ L2: Frame (Ethernet) $\to$ L1: Bits (Physical).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28016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500">
                <a:solidFill>
                  <a:srgbClr val="0E7490"/>
                </a:solidFill>
              </a:defRPr>
            </a:pPr>
            <a:r>
              <a:t>Key Advantages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Modularity simplifies design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Standardized interfaces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Interoperability across vendors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Easy maintenance and upgrades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1.2.2 Model Comparison: OSI 7-Layer vs TCP/IP 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M1.2 OSI VS TCP/IP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521208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F1E4A"/>
                </a:solidFill>
              </a:defRPr>
            </a:pPr>
            <a:r>
              <a:t>OSI Reference Model (ISO)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7. Application: User network interfaces (HTTP, FTP)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6. Presentation: Data translation, compression, encryption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5. Session: Dialog control &amp; synchronization checkpoints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4. Transport: End-to-end process delivery &amp; flow/error control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3. Network: Routing &amp; logical addressing across networks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2. Data Link: Node-to-node framing &amp; MAC error control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1. Physical: Bit stream transmission over raw media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280160"/>
            <a:ext cx="5212080" cy="484632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0F1E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41732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E7490"/>
                </a:solidFill>
              </a:defRPr>
            </a:pPr>
            <a:r>
              <a:t>TCP/IP Internet Stack (Practical)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5. Application: Combines OSI L7, L6, and L5 functions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4. Transport: Process-to-process delivery (TCP, UDP)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3. Network (Internet): Host-to-host routing (IPv4, IPv6, ICMP)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2. Data Link: Hardware frame delivery (Ethernet, Wi-Fi)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1. Physical: Cable signals, optical pulses, radio waves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1.2.3 PDU Encapsulation &amp; Addressing Hierarchy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M1.2 ADDRESSING &amp; PDUs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Application Layer (L5)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PDU: Message. Uses Port Numbers (16-bit) and URLs/Hostnames to address application endpoints.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Transport Layer (L4)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PDU: Segment / Datagram. Adds Source &amp; Destination Port Numbers (e.g., Port 80, 443, 53) for process-to-process multiplexing.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Network Layer (L3)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PDU: Datagram / Packet. Adds Source &amp; Destination IP Addresses (32-bit IPv4 / 128-bit IPv6) for global host-to-host routing.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Data Link Layer (L2)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PDU: Frame. Adds Source &amp; Destination MAC Addresses (48-bit physical) and CRC-32 Frame Check Sequence (FCS) trailer.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Physical Layer (L1)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PDU: Bits. Encodes raw bit stream into voltages, light pulses, or RF carrier modulations.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28016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500">
                <a:solidFill>
                  <a:srgbClr val="0E7490"/>
                </a:solidFill>
              </a:defRPr>
            </a:pPr>
            <a:r>
              <a:t>Addressing Summary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L5/L4: 16-bit Port (0-65535)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L3: 32-bit IPv4 / 128-bit IPv6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L2: 48-bit MAC (Hex notation)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L1: Physical voltage/frequencies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188720"/>
            <a:ext cx="164592" cy="44805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0"/>
            <a:ext cx="100584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300">
                <a:solidFill>
                  <a:srgbClr val="D97706"/>
                </a:solidFill>
              </a:defRPr>
            </a:pPr>
            <a:r>
              <a:t>PCCST501 Computer Networks | KTU 2024 Scheme • MODULE 1 • M1.3</a:t>
            </a:r>
          </a:p>
          <a:p>
            <a:pPr>
              <a:spcAft>
                <a:spcPts val="1400"/>
              </a:spcAft>
              <a:defRPr b="1" sz="3200">
                <a:solidFill>
                  <a:srgbClr val="F8FAFC"/>
                </a:solidFill>
              </a:defRPr>
            </a:pPr>
            <a:r>
              <a:t>Application Layer Paradigms &amp; Services</a:t>
            </a:r>
          </a:p>
          <a:p>
            <a:pPr>
              <a:spcAft>
                <a:spcPts val="2800"/>
              </a:spcAft>
              <a:defRPr sz="1700">
                <a:solidFill>
                  <a:srgbClr val="94A3B8"/>
                </a:solidFill>
              </a:defRPr>
            </a:pPr>
            <a:r>
              <a:t>Client-Server vs Peer-to-Peer (P2P), Transport Service Requirements for Applications</a:t>
            </a:r>
          </a:p>
          <a:p>
            <a:pPr>
              <a:defRPr b="1" sz="1300">
                <a:solidFill>
                  <a:srgbClr val="E2E8F0"/>
                </a:solidFill>
              </a:defRPr>
            </a:pPr>
            <a:r>
              <a:t>Prepared by: Prof. Anju Markose | Assistant Professor, Dept. of CSE | VJCET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Viswajyothi College of Engineering and Technology (VJCET), Vazhakulam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1.3.1 Application Architecture Paradigms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M1.3 APP PARADIGMS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521208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F1E4A"/>
                </a:solidFill>
              </a:defRPr>
            </a:pPr>
            <a:r>
              <a:t>Client-Server Architecture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Server Host: Always-on host with permanent, well-known IP address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Client Hosts: Communicate with server; intermittent connections; dynamic IPs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Scalability: Server can become bottleneck; requires data centers / load balancers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Control: Centralized control, security, and authentication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Examples: Web (HTTP), Email (SMTP/IMAP), File Transfer (FTP)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280160"/>
            <a:ext cx="5212080" cy="484632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0F1E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41732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E7490"/>
                </a:solidFill>
              </a:defRPr>
            </a:pPr>
            <a:r>
              <a:t>Peer-to-Peer (P2P) Architecture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Peers: Arbitrary end systems communicate directly without dedicated server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Self-Scalability: New peers bring service capacity as well as demand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Decentralization: No single point of failure; resilient against server outages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Management: Complex churn handling (peers join and leave arbitrarily)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Examples: BitTorrent, Gnutella, Blockchain networks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1.3.2 Transport Services Required by Applications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M1.3 TRANSPORT REQUIREMENTS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Reliable Data Transfer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Financial, web, and email apps require 100% loss-free transfer (TCP). Loss-tolerant audio/video can accept minor loss (UDP).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Throughput / Bandwidth Guarantees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Bandwidth-sensitive apps (VoIP, 4K video) need minimum throughput guarantees. Elastic apps adapt to available bandwidth.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Timing &amp; Latency Constraints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Interactive games and video conferencing require tight bounds on end-to-end delay (e.g. &lt; 150ms).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Security &amp; Encryption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Confidentiality, data integrity, and endpoint authentication provided by Transport Layer Security (TLS/HTTPS).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Socket Abstraction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The software interface through which application processes send and receive data over the network stack.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28016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500">
                <a:solidFill>
                  <a:srgbClr val="0E7490"/>
                </a:solidFill>
              </a:defRPr>
            </a:pPr>
            <a:r>
              <a:t>Protocol Matching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Web (HTTP): TCP (Port 80/443)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Email (SMTP): TCP (Port 25/587)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DNS: UDP (Port 53) [Low latency]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Streaming: UDP / RTP (or DASH/TCP)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FTP: TCP (Ports 20 &amp; 21)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188720"/>
            <a:ext cx="164592" cy="44805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0"/>
            <a:ext cx="100584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300">
                <a:solidFill>
                  <a:srgbClr val="D97706"/>
                </a:solidFill>
              </a:defRPr>
            </a:pPr>
            <a:r>
              <a:t>PCCST501 Computer Networks | KTU 2024 Scheme • MODULE 1 • M1.4</a:t>
            </a:r>
          </a:p>
          <a:p>
            <a:pPr>
              <a:spcAft>
                <a:spcPts val="1400"/>
              </a:spcAft>
              <a:defRPr b="1" sz="3200">
                <a:solidFill>
                  <a:srgbClr val="F8FAFC"/>
                </a:solidFill>
              </a:defRPr>
            </a:pPr>
            <a:r>
              <a:t>World Wide Web &amp; HTTP Architecture</a:t>
            </a:r>
          </a:p>
          <a:p>
            <a:pPr>
              <a:spcAft>
                <a:spcPts val="2800"/>
              </a:spcAft>
              <a:defRPr sz="1700">
                <a:solidFill>
                  <a:srgbClr val="94A3B8"/>
                </a:solidFill>
              </a:defRPr>
            </a:pPr>
            <a:r>
              <a:t>HTTP/1.0, HTTP/1.1 Persistent Pipelining, HTTP/2 Binary Multiplexing, HTTP/3, Methods, Status Codes &amp; Caching</a:t>
            </a:r>
          </a:p>
          <a:p>
            <a:pPr>
              <a:defRPr b="1" sz="1300">
                <a:solidFill>
                  <a:srgbClr val="E2E8F0"/>
                </a:solidFill>
              </a:defRPr>
            </a:pPr>
            <a:r>
              <a:t>Prepared by: Prof. Anju Markose | Assistant Professor, Dept. of CSE | VJCET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Viswajyothi College of Engineering and Technology (VJCET), Vazhakulam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1.4.1 HTTP Protocol Fundamentals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M1.4 HTTP 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HyperText Transfer Protocol (HTTP)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Application-layer request-response protocol running over TCP (Port 80 HTTP, Port 443 HTTPS).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Stateless Nature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Server maintains no information about past client requests. Cookies and sessions add state on top of HTTP.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HTTP Request Message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Consists of Request Line (`METHOD URL VERSION`), Header Lines (`Host:`, `User-Agent:`, `Accept:`), Blank Line (`\r\n`), and Entity Body (in POST).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HTTP Response Message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Consists of Status Line (`VERSION STATUS_CODE PHRASE`), Header Lines (`Content-Type:`, `Content-Length:`, `Set-Cookie:`), Blank Line, and Entity Body.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HTTP Methods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GET (retrieve data), POST (submit form/JSON), HEAD (fetch headers only), PUT (upload/replace resource), DELETE (remove resource).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28016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500">
                <a:solidFill>
                  <a:srgbClr val="0E7490"/>
                </a:solidFill>
              </a:defRPr>
            </a:pPr>
            <a:r>
              <a:t>Key Status Codes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200 OK: Request succeeded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301 Moved Permanently: Redirect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304 Not Modified: Cache valid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400 Bad Request: Malformed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404 Not Found: Missing URL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500 Internal Server Error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1.4.2 HTTP Connections: Non-Persistent vs Persistent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M1.4 HTTP CONNECTIONS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521208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F1E4A"/>
                </a:solidFill>
              </a:defRPr>
            </a:pPr>
            <a:r>
              <a:t>Non-Persistent HTTP (HTTP/1.0)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Connection Rule: At most one object sent over a single TCP connection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Overhead: New TCP 3-way handshake for EVERY referenced object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Response Time: 2 RTTs + Transmission Time per referenced object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Server Load: High OS overhead managing multiple short-lived sockets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Parallel Connections: Browsers open ~6 parallel connections to compensate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280160"/>
            <a:ext cx="5212080" cy="484632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0F1E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41732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E7490"/>
                </a:solidFill>
              </a:defRPr>
            </a:pPr>
            <a:r>
              <a:t>Persistent HTTP (HTTP/1.1)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Connection Rule: Multiple objects sent over a SINGLE open TCP connection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Pipelining: Client sends subsequent requests without waiting for replies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Response Time: 1 RTT for initial connection + 1 RTT per batch of objects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Keep-Alive: Header `Connection: keep-alive` prevents socket teardown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Head-of-Line Blocking: Slow first response blocks subsequent queued objects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1.4.3 HTTP Evolution: HTTP/2 &amp; HTTP/3 &amp; Web Caching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M1.4 HTTP/2 &amp; CACHING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HTTP/2 Innovations (RFC 7540)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Replaces plain text with Binary Framing Layer. Introduces Stream Multiplexing: multiple requests/responses interleaved over one TCP connection without Head-of-Line (HoL) blocking.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Header Compression &amp; Server Push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HPACK algorithm compresses redundant headers across requests. Server Push proactively sends required assets (CSS/JS) before client requests them.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HTTP/3 over QUIC (RFC 9000)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Runs over UDP instead of TCP. Eliminates TCP-level Head-of-Line blocking and achieves zero-RTT connection resumption with integrated TLS 1.3.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Web Caching &amp; Proxy Servers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Proxy servers satisfy client requests from local storage without contacting origin server. Reduces response time and access link traffic.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Conditional GET (`If-Modified-Since`)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Cache verifies freshness with origin server. If object unchanged, server returns `304 Not Modified` with zero entity body.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28016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500">
                <a:solidFill>
                  <a:srgbClr val="0E7490"/>
                </a:solidFill>
              </a:defRPr>
            </a:pPr>
            <a:r>
              <a:t>HTTP Evolution Summary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HTTP/1.0: 1 Object per TCP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HTTP/1.1: Persistent + Keep-Alive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HTTP/2: Binary Multiplexing + Push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HTTP/3: UDP (QUIC) + 0-RTT TLS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Web Caching: Reduces ISP load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188720"/>
            <a:ext cx="164592" cy="44805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0"/>
            <a:ext cx="100584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300">
                <a:solidFill>
                  <a:srgbClr val="D97706"/>
                </a:solidFill>
              </a:defRPr>
            </a:pPr>
            <a:r>
              <a:t>PCCST501 Computer Networks | KTU 2024 Scheme • MODULE 1 • M1.5</a:t>
            </a:r>
          </a:p>
          <a:p>
            <a:pPr>
              <a:spcAft>
                <a:spcPts val="1400"/>
              </a:spcAft>
              <a:defRPr b="1" sz="3200">
                <a:solidFill>
                  <a:srgbClr val="F8FAFC"/>
                </a:solidFill>
              </a:defRPr>
            </a:pPr>
            <a:r>
              <a:t>File Transfer Protocol (FTP)</a:t>
            </a:r>
          </a:p>
          <a:p>
            <a:pPr>
              <a:spcAft>
                <a:spcPts val="2800"/>
              </a:spcAft>
              <a:defRPr sz="1700">
                <a:solidFill>
                  <a:srgbClr val="94A3B8"/>
                </a:solidFill>
              </a:defRPr>
            </a:pPr>
            <a:r>
              <a:t>Dual Connection Architecture, Out-of-Band Control, Active vs Passive Mode, Commands &amp; Status Codes</a:t>
            </a:r>
          </a:p>
          <a:p>
            <a:pPr>
              <a:defRPr b="1" sz="1300">
                <a:solidFill>
                  <a:srgbClr val="E2E8F0"/>
                </a:solidFill>
              </a:defRPr>
            </a:pPr>
            <a:r>
              <a:t>Prepared by: Prof. Anju Markose | Assistant Professor, Dept. of CSE | VJCET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Viswajyothi College of Engineering and Technology (VJCET), Vazhakulam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1.5.1 FTP Dual-Channel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M1.5 FTP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Two Parallel TCP Connections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FTP separates control signalling from actual data transfer by utilizing two distinct TCP connections.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Control Connection (Port 21)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Client connects to server port 21. Used for sending ASCII commands (`USER`, `PASS`, `LIST`, `RETR`, `STOR`) and receiving 3-digit status codes. Remains open throughout session.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Data Connection (Port 20 / Ephemeral)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Created dynamically whenever a file transfer or directory listing is requested. Closed immediately upon file transfer completion.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Out-of-Band Control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Because control information is sent on a completely separate connection from data, FTP is termed an 'Out-of-Band' control protocol (unlike HTTP which is in-band).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Stateful Server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FTP server maintains state about client (current directory, authentication state, transfer parameters).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28016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500">
                <a:solidFill>
                  <a:srgbClr val="0E7490"/>
                </a:solidFill>
              </a:defRPr>
            </a:pPr>
            <a:r>
              <a:t>Key FTP Commands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USER &lt;username&gt;: Login ID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PASS &lt;password&gt;: Auth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LIST: Request directory listing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RETR &lt;filename&gt;: Download file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STOR &lt;filename&gt;: Upload file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QUIT: Close session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1.5.2 FTP Modes: Active vs Passive (PASV)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M1.5 ACTIVE VS PASSIVE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521208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F1E4A"/>
                </a:solidFill>
              </a:defRPr>
            </a:pPr>
            <a:r>
              <a:t>Active Mode FTP (Standard)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Step 1: Client connects from port N to Server Port 21 (Control)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Step 2: Client sends `PORT` command telling server its IP and port M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Step 3: Server initiates data connection from Port 20 to Client Port M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Firewall Issue: Client-side firewall blocks incoming connection from server port 20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Best For: Clients with direct public IP addresses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280160"/>
            <a:ext cx="5212080" cy="484632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0F1E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41732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E7490"/>
                </a:solidFill>
              </a:defRPr>
            </a:pPr>
            <a:r>
              <a:t>Passive Mode FTP (PASV - Modern)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Step 1: Client connects from port N to Server Port 21 (Control)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Step 2: Client sends `PASV` command to server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Step 3: Server opens random unprivileged port P and tells client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Step 4: Client initiates data connection from port N+1 to Server port P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Firewall Friendly: All connections initiated outbound by client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188720"/>
            <a:ext cx="164592" cy="44805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0"/>
            <a:ext cx="100584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300">
                <a:solidFill>
                  <a:srgbClr val="D97706"/>
                </a:solidFill>
              </a:defRPr>
            </a:pPr>
            <a:r>
              <a:t>PCCST501 Computer Networks | KTU 2024 Scheme • MODULE 1 • M1.6</a:t>
            </a:r>
          </a:p>
          <a:p>
            <a:pPr>
              <a:spcAft>
                <a:spcPts val="1400"/>
              </a:spcAft>
              <a:defRPr b="1" sz="3200">
                <a:solidFill>
                  <a:srgbClr val="F8FAFC"/>
                </a:solidFill>
              </a:defRPr>
            </a:pPr>
            <a:r>
              <a:t>Electronic Mail (SMTP, POP3, IMAP, MIME)</a:t>
            </a:r>
          </a:p>
          <a:p>
            <a:pPr>
              <a:spcAft>
                <a:spcPts val="2800"/>
              </a:spcAft>
              <a:defRPr sz="1700">
                <a:solidFill>
                  <a:srgbClr val="94A3B8"/>
                </a:solidFill>
              </a:defRPr>
            </a:pPr>
            <a:r>
              <a:t>Email Architecture, Push vs Pull Models, Simple Mail Transfer Protocol, POP3 vs IMAP4 &amp; MIME Encoding</a:t>
            </a:r>
          </a:p>
          <a:p>
            <a:pPr>
              <a:defRPr b="1" sz="1300">
                <a:solidFill>
                  <a:srgbClr val="E2E8F0"/>
                </a:solidFill>
              </a:defRPr>
            </a:pPr>
            <a:r>
              <a:t>Prepared by: Prof. Anju Markose | Assistant Professor, Dept. of CSE | VJCET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Viswajyothi College of Engineering and Technology (VJCET), Vazhakulam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1.6.1 Electronic Mail Architecture &amp; SMTP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M1.6 EMAIL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Three Core Components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User Agents (UA: Mail readers like Outlook, Thunderbird), Mail Servers (contain mailboxes &amp; outgoing message spools), and Transfer Protocols.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SMTP (Simple Mail Transfer Protocol)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Standard push protocol for transferring email messages reliably between mail servers over TCP (Port 25 standard, 587 submission).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SMTP Push Mechanism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Sender User Agent pushes email to Sender Mail Server via SMTP $\to$ Sender Mail Server pushes email directly to Recipient Mail Server via SMTP.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Connection Phases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Three phases: Handshake (`HELO` / `EHLO`), Message Transfer (`MAIL FROM:`, `RCPT TO:`, `DATA`), and Closure (`QUIT`).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7-Bit ASCII Limitation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Original SMTP body restricted to plain 7-bit ASCII characters. Multimedia require MIME extensions.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28016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500">
                <a:solidFill>
                  <a:srgbClr val="0E7490"/>
                </a:solidFill>
              </a:defRPr>
            </a:pPr>
            <a:r>
              <a:t>SMTP Commands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HELO / EHLO: Client greeting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MAIL FROM: Identifies sender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RCPT TO: Identifies recipient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DATA: Begins email body text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. (Single dot on line): Ends body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QUIT: Terminates connection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1.6.2 Mail Access Protocols: POP3 vs IMAP4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M1.6 POP3 VS IMAP4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521208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F1E4A"/>
                </a:solidFill>
              </a:defRPr>
            </a:pPr>
            <a:r>
              <a:t>POP3 (Post Office Protocol v3 - Port 110)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Paradigm: Download-and-delete / Download-and-keep mode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Folder Management: Messages downloaded locally; cannot create server folders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Multi-Device Sync: Poor; state changes on one device not reflected on others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Server Storage: Minimal server storage required; client maintains local archive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Statelessness: Stateless across client sessions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280160"/>
            <a:ext cx="5212080" cy="484632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0F1E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41732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E7490"/>
                </a:solidFill>
              </a:defRPr>
            </a:pPr>
            <a:r>
              <a:t>IMAP4 (Internet Message Access Protocol - Port 143)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Paradigm: Remote message management on server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Folder Management: Allows creating, renaming, and nesting folders on server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Multi-Device Sync: Perfect synchronization across phone, laptop, webmail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Partial Download: Allows fetching message headers before downloading body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Stateful: Server tracks read, flagged, and deleted states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1.6.3 MIME (Multipurpose Internet Mail Extensions)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M1.6 MIME EXTENSIONS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Motivation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Enables sending non-ASCII data (images, audio, video, attachments, non-English character sets) across standard 7-bit ASCII SMTP infrastructure.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MIME Header Extensions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`MIME-Version: 1.0`, `Content-Type:` (e.g. `text/html`, `image/jpeg`, `multipart/mixed`), `Content-Transfer-Encoding:`.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Base64 Encoding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Converts arbitrary binary data into 6-bit chunks mapped to 64 printable ASCII characters (`A-Z`, `a-z`, `0-9`, `+`, `/`). Every 3 binary bytes produce 4 ASCII chars (33% overhead).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Quoted-Printable Encoding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Used for text with few non-ASCII characters; non-ASCII byte represented as `=XX` (hex).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Multipart MIME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Allows single email message to contain plain text, HTML version, and multiple attached binary files separated by a boundary string.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28016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500">
                <a:solidFill>
                  <a:srgbClr val="0E7490"/>
                </a:solidFill>
              </a:defRPr>
            </a:pPr>
            <a:r>
              <a:t>Push vs Pull Summary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Sender UA -&gt; Sender Server: SMTP (Push)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Sender Server -&gt; Recv Server: SMTP (Push)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Recv Server -&gt; Recv UA: POP3/IMAP (Pull)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Webmail: HTTP between UA and Server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188720"/>
            <a:ext cx="164592" cy="44805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0"/>
            <a:ext cx="100584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300">
                <a:solidFill>
                  <a:srgbClr val="D97706"/>
                </a:solidFill>
              </a:defRPr>
            </a:pPr>
            <a:r>
              <a:t>PCCST501 Computer Networks | KTU 2024 Scheme • MODULE 1 • M1.7</a:t>
            </a:r>
          </a:p>
          <a:p>
            <a:pPr>
              <a:spcAft>
                <a:spcPts val="1400"/>
              </a:spcAft>
              <a:defRPr b="1" sz="3200">
                <a:solidFill>
                  <a:srgbClr val="F8FAFC"/>
                </a:solidFill>
              </a:defRPr>
            </a:pPr>
            <a:r>
              <a:t>Domain Name System (DNS)</a:t>
            </a:r>
          </a:p>
          <a:p>
            <a:pPr>
              <a:spcAft>
                <a:spcPts val="2800"/>
              </a:spcAft>
              <a:defRPr sz="1700">
                <a:solidFill>
                  <a:srgbClr val="94A3B8"/>
                </a:solidFill>
              </a:defRPr>
            </a:pPr>
            <a:r>
              <a:t>Hierarchical Namespace, Root &amp; TLD Servers, Recursive vs Iterative Resolution, Resource Records &amp; Caching</a:t>
            </a:r>
          </a:p>
          <a:p>
            <a:pPr>
              <a:defRPr b="1" sz="1300">
                <a:solidFill>
                  <a:srgbClr val="E2E8F0"/>
                </a:solidFill>
              </a:defRPr>
            </a:pPr>
            <a:r>
              <a:t>Prepared by: Prof. Anju Markose | Assistant Professor, Dept. of CSE | VJCET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Viswajyothi College of Engineering and Technology (VJCET), Vazhakulam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1.7.1 DNS Hierarchy &amp;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M1.7 DNS HIERARCHY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DNS Role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Distributed, hierarchical database that translates human-friendly hostnames (e.g. `www.vjcet.ac.in`) into 32-bit IPv4 or 128-bit IPv6 machine addresses. Operates over UDP/TCP Port 53.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Root DNS Servers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Top of DNS tree. 13 logical root server addresses (replicated globally via Anycast routing). Returns TLD server referrals.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Top-Level Domain (TLD) Servers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Manage top-level domains: Generic TLDs (`.com`, `.org`, `.edu`) and Country-code TLDs (`.in`, `.uk`, `.us`). Returns authoritative server referrals.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Authoritative DNS Servers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Maintained by organizations/service providers. Stores actual mappings for organization's publicly accessible hosts.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Local DNS Resolvers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Operated by ISPs / enterprise networks. Intercepts host queries and performs DNS tree resolution on behalf of the client.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28016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500">
                <a:solidFill>
                  <a:srgbClr val="0E7490"/>
                </a:solidFill>
              </a:defRPr>
            </a:pPr>
            <a:r>
              <a:t>DNS Server Hierarchy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1. Root DNS Servers (13)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2. TLD Servers (.com, .in, .edu)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3. Authoritative Servers (vjcet.ac.in)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4. Local Resolvers (ISP / 8.8.8.8)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1.7.2 DNS Query Resolution: Recursive vs Iterative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M1.7 RESOLUTION METHODS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521208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F1E4A"/>
                </a:solidFill>
              </a:defRPr>
            </a:pPr>
            <a:r>
              <a:t>Recursive DNS Resolution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Client Burden: Client/resolver offloads full lookup work to queried server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Process: Server contacts other servers sequentially until answer found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Root Server Impact: Places heavy processing &amp; memory burden on higher servers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Usage: Standard between Client Host and Local DNS Resolver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280160"/>
            <a:ext cx="5212080" cy="484632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0F1E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41732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E7490"/>
                </a:solidFill>
              </a:defRPr>
            </a:pPr>
            <a:r>
              <a:t>Iterative DNS Resolution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Referral Model: Queried server responds immediately with 'I do not know, ask this server next'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Process: Local resolver contacts Root -&gt; TLD -&gt; Authoritative itself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Root Server Impact: Lightweight; preserves root/TLD server capacity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Usage: Standard among Local Resolver, Root, and TLD servers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1.7.3 DNS Resource Records (RR) &amp; Caching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M1.7 DNS RECORDS &amp; CACHE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Resource Record Format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Stored as 4-tuple: `(Name, Value, Type, TTL)`.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Type A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`Name` is hostname, `Value` is IPv4 address (e.g. `vjcet.ac.in -&gt; 103.112.212.10`).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Type AAAA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`Name` is hostname, `Value` is IPv6 address.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Type CNAME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`Name` is alias hostname, `Value` is canonical real hostname (e.g. `www.vjcet.ac.in -&gt; vjcet.ac.in`).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Type MX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`Name` is domain name, `Value` is mail server hostname handling email for domain.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Type NS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`Name` is domain name, `Value` is authoritative name server hostname.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DNS Caching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Resolvers cache learned RRs for duration specified by TTL (Time-to-Live). Drastically reduces internet latency and root server load.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28016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500">
                <a:solidFill>
                  <a:srgbClr val="0E7490"/>
                </a:solidFill>
              </a:defRPr>
            </a:pPr>
            <a:r>
              <a:t>Key Record Types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A: Hostname -&gt; IPv4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AAAA: Hostname -&gt; IPv6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CNAME: Alias -&gt; Canonical Name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MX: Domain -&gt; Mail Server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NS: Domain -&gt; Authoritative Server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TTL: Cache validity time (sec)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188720"/>
            <a:ext cx="164592" cy="44805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0"/>
            <a:ext cx="100584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300">
                <a:solidFill>
                  <a:srgbClr val="D97706"/>
                </a:solidFill>
              </a:defRPr>
            </a:pPr>
            <a:r>
              <a:t>PCCST501 Computer Networks | KTU 2024 Scheme • MODULE 1 • M1.8</a:t>
            </a:r>
          </a:p>
          <a:p>
            <a:pPr>
              <a:spcAft>
                <a:spcPts val="1400"/>
              </a:spcAft>
              <a:defRPr b="1" sz="3200">
                <a:solidFill>
                  <a:srgbClr val="F8FAFC"/>
                </a:solidFill>
              </a:defRPr>
            </a:pPr>
            <a:r>
              <a:t>Peer-to-Peer Paradigm &amp; BitTorrent Case Study</a:t>
            </a:r>
          </a:p>
          <a:p>
            <a:pPr>
              <a:spcAft>
                <a:spcPts val="2800"/>
              </a:spcAft>
              <a:defRPr sz="1700">
                <a:solidFill>
                  <a:srgbClr val="94A3B8"/>
                </a:solidFill>
              </a:defRPr>
            </a:pPr>
            <a:r>
              <a:t>P2P Scalability Analysis, BitTorrent Swarming, Trackers, Rarest-First Chunk Selection &amp; Tit-for-Tat Choking</a:t>
            </a:r>
          </a:p>
          <a:p>
            <a:pPr>
              <a:defRPr b="1" sz="1300">
                <a:solidFill>
                  <a:srgbClr val="E2E8F0"/>
                </a:solidFill>
              </a:defRPr>
            </a:pPr>
            <a:r>
              <a:t>Prepared by: Prof. Anju Markose | Assistant Professor, Dept. of CSE | VJCET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Viswajyothi College of Engineering and Technology (VJCET), Vazhakulam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1.8.1 P2P vs Client-Server File Distribution Scalability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M1.8 P2P SCALABILITY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File Distribution Problem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Distribute a large file of size $F$ bits from a single server to $N$ independent peers/clients.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Client-Server Distribution Time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$D_{C-S} \ge \max \left( \frac{NF}{u_s}, \frac{F}{d_{min}} \right)$. Time increases LINEARLY with $N$. As $N \to \infty$, server upload link becomes the fatal bottleneck.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P2P Distribution Time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$D_{P2P} \ge \max \left( \frac{F}{u_s}, \frac{F}{d_{min}}, \frac{NF}{u_s + \sum_{i=1}^N u_i} \right)$.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Self-Scalability Principle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Each new peer downloading the file ALSO contributes its upload capacity $u_i$ to assist other peers, keeping distribution time bounded.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28016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500">
                <a:solidFill>
                  <a:srgbClr val="0E7490"/>
                </a:solidFill>
              </a:defRPr>
            </a:pPr>
            <a:r>
              <a:t>Scalability Comparison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Client-Server: O(N) linear growth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P2P: Sub-linear, asymptotically bounded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u_s: Server upload capacity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d_min: Minimum client download speed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sum(u_i): Aggregate peer upload rate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1.8.2 BitTorrent Architecture &amp; Swarm Coordination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M1.8 BITTORRENT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BitTorrent Fundamentals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A popular P2P protocol for distributing large files efficiently across thousands of cooperating peers.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Torrent &amp; Chunks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Target file is split into fixed-size chunks (typically 256 KB). A `.torrent` metadata file contains chunk cryptographic hashes and tracker URL.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Tracker &amp; Swarm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A centralized server (or distributed DHT) that tracks all peers currently downloading/uploading the torrent. The collection of participating peers is the 'Swarm'.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Leechers vs Seeders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Leechers: Peers still downloading missing chunks while uploading acquired ones. Seeders: Peers possessing 100% of file chunks who remain online solely to upload.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28016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500">
                <a:solidFill>
                  <a:srgbClr val="0E7490"/>
                </a:solidFill>
              </a:defRPr>
            </a:pPr>
            <a:r>
              <a:t>BitTorrent Components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Torrent File: Metadata descriptor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Tracker: Coordinates active peer list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Swarm: Entire pool of active peers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Chunks: 256 KB file fragments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SHA-1 Hashes: Verify chunk integrity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1.8.3 BitTorrent Algorithms: Rarest-First &amp; Tit-for-Tat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M1.8 BITTORRENT ALGORITHMS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Rarest-First Chunk Selection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Peers determine which chunks are least common among their connected neighbors and request those first. Prevents rarest chunks from disappearing and maximizes chunk diversity.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Tit-for-Tat (TFT) Choking Algorithm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Incentivizes uploading. Peer measures upload rates from all neighbors and 'unchokes' the top 4 fastest uploaders. Other neighbors are 'choked' (no data sent). Re-evaluated every 10s.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Optimistic Unchoking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Every 30 seconds, a peer randomly unchokes one additional choked neighbor. Allows discovering new peers with potentially faster upload speeds and lets newly joined leechers acquire their first chunk.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Free-Rider Mitigation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Tit-for-Tat discourages free-riders (peers that download without uploading) by starving them of high-speed data feeds.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28016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500">
                <a:solidFill>
                  <a:srgbClr val="0E7490"/>
                </a:solidFill>
              </a:defRPr>
            </a:pPr>
            <a:r>
              <a:t>Key Takeaways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Rarest-First: Balances chunk supply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Top 4 Unchoked: Rewards fast peers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Optimistic Unchoke: Discovers new links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TFT cycle: 10s; Opt unchoke: 30s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188720"/>
            <a:ext cx="164592" cy="44805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0"/>
            <a:ext cx="100584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300">
                <a:solidFill>
                  <a:srgbClr val="D97706"/>
                </a:solidFill>
              </a:defRPr>
            </a:pPr>
            <a:r>
              <a:t>PCCST501 Computer Networks | KTU 2024 Scheme • MODULE 1 • M1.9</a:t>
            </a:r>
          </a:p>
          <a:p>
            <a:pPr>
              <a:spcAft>
                <a:spcPts val="1400"/>
              </a:spcAft>
              <a:defRPr b="1" sz="3200">
                <a:solidFill>
                  <a:srgbClr val="F8FAFC"/>
                </a:solidFill>
              </a:defRPr>
            </a:pPr>
            <a:r>
              <a:t>Application Layer Case Study &amp; Socket Mapping</a:t>
            </a:r>
          </a:p>
          <a:p>
            <a:pPr>
              <a:spcAft>
                <a:spcPts val="2800"/>
              </a:spcAft>
              <a:defRPr sz="1700">
                <a:solidFill>
                  <a:srgbClr val="94A3B8"/>
                </a:solidFill>
              </a:defRPr>
            </a:pPr>
            <a:r>
              <a:t>Comprehensive Protocol Comparison, Port Addressing Summary, and Socket API Interface Mapping</a:t>
            </a:r>
          </a:p>
          <a:p>
            <a:pPr>
              <a:defRPr b="1" sz="1300">
                <a:solidFill>
                  <a:srgbClr val="E2E8F0"/>
                </a:solidFill>
              </a:defRPr>
            </a:pPr>
            <a:r>
              <a:t>Prepared by: Prof. Anju Markose | Assistant Professor, Dept. of CSE | VJCET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Viswajyothi College of Engineering and Technology (VJCET), Vazhakulam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1.9.1 Master Protocol Comparison Matrix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M1.9 PROTOCOL MATRIX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521208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F1E4A"/>
                </a:solidFill>
              </a:defRPr>
            </a:pPr>
            <a:r>
              <a:t>Web &amp; File Transfer Protocols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HTTP/1.1: TCP Port 80, In-band, Stateless, Persistent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HTTP/2 &amp; HTTP/3: TCP/443 &amp; UDP/443, Multiplexed, Binary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FTP Control: TCP Port 21, Out-of-band, Stateful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FTP Data: TCP Port 20 (or Ephemeral), Closed per file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DNS: UDP Port 53 (TCP for zone transfers), Hierarchical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280160"/>
            <a:ext cx="5212080" cy="484632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0F1E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41732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E7490"/>
                </a:solidFill>
              </a:defRPr>
            </a:pPr>
            <a:r>
              <a:t>Email &amp; P2P Protocols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SMTP: TCP Port 25/587, Push model, 7-bit ASCII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POP3: TCP Port 110, Pull model, Download &amp; Delete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IMAP4: TCP Port 143, Pull model, Remote folder sync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BitTorrent: P2P over TCP/UDP, Swarm-based, Tit-for-Tat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MIME: Encapsulation header &amp; Base64 binary encoding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1.9.2 Socket Interface &amp; Application Layer Integration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M1.9 SOCKET INTEGRATION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Socket as Application Doorway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Application processes interact with the operating system networking stack via the Berkeley Socket API.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Transport Choice Binding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App chooses `SOCK_STREAM` (TCP for reliability, order, flow control) or `SOCK_DGRAM` (UDP for speed, low overhead, multicasting).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Port Number Binding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Servers bind to well-known ports (&lt; 1024, root privilege) while clients are assigned ephemeral ports (49152 - 65535).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Application Layer Framing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Because TCP is a continuous byte-stream without message boundaries, application protocols must implement their own framing (e.g. `\r\n\r\n` delimiter in HTTP, `Content-Length:` header, or ASN.1 TLV).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28016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500">
                <a:solidFill>
                  <a:srgbClr val="0E7490"/>
                </a:solidFill>
              </a:defRPr>
            </a:pPr>
            <a:r>
              <a:t>Module 1 Review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Edge vs Core &amp; Delays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OSI 7 vs TCP/IP 5 Layers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Client-Server vs P2P Models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HTTP, FTP, SMTP, DNS, P2P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All KTU CO1 Topics Covered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188720"/>
            <a:ext cx="164592" cy="44805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0"/>
            <a:ext cx="100584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300">
                <a:solidFill>
                  <a:srgbClr val="D97706"/>
                </a:solidFill>
              </a:defRPr>
            </a:pPr>
            <a:r>
              <a:t>PCCST501 Computer Networks | KTU 2024 Scheme • MODULE 2 COMPLETE • MODULE 2</a:t>
            </a:r>
          </a:p>
          <a:p>
            <a:pPr>
              <a:spcAft>
                <a:spcPts val="1400"/>
              </a:spcAft>
              <a:defRPr b="1" sz="3200">
                <a:solidFill>
                  <a:srgbClr val="F8FAFC"/>
                </a:solidFill>
              </a:defRPr>
            </a:pPr>
            <a:r>
              <a:t>Transport &amp; Network Layers with Linux Kernel Architecture</a:t>
            </a:r>
          </a:p>
          <a:p>
            <a:pPr>
              <a:spcAft>
                <a:spcPts val="2800"/>
              </a:spcAft>
              <a:defRPr sz="1700">
                <a:solidFill>
                  <a:srgbClr val="94A3B8"/>
                </a:solidFill>
              </a:defRPr>
            </a:pPr>
            <a:r>
              <a:t>Complete Lecture &amp; Revision Master Deck (M2.1.1 to M2.3)</a:t>
            </a:r>
          </a:p>
          <a:p>
            <a:pPr>
              <a:defRPr b="1" sz="1300">
                <a:solidFill>
                  <a:srgbClr val="E2E8F0"/>
                </a:solidFill>
              </a:defRPr>
            </a:pPr>
            <a:r>
              <a:t>Prepared by: Prof. Anju Markose | Assistant Professor, Dept. of CSE | VJCET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Viswajyothi College of Engineering and Technology (VJCET), Vazhakulam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188720"/>
            <a:ext cx="164592" cy="44805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0"/>
            <a:ext cx="100584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300">
                <a:solidFill>
                  <a:srgbClr val="D97706"/>
                </a:solidFill>
              </a:defRPr>
            </a:pPr>
            <a:r>
              <a:t>PCCST501 Computer Networks | KTU 2024 Scheme • MODULE 2 • M2.1.1</a:t>
            </a:r>
          </a:p>
          <a:p>
            <a:pPr>
              <a:spcAft>
                <a:spcPts val="1400"/>
              </a:spcAft>
              <a:defRPr b="1" sz="3200">
                <a:solidFill>
                  <a:srgbClr val="F8FAFC"/>
                </a:solidFill>
              </a:defRPr>
            </a:pPr>
            <a:r>
              <a:t>Transport Layer Services &amp; Principles</a:t>
            </a:r>
          </a:p>
          <a:p>
            <a:pPr>
              <a:spcAft>
                <a:spcPts val="2800"/>
              </a:spcAft>
              <a:defRPr sz="1700">
                <a:solidFill>
                  <a:srgbClr val="94A3B8"/>
                </a:solidFill>
              </a:defRPr>
            </a:pPr>
            <a:r>
              <a:t>Process-to-Process Logical Communication, Port Addressing Hierarchy, Multiplexing &amp; Demultiplexing</a:t>
            </a:r>
          </a:p>
          <a:p>
            <a:pPr>
              <a:defRPr b="1" sz="1300">
                <a:solidFill>
                  <a:srgbClr val="E2E8F0"/>
                </a:solidFill>
              </a:defRPr>
            </a:pPr>
            <a:r>
              <a:t>Prepared by: Prof. Anju Markose | Assistant Professor, Dept. of CSE | VJCET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Viswajyothi College of Engineering and Technology (VJCET), Vazhakulam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2.1.1.1 Transport Layer Role &amp; Port Addressing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M2.1.1 TL SERVICES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Process-to-Process Delivery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While the Network Layer provides host-to-host delivery between IP addresses, the Transport Layer provides logical communication between application processes running on those hosts.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16-Bit Port Numbers (0 to 65535)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Used to identify specific application processes running on an operating system.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Well-Known Ports (0 - 1023)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Assigned by IANA for standard server services (e.g., HTTP: 80, HTTPS: 443, FTP: 21, SSH: 22, DNS: 53, SMTP: 25). Requires root/admin privilege to bind.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Registered Ports (1024 - 49151)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Used by vendor applications (e.g. MySQL: 3306, PostgreSQL: 5432, Redis: 6379).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Dynamic / Ephemeral Ports (49152 - 65535)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Assigned automatically by the client operating system kernel for short-lived client-side connection endpoints.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28016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500">
                <a:solidFill>
                  <a:srgbClr val="0E7490"/>
                </a:solidFill>
              </a:defRPr>
            </a:pPr>
            <a:r>
              <a:t>Port Ranges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Well-Known: 0 to 1023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Registered: 1024 to 49151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Dynamic/Private: 49152 to 65535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Socket = IP Address + Port Number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2.1.1.2 Multiplexing &amp; Demultiplexing Mechanisms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M2.1.1 MUX &amp; DEMUX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521208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F1E4A"/>
                </a:solidFill>
              </a:defRPr>
            </a:pPr>
            <a:r>
              <a:t>Connectionless Demux (UDP)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Identifier: 2-Tuple: `(Destination IP, Destination Port)`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Behavior: Packets from different source IPs/Ports targeting the same Dest IP/Port go to the SAME socket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Overhead: Lightweight, zero connection state maintained by kernel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Use Case: DNS queries, SNMP traps, video broadcasting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280160"/>
            <a:ext cx="5212080" cy="484632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0F1E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41732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E7490"/>
                </a:solidFill>
              </a:defRPr>
            </a:pPr>
            <a:r>
              <a:t>Connection-Oriented Demux (TCP)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Identifier: 4-Tuple: `(Src IP, Src Port, Dst IP, Dst Port)`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Behavior: Each concurrent client connection gets a UNIQUE dedicated socket returned by `accept()`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Overhead: Kernel maintains dedicated buffers &amp; state variables per connection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Use Case: Web browsing, secure shell, file transfers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188720"/>
            <a:ext cx="164592" cy="44805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0"/>
            <a:ext cx="100584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300">
                <a:solidFill>
                  <a:srgbClr val="D97706"/>
                </a:solidFill>
              </a:defRPr>
            </a:pPr>
            <a:r>
              <a:t>PCCST501 Computer Networks | KTU 2024 Scheme • MODULE 2 • M2.1.2</a:t>
            </a:r>
          </a:p>
          <a:p>
            <a:pPr>
              <a:spcAft>
                <a:spcPts val="1400"/>
              </a:spcAft>
              <a:defRPr b="1" sz="3200">
                <a:solidFill>
                  <a:srgbClr val="F8FAFC"/>
                </a:solidFill>
              </a:defRPr>
            </a:pPr>
            <a:r>
              <a:t>User Datagram Protocol (UDP)</a:t>
            </a:r>
          </a:p>
          <a:p>
            <a:pPr>
              <a:spcAft>
                <a:spcPts val="2800"/>
              </a:spcAft>
              <a:defRPr sz="1700">
                <a:solidFill>
                  <a:srgbClr val="94A3B8"/>
                </a:solidFill>
              </a:defRPr>
            </a:pPr>
            <a:r>
              <a:t>Connectionless Transport, 8-Byte Minimal Header, 1's Complement Checksum Calculation with Pseudo-Header</a:t>
            </a:r>
          </a:p>
          <a:p>
            <a:pPr>
              <a:defRPr b="1" sz="1300">
                <a:solidFill>
                  <a:srgbClr val="E2E8F0"/>
                </a:solidFill>
              </a:defRPr>
            </a:pPr>
            <a:r>
              <a:t>Prepared by: Prof. Anju Markose | Assistant Professor, Dept. of CSE | VJCET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Viswajyothi College of Engineering and Technology (VJCET), Vazhakulam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2.1.2.1 UDP Characteristics &amp; 8-Byte Header Structure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M2.1.2 UDP PROTOCOL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Core Characteristics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Connectionless, unreliable, best-effort message-oriented service. No handshaking delay, no congestion control throttling, minimal header overhead.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Source Port (16 bits)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Identifies sending process (optional; set to 0 if no reply expected).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Destination Port (16 bits)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Identifies receiving application process on target host.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Length (16 bits)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Total length of UDP datagram in bytes (Header [8 bytes] + Payload). Minimum value is 8 bytes.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Checksum (16 bits)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Used for error detection across pseudo-header, UDP header, and payload. Optional in IPv4 (0 if unused), mandatory in IPv6.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28016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500">
                <a:solidFill>
                  <a:srgbClr val="0E7490"/>
                </a:solidFill>
              </a:defRPr>
            </a:pPr>
            <a:r>
              <a:t>UDP Header (8 Bytes)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0-15: Source Port (16b)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16-31: Destination Port (16b)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32-47: Total Length (16b)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48-63: Checksum (16b)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Followed immediately by Payload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2.1.2.2 UDP Checksum Calculation with Pseudo-Header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M2.1.2 UDP CHECKSUM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The Pseudo-Header Concept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To detect misrouted packets, UDP computes checksum over a 12-byte temporary IP Pseudo-Header + 8-byte UDP header + payload.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Pseudo-Header Fields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Source IP (32b), Destination IP (32b), All Zeros (8b), Protocol Number (8b: `17` for UDP), UDP Length (16b).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1's Complement Addition Algorithm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Data divided into 16-bit words. All 16-bit words are added together using 1's complement arithmetic (any carry-out bit is wrapped around and added back to LSB).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Checksum Inversion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The bitwise NOT (1's complement inverse) of the final sum is placed into the Checksum field.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Receiver Verification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Receiver sums all 16-bit words (including the checksum). If no errors occurred, the resulting 16-bit sum MUST be all 1s (`0xFFFF`).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28016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500">
                <a:solidFill>
                  <a:srgbClr val="0E7490"/>
                </a:solidFill>
              </a:defRPr>
            </a:pPr>
            <a:r>
              <a:t>Checksum Algorithm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1. Pad odd payload with 0x00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2. Add 16-bit words with carry wrap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3. Checksum = ~Sum (bitwise NOT)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4. Receiver Sum + Checksum = 0xFFFF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5. If not 0xFFFF -&gt; Packet Corrupted!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188720"/>
            <a:ext cx="164592" cy="44805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0"/>
            <a:ext cx="100584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300">
                <a:solidFill>
                  <a:srgbClr val="D97706"/>
                </a:solidFill>
              </a:defRPr>
            </a:pPr>
            <a:r>
              <a:t>PCCST501 Computer Networks | KTU 2024 Scheme • MODULE 2 • M2.1.3</a:t>
            </a:r>
          </a:p>
          <a:p>
            <a:pPr>
              <a:spcAft>
                <a:spcPts val="1400"/>
              </a:spcAft>
              <a:defRPr b="1" sz="3200">
                <a:solidFill>
                  <a:srgbClr val="F8FAFC"/>
                </a:solidFill>
              </a:defRPr>
            </a:pPr>
            <a:r>
              <a:t>Transmission Control Protocol (TCP) Architecture</a:t>
            </a:r>
          </a:p>
          <a:p>
            <a:pPr>
              <a:spcAft>
                <a:spcPts val="2800"/>
              </a:spcAft>
              <a:defRPr sz="1700">
                <a:solidFill>
                  <a:srgbClr val="94A3B8"/>
                </a:solidFill>
              </a:defRPr>
            </a:pPr>
            <a:r>
              <a:t>Stream-Oriented Full-Duplex Model, TCP Segment Header, 3-Way Handshake Connection Setup &amp; 4-Way Teardown</a:t>
            </a:r>
          </a:p>
          <a:p>
            <a:pPr>
              <a:defRPr b="1" sz="1300">
                <a:solidFill>
                  <a:srgbClr val="E2E8F0"/>
                </a:solidFill>
              </a:defRPr>
            </a:pPr>
            <a:r>
              <a:t>Prepared by: Prof. Anju Markose | Assistant Professor, Dept. of CSE | VJCET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Viswajyothi College of Engineering and Technology (VJCET), Vazhakulam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2.1.3.1 TCP Characteristics &amp; Segment Header Format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M2.1.3 TCP HEADER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TCP Characteristics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Connection-oriented, reliable byte-stream, full-duplex, point-to-point, flow-controlled, congestion-controlled.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Sequence Number (32 bits)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Byte-stream number of the first data byte in this segment (relative to Initial Sequence Number ISN).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Acknowledgment Number (32 bits)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Cumulative ACK: The next byte number the sender expects to receive. Acknowledges all prior bytes.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Header Length / Data Offset (4 bits)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Specifies header length in 32-bit (4-byte) words (Range: 5 to 15 words = 20 to 60 bytes).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Control Flags (6 bits)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URG (Urgent pointer valid), ACK (Ack number valid), PSH (Push data immediately), RST (Reset connection), SYN (Synchronize sequence numbers during handshake), FIN (Terminate connection).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Receive Window `rwnd` (16 bits)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Number of bytes receiver is willing to accept (Flow Control).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28016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500">
                <a:solidFill>
                  <a:srgbClr val="0E7490"/>
                </a:solidFill>
              </a:defRPr>
            </a:pPr>
            <a:r>
              <a:t>Header Breakdown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Base Header: 20 Bytes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Max Options: 40 Bytes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Total Header: 20 to 60 Bytes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Seq No: Byte-level tracking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Ack No: Cumulative next-expected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2.1.3.2 Connection Lifecycle: 3-Way Handshake &amp; 4-Way Teardown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M2.1.3 HANDSHAKES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521208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F1E4A"/>
                </a:solidFill>
              </a:defRPr>
            </a:pPr>
            <a:r>
              <a:t>3-Way Handshake (Establishment)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Step 1 (Client -&gt; Server): SYN=1, ACK=0, Seq = client_isn (Requests connection)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Step 2 (Server -&gt; Client): SYN=1, ACK=1, Seq = server_isn, Ack = client_isn + 1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Step 3 (Client -&gt; Server): SYN=0, ACK=1, Seq = client_isn + 1, Ack = server_isn + 1 (May piggyback payload)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SYN Flood Defense: SYN Cookies avoid pre-allocating TCB state before ACK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280160"/>
            <a:ext cx="5212080" cy="484632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0F1E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41732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E7490"/>
                </a:solidFill>
              </a:defRPr>
            </a:pPr>
            <a:r>
              <a:t>4-Way Handshake (Termination)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Step 1 (Client -&gt; Server): FIN=1, Seq = u (Client enters FIN_WAIT_1)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Step 2 (Server -&gt; Client): ACK=1, Ack = u + 1 (Server enters CLOSE_WAIT; Client enters FIN_WAIT_2)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Step 3 (Server -&gt; Client): FIN=1, Seq = w (Server enters LAST_ACK)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Step 4 (Client -&gt; Server): ACK=1, Ack = w + 1 (Client enters TIME_WAIT for 2MSL = 2 minutes)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188720"/>
            <a:ext cx="164592" cy="44805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0"/>
            <a:ext cx="100584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300">
                <a:solidFill>
                  <a:srgbClr val="D97706"/>
                </a:solidFill>
              </a:defRPr>
            </a:pPr>
            <a:r>
              <a:t>PCCST501 Computer Networks | KTU 2024 Scheme • MODULE 2 • M2.1.4</a:t>
            </a:r>
          </a:p>
          <a:p>
            <a:pPr>
              <a:spcAft>
                <a:spcPts val="1400"/>
              </a:spcAft>
              <a:defRPr b="1" sz="3200">
                <a:solidFill>
                  <a:srgbClr val="F8FAFC"/>
                </a:solidFill>
              </a:defRPr>
            </a:pPr>
            <a:r>
              <a:t>TCP Flow &amp; Congestion Control</a:t>
            </a:r>
          </a:p>
          <a:p>
            <a:pPr>
              <a:spcAft>
                <a:spcPts val="2800"/>
              </a:spcAft>
              <a:defRPr sz="1700">
                <a:solidFill>
                  <a:srgbClr val="94A3B8"/>
                </a:solidFill>
              </a:defRPr>
            </a:pPr>
            <a:r>
              <a:t>Sliding Window Flow Control, rwnd vs cwnd, Slow Start, AIMD, Fast Retransmit, Fast Recovery &amp; Tahoe vs Reno</a:t>
            </a:r>
          </a:p>
          <a:p>
            <a:pPr>
              <a:defRPr b="1" sz="1300">
                <a:solidFill>
                  <a:srgbClr val="E2E8F0"/>
                </a:solidFill>
              </a:defRPr>
            </a:pPr>
            <a:r>
              <a:t>Prepared by: Prof. Anju Markose | Assistant Professor, Dept. of CSE | VJCET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Viswajyothi College of Engineering and Technology (VJCET), Vazhakulam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2.1.4.1 Flow Control &amp; Sliding Window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M2.1.4 FLOW CONTROL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Flow Control Goal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Prevents a fast sender from overflowing the receive buffer of a slow receiver.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Sliding Window Mechanism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Receiver advertises its available buffer space in the `Receive Window (rwnd)` header field: $rwnd = RcvBuffer - (LastByteRcvd - LastByteRead)$.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Sender Constraint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Sender ensures unacknowledged inflight bytes never exceed $rwnd$: $LastByteSent - LastByteAcked \le rwnd$.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Zero-Window Probing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When $rwnd = 0$, sender pauses data but periodically sends 1-byte probe segments to trigger receiver window update advertisements.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Silly Window Syndrome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Sender sends tiny packets (1 byte payload + 40B header) or receiver advertises tiny buffer. Solved by Nagle's Algorithm (sender buffering) and Clark's Solution (receiver delays advertising until MSS space free).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28016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500">
                <a:solidFill>
                  <a:srgbClr val="0E7490"/>
                </a:solidFill>
              </a:defRPr>
            </a:pPr>
            <a:r>
              <a:t>Flow Control Terms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rwnd: Receiver advertised window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Effective Win = min(cwnd, rwnd)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Nagle's: Buffers small packets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Clark's: Avoids advertising tiny rwnd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2.1.4.2 Congestion Control: Slow Start &amp; AIMD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M2.1.4 CONGESTION PHASES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Congestion Window (`cwnd`)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Dynamic limit on unacknowledged bytes maintained by sender based on perceived network congestion. Max unacked data $= \min(cwnd, rwnd)$.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Slow Start Phase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Begins with $cwnd = 1 \text{ MSS}$. cwnd increases by 1 MSS for every ACK received $\implies$ cwnd DOUBLES every Round Trip Time (RTT) [Exponential Growth]. Continues until $cwnd \ge ssthresh$ (slow start threshold).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Congestion Avoidance (AIMD)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Additive Increase: $cwnd$ increases by 1 MSS per RTT (linear growth) to probe for bandwidth safely.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Multiplicative Decrease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On congestion detection, sender throttles transmission rate aggressively by halving the threshold: $ssthresh = cwnd / 2$.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28016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500">
                <a:solidFill>
                  <a:srgbClr val="0E7490"/>
                </a:solidFill>
              </a:defRPr>
            </a:pPr>
            <a:r>
              <a:t>Congestion Formulas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Slow Start: cwnd *= 2 per RTT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Congestion Avoidance: cwnd += 1 MSS/RTT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Threshold on Loss: ssthresh = cwnd /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2.1.4.3 Loss Recovery: TCP Tahoe vs TCP Reno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M2.1.4 TAHOE VS RENO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521208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F1E4A"/>
                </a:solidFill>
              </a:defRPr>
            </a:pPr>
            <a:r>
              <a:t>TCP Tahoe (Legacy)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Timeout Loss: ssthresh = cwnd / 2; cwnd = 1 MSS; Enters Slow Start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3 Duplicate ACKs: ssthresh = cwnd / 2; cwnd = 1 MSS; Enters Slow Start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Fast Retransmit: Retransmits lost packet immediately upon 3rd duplicate ACK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Fast Recovery: NOT supported (always drops cwnd to 1 MSS)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280160"/>
            <a:ext cx="5212080" cy="484632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0F1E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41732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E7490"/>
                </a:solidFill>
              </a:defRPr>
            </a:pPr>
            <a:r>
              <a:t>TCP Reno (Modern Standard)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Timeout Loss: ssthresh = cwnd / 2; cwnd = 1 MSS; Enters Slow Start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3 Duplicate ACKs: ssthresh = cwnd / 2; cwnd = ssthresh + 3 MSS; Enters Fast Recovery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Fast Retransmit: Retransmits lost segment without waiting for retransmission timer expiry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Fast Recovery: Avoids dropping to 1 MSS; increments cwnd on dup ACKs and returns to Congestion Avoidance upon new ACK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188720"/>
            <a:ext cx="164592" cy="44805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0"/>
            <a:ext cx="100584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300">
                <a:solidFill>
                  <a:srgbClr val="D97706"/>
                </a:solidFill>
              </a:defRPr>
            </a:pPr>
            <a:r>
              <a:t>PCCST501 Computer Networks | KTU 2024 Scheme • MODULE 2 • M2.1.5</a:t>
            </a:r>
          </a:p>
          <a:p>
            <a:pPr>
              <a:spcAft>
                <a:spcPts val="1400"/>
              </a:spcAft>
              <a:defRPr b="1" sz="3200">
                <a:solidFill>
                  <a:srgbClr val="F8FAFC"/>
                </a:solidFill>
              </a:defRPr>
            </a:pPr>
            <a:r>
              <a:t>Berkeley Socket API &amp; I/O Multiplexing</a:t>
            </a:r>
          </a:p>
          <a:p>
            <a:pPr>
              <a:spcAft>
                <a:spcPts val="2800"/>
              </a:spcAft>
              <a:defRPr sz="1700">
                <a:solidFill>
                  <a:srgbClr val="94A3B8"/>
                </a:solidFill>
              </a:defRPr>
            </a:pPr>
            <a:r>
              <a:t>Socket System Call Lifecycle, TCP/UDP Client-Server Code Architecture, I/O Multiplexing with select() and poll()</a:t>
            </a:r>
          </a:p>
          <a:p>
            <a:pPr>
              <a:defRPr b="1" sz="1300">
                <a:solidFill>
                  <a:srgbClr val="E2E8F0"/>
                </a:solidFill>
              </a:defRPr>
            </a:pPr>
            <a:r>
              <a:t>Prepared by: Prof. Anju Markose | Assistant Professor, Dept. of CSE | VJCET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Viswajyothi College of Engineering and Technology (VJCET), Vazhakulam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2.1.5.1 TCP vs UDP Socket API Lifecycle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M2.1.5 SOCKET API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521208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F1E4A"/>
                </a:solidFill>
              </a:defRPr>
            </a:pPr>
            <a:r>
              <a:t>TCP Socket Flow (Stream)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Server Sequence: `socket()` $\to$ `bind()` $\to$ `listen()` $\to$ `accept()` $\to$ `read()`/`write()` $\to$ `close()`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Client Sequence: `socket()` $\to$ `connect()` $\to$ `write()`/`read()` $\to$ `close()`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`listen(sockfd, backlog)`: Prepares socket for incoming connections with connection backlog queue limit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`accept()`: Blocks until connection arrives; returns NEW connected socket descriptor for client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280160"/>
            <a:ext cx="5212080" cy="484632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0F1E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41732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E7490"/>
                </a:solidFill>
              </a:defRPr>
            </a:pPr>
            <a:r>
              <a:t>UDP Socket Flow (Datagram)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Server Sequence: `socket()` $\to$ `bind()` $\to$ `recvfrom()` $\to$ `sendto()` $\to$ `close()`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Client Sequence: `socket()` $\to$ `sendto()` $\to$ `recvfrom()` $\to$ `close()`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Connectionless: No `listen()`, `connect()`, or `accept()` required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`recvfrom()` / `sendto()`: Takes explicit destination `sockaddr_in` struct on every call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2.1.5.2 I/O Multiplexing: select() &amp; poll() Functions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M2.1.5 IO MULTIPLEXING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Motivation for I/O Multiplexing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Allows a single-threaded server process to monitor multiple active file/socket descriptors simultaneously without blocking on any single socket or spawning thousands of threads.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`select()` System Call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`int select(int maxfdp1, fd_set *readfds, fd_set *writefds, fd_set *exceptfds, struct timeval *timeout)`.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`fd_set` Bitmask Operations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`FD_ZERO(&amp;set)`, `FD_SET(fd, &amp;set)`, `FD_CLR(fd, &amp;set)`, `FD_ISSET(fd, &amp;set)`. Limited by `FD_SETSIZE` (typically 1024 descriptors).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`poll()` System Call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`int poll(struct pollfd fds[], nfds_t nfds, int timeout)`. Uses array of structures with event bitmasks (`POLLIN`, `POLLOUT`, `POLLERR`). Eliminates `FD_SETSIZE` descriptor limits.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Event Notification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Both calls block until one or more monitored descriptors become ready for I/O reading/writing, waking the main event loop.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28016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500">
                <a:solidFill>
                  <a:srgbClr val="0E7490"/>
                </a:solidFill>
              </a:defRPr>
            </a:pPr>
            <a:r>
              <a:t>Key Takeaways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select(): Bitmasks, 1024 limit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poll(): Array of structs, unlimited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Non-blocking server architecture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Foundation of modern event loops (epoll/nginx/node)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188720"/>
            <a:ext cx="164592" cy="44805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0"/>
            <a:ext cx="100584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300">
                <a:solidFill>
                  <a:srgbClr val="D97706"/>
                </a:solidFill>
              </a:defRPr>
            </a:pPr>
            <a:r>
              <a:t>PCCST501 Computer Networks | KTU 2024 Scheme • MODULE 2 • M2.2.1</a:t>
            </a:r>
          </a:p>
          <a:p>
            <a:pPr>
              <a:spcAft>
                <a:spcPts val="1400"/>
              </a:spcAft>
              <a:defRPr b="1" sz="3200">
                <a:solidFill>
                  <a:srgbClr val="F8FAFC"/>
                </a:solidFill>
              </a:defRPr>
            </a:pPr>
            <a:r>
              <a:t>Network Layer Architecture &amp; Delivery</a:t>
            </a:r>
          </a:p>
          <a:p>
            <a:pPr>
              <a:spcAft>
                <a:spcPts val="2800"/>
              </a:spcAft>
              <a:defRPr sz="1700">
                <a:solidFill>
                  <a:srgbClr val="94A3B8"/>
                </a:solidFill>
              </a:defRPr>
            </a:pPr>
            <a:r>
              <a:t>Host-to-Host Packet Delivery, Data Plane vs Control Plane, Forwarding vs Routing, Service Models</a:t>
            </a:r>
          </a:p>
          <a:p>
            <a:pPr>
              <a:defRPr b="1" sz="1300">
                <a:solidFill>
                  <a:srgbClr val="E2E8F0"/>
                </a:solidFill>
              </a:defRPr>
            </a:pPr>
            <a:r>
              <a:t>Prepared by: Prof. Anju Markose | Assistant Professor, Dept. of CSE | VJCET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Viswajyothi College of Engineering and Technology (VJCET), Vazhakulam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2.2.1.1 Network Layer Core Concepts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M2.2.1 FORWARDING VS ROUTING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521208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F1E4A"/>
                </a:solidFill>
              </a:defRPr>
            </a:pPr>
            <a:r>
              <a:t>Data Plane: Forwarding (Local)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Definition: Router's local action of transferring arriving packet from input port to correct output port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Timescale: Hardware nanoseconds / microseconds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Mechanism: Forwarding Table lookup using packet destination IP prefix matching (Longest Prefix Match)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Implementation: ASIC hardware / TCAM (Ternary Content Addressable Memory)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280160"/>
            <a:ext cx="5212080" cy="484632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0F1E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41732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E7490"/>
                </a:solidFill>
              </a:defRPr>
            </a:pPr>
            <a:r>
              <a:t>Control Plane: Routing (Network-Wide)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Definition: Network-wide logic determining end-to-end path taken by packets from source to destination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Timescale: Software milliseconds / seconds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Mechanism: Routing algorithms (OSPF, RIP, BGP) computing forwarding table entries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Approaches: Traditional distributed per-router control vs Software Defined Networking (SDN)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2.2.1.2 Network Layer Service Models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M2.2.1 SERVICE MODELS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Internet Service Model: Best-Effort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The IP network layer makes no guarantees on packet delivery, no throughput guarantees, no delay bounds, and no in-order delivery assurance.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Why Best-Effort?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Simple, highly robust core network design. Intelligence and complexity (reliability, congestion control) pushed to the network edge (hosts/transport layer).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Datagram Networks (Internet)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Connectionless packet forwarding. Each packet carries destination IP address and is routed independently. Stateless routers.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Virtual Circuit Networks (ATM/X.25)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Connection-oriented network layer. Requires call setup, per-connection virtual circuit identifiers (VCIs), and stateful switches.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28016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500">
                <a:solidFill>
                  <a:srgbClr val="0E7490"/>
                </a:solidFill>
              </a:defRPr>
            </a:pPr>
            <a:r>
              <a:t>Core Summary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Forwarding: Hardware packet switching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Routing: Path computation algorithms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IP Model: Best-effort datagrams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End-to-End Principle: Smart edge, simple 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188720"/>
            <a:ext cx="164592" cy="44805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0"/>
            <a:ext cx="100584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300">
                <a:solidFill>
                  <a:srgbClr val="D97706"/>
                </a:solidFill>
              </a:defRPr>
            </a:pPr>
            <a:r>
              <a:t>PCCST501 Computer Networks | KTU 2024 Scheme • MODULE 2 • M2.2.2</a:t>
            </a:r>
          </a:p>
          <a:p>
            <a:pPr>
              <a:spcAft>
                <a:spcPts val="1400"/>
              </a:spcAft>
              <a:defRPr b="1" sz="3200">
                <a:solidFill>
                  <a:srgbClr val="F8FAFC"/>
                </a:solidFill>
              </a:defRPr>
            </a:pPr>
            <a:r>
              <a:t>Network Layer Protocols: IPv4 &amp; Subnetting</a:t>
            </a:r>
          </a:p>
          <a:p>
            <a:pPr>
              <a:spcAft>
                <a:spcPts val="2800"/>
              </a:spcAft>
              <a:defRPr sz="1700">
                <a:solidFill>
                  <a:srgbClr val="94A3B8"/>
                </a:solidFill>
              </a:defRPr>
            </a:pPr>
            <a:r>
              <a:t>IPv4 Header Format, Subnetting, CIDR Notation, VLSM, ARP, ICMP, DHCP &amp; NAT</a:t>
            </a:r>
          </a:p>
          <a:p>
            <a:pPr>
              <a:defRPr b="1" sz="1300">
                <a:solidFill>
                  <a:srgbClr val="E2E8F0"/>
                </a:solidFill>
              </a:defRPr>
            </a:pPr>
            <a:r>
              <a:t>Prepared by: Prof. Anju Markose | Assistant Professor, Dept. of CSE | VJCET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Viswajyothi College of Engineering and Technology (VJCET), Vazhakulam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2.2.2.1 IPv4 Datagram Header Structure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M2.2.2 IPV4 HEADER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Base Header Length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20 to 60 bytes (minimum 20 bytes when options are absent).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Version (4b) &amp; IHL (4b)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Version 4; Internet Header Length (IHL) in 32-bit words (e.g. 5 = 20 bytes).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Type of Service / DiffServ (8b)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QoS classification and Explicit Congestion Notification (ECN).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Total Length (16b)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Total length of datagram in bytes (Header + Payload). Max 65,535 bytes.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Fragmentation Fields (32b)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Identification (16b: groups fragments), Flags (3b: Reserved, DF = Don't Fragment, MF = More Fragments), Fragment Offset (13b: measured in 8-byte units).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Time to Live (TTL - 8b)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Decremented by 1 at each router hop to prevent infinite routing loops. Dropped when TTL = 0 (triggers ICMP Time Exceeded).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Protocol (8b) &amp; Checksum (16b)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Protocol number: `6` for TCP, `17` for UDP, `1` for ICMP. Checksum verified over header only.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28016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500">
                <a:solidFill>
                  <a:srgbClr val="0E7490"/>
                </a:solidFill>
              </a:defRPr>
            </a:pPr>
            <a:r>
              <a:t>IPv4 Key Fields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Base Header: 20 Bytes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TTL: Loop prevention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Protocol 6: TCP | 17: UDP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Offset: Measured in 8-byte blocks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DF=1: Drop if MTU exceeded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2.2.2.2 Subnetting, CIDR &amp; VLSM Formulas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M2.2.2 SUBNETTING &amp; CIDR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Classless Inter-Domain Routing (CIDR)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Replaced Class A, B, C addressing. Format: `a.b.c.d/x`, where `/x` is the prefix length (network bits) and `32 - x` are host bits.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Subnet Mask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32-bit value with `/x` contiguous 1s followed by `32 - x` zeros (e.g. `/24` = `255.255.255.0`).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Number of Usable Hosts Formula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Total hosts in subnet $= 2^{(32 - x)} - 2$ (Subtract 2 because all host bits 0 = Network Address, all host bits 1 = Directed Broadcast Address).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Subnet Splitting Formula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Borrowing $k$ bits from host portion creates $2^k$ new subnets, each with prefix length $x + k$.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Variable Length Subnet Masking (VLSM)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Allows dividing an IP block into subnets of different sizes matching exact department host requirements, eliminating address wastage.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28016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500">
                <a:solidFill>
                  <a:srgbClr val="0E7490"/>
                </a:solidFill>
              </a:defRPr>
            </a:pPr>
            <a:r>
              <a:t>Subnet Formulas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Host Bits: h = 32 - prefix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Usable Hosts = 2^h - 2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New Subnets = 2^(borrowed bits)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Network Addr: Host bits = 0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Broadcast Addr: Host bits =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2.2.2.3 Auxiliary Network Layer Protocols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M2.2.2 AUXILIARY PROTOCOLS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521208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F1E4A"/>
                </a:solidFill>
              </a:defRPr>
            </a:pPr>
            <a:r>
              <a:t>Control &amp; Management Protocols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ARP (Address Resolution Protocol): Dynamically resolves 32-bit IP address to 48-bit MAC address using broadcast requests and unicast replies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ICMP (Internet Control Message Protocol): Used for error reporting (Destination Unreachable, TTL Expired) and network diagnostics (`ping` Echo, `traceroute`)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DHCP (Dynamic Host Configuration): DORA process (Discover, Offer, Request, ACK) dynamically leases IP, mask, default gateway, and DNS servers to booting hosts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280160"/>
            <a:ext cx="5212080" cy="484632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0F1E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41732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E7490"/>
                </a:solidFill>
              </a:defRPr>
            </a:pPr>
            <a:r>
              <a:t>Address Extension Protocols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NAT (Network Address Translation): Maps multiple private RFC 1918 IPs (`10.0.0.0/8`, `172.16.0.0/12`, `192.168.0.0/16`) to a single public IP using port multiplexing (NAPT/PAT)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NAT Translation Table: Maintains `(Private IP, Private Port) &lt;-&gt; (Public IP, NAT Assigned Port)` mappings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188720"/>
            <a:ext cx="164592" cy="44805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0"/>
            <a:ext cx="100584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300">
                <a:solidFill>
                  <a:srgbClr val="D97706"/>
                </a:solidFill>
              </a:defRPr>
            </a:pPr>
            <a:r>
              <a:t>PCCST501 Computer Networks | KTU 2024 Scheme • MODULE 2 • M2.2.3</a:t>
            </a:r>
          </a:p>
          <a:p>
            <a:pPr>
              <a:spcAft>
                <a:spcPts val="1400"/>
              </a:spcAft>
              <a:defRPr b="1" sz="3200">
                <a:solidFill>
                  <a:srgbClr val="F8FAFC"/>
                </a:solidFill>
              </a:defRPr>
            </a:pPr>
            <a:r>
              <a:t>Unicast Routing Protocols</a:t>
            </a:r>
          </a:p>
          <a:p>
            <a:pPr>
              <a:spcAft>
                <a:spcPts val="2800"/>
              </a:spcAft>
              <a:defRPr sz="1700">
                <a:solidFill>
                  <a:srgbClr val="94A3B8"/>
                </a:solidFill>
              </a:defRPr>
            </a:pPr>
            <a:r>
              <a:t>Distance Vector (Bellman-Ford, RIP, Count-to-Infinity), Link State (Dijkstra, OSPF) &amp; Path Vector (BGP)</a:t>
            </a:r>
          </a:p>
          <a:p>
            <a:pPr>
              <a:defRPr b="1" sz="1300">
                <a:solidFill>
                  <a:srgbClr val="E2E8F0"/>
                </a:solidFill>
              </a:defRPr>
            </a:pPr>
            <a:r>
              <a:t>Prepared by: Prof. Anju Markose | Assistant Professor, Dept. of CSE | VJCET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Viswajyothi College of Engineering and Technology (VJCET), Vazhakulam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2.2.3.1 Distance Vector vs Link State Routing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M2.2.3 ROUTING PARADIGMS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521208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F1E4A"/>
                </a:solidFill>
              </a:defRPr>
            </a:pPr>
            <a:r>
              <a:t>Distance Vector (Bellman-Ford / RIP)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Information Shared: Vector of least-cost distances to all destinations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Shared With: Only directly connected physical neighbors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Exchange Timing: Periodically (e.g. RIP every 30s) and on trigger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Convergence: Slow convergence; susceptible to routing loops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Algorithm: Bellman-Ford Equation: $D_x(y) = \min_v \{ c(x,v) + D_v(y) \}$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280160"/>
            <a:ext cx="5212080" cy="484632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0F1E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41732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E7490"/>
                </a:solidFill>
              </a:defRPr>
            </a:pPr>
            <a:r>
              <a:t>Link State (Dijkstra / OSPF)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Information Shared: Status and cost of directly connected links (LSAs)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Shared With: Flooded to ALL routers in entire network / area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Exchange Timing: Only when link state changes (event-driven)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Convergence: Rapid convergence; loop-free topology knowledge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Algorithm: Dijkstra's Shortest Path Tree computation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2.2.3.2 Count-to-Infinity &amp; Distance Vector Remedies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M2.2.3 DV REMEDIES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The Count-to-Infinity Problem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When a link fails, two routers can create a routing loop by continually updating each other with incrementing hop counts (e.g., $A \to B \to A \to \dots$).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Remedy 1: Define Infinity as 16 (RIP)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Routing Information Protocol sets maximum hop metric to 15. A hop count of 16 means 'Unreachable', stopping infinite looping.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Remedy 2: Split Horizon Rule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A router does NOT advertise a route back out the same interface through which it learned that route.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Remedy 3: Poison Reverse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If router A routes traffic to destination X through neighbor B, router A advertises route to X back to B with metric = $\infty$ (16), preventing B from ever routing back to A.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Remedy 4: Triggered Updates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Routers send update messages immediately upon detecting a link failure rather than waiting for regular 30s timer.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28016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500">
                <a:solidFill>
                  <a:srgbClr val="0E7490"/>
                </a:solidFill>
              </a:defRPr>
            </a:pPr>
            <a:r>
              <a:t>RIP Protocol Summary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Algorithm: Distance Vector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Metric: Hop count (Max 15)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Port: UDP 520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Periodic Timer: 30 seconds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Split Horizon + Poison Reverse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2.2.3.3 OSPF &amp; BGP Internet Routing Hierarchy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M2.2.3 OSPF &amp; BGP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Open Shortest Path First (OSPF)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Interior Gateway Protocol (IGP) based on Link State. Directly encapsulates in IP (Protocol 89). Supports authentication, equal-cost multi-path (ECMP), and Hierarchical Areas.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OSPF Area Hierarchy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Backbone Area (Area 0) connects non-backbone areas. Area Border Routers (ABRs) summarize routing between areas, limiting LSA flooding scale.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Border Gateway Protocol (BGP-4)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The de-facto standard Inter-Autonomous System (Inter-AS / EGP) routing protocol connecting global ISPs over TCP (Port 179).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Path Vector Routing in BGP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BGP advertisements include full `AS-PATH` attribute (list of Autonomous System numbers traversed). Prevents loops by discarding routes containing router's own AS number.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28016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500">
                <a:solidFill>
                  <a:srgbClr val="0E7490"/>
                </a:solidFill>
              </a:defRPr>
            </a:pPr>
            <a:r>
              <a:t>Routing Matrix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RIP: Distance Vector (Hops &lt; 16)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OSPF: Link State (Cost/Bandwidth)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BGP: Path Vector (AS-PATH, Policy)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Intra-AS: OSPF, RIP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Inter-AS: BGP-4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188720"/>
            <a:ext cx="164592" cy="44805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0"/>
            <a:ext cx="100584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300">
                <a:solidFill>
                  <a:srgbClr val="D97706"/>
                </a:solidFill>
              </a:defRPr>
            </a:pPr>
            <a:r>
              <a:t>PCCST501 Computer Networks | KTU 2024 Scheme • MODULE 2 • M2.2.4</a:t>
            </a:r>
          </a:p>
          <a:p>
            <a:pPr>
              <a:spcAft>
                <a:spcPts val="1400"/>
              </a:spcAft>
              <a:defRPr b="1" sz="3200">
                <a:solidFill>
                  <a:srgbClr val="F8FAFC"/>
                </a:solidFill>
              </a:defRPr>
            </a:pPr>
            <a:r>
              <a:t>Multicast Routing Protocols</a:t>
            </a:r>
          </a:p>
          <a:p>
            <a:pPr>
              <a:spcAft>
                <a:spcPts val="2800"/>
              </a:spcAft>
              <a:defRPr sz="1700">
                <a:solidFill>
                  <a:srgbClr val="94A3B8"/>
                </a:solidFill>
              </a:defRPr>
            </a:pPr>
            <a:r>
              <a:t>Multicasting Fundamentals, IGMP Group Management, Source-Based Trees, Shared Trees, DVMRP, MOSPF &amp; PIM</a:t>
            </a:r>
          </a:p>
          <a:p>
            <a:pPr>
              <a:defRPr b="1" sz="1300">
                <a:solidFill>
                  <a:srgbClr val="E2E8F0"/>
                </a:solidFill>
              </a:defRPr>
            </a:pPr>
            <a:r>
              <a:t>Prepared by: Prof. Anju Markose | Assistant Professor, Dept. of CSE | VJCET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Viswajyothi College of Engineering and Technology (VJCET), Vazhakulam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2.2.4.1 Multicast Fundamentals &amp; IGMP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M2.2.4 MULTICAST BASICS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Multicast Concept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One source sends data packets to multiple designated receivers belonging to a multicast group using a single Class D multicast address (`224.0.0.0/4`).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Internet Group Management Protocol (IGMP)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Operates between local hosts and their directly attached first-hop router. Enables hosts to join or leave multicast groups dynamically.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IGMP Message Types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Membership Query (router queries group members), Membership Report (host announces group join), Leave Group (host departs).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Source-Based Trees vs Group-Shared Trees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Source-Based: Builds a distinct shortest path tree rooted at each sender (e.g. DVMRP, MOSPF, PIM-DM). Shared Tree: All senders route traffic through a single central Rendezvous Point (RP) shared tree (e.g. PIM-SM).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28016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500">
                <a:solidFill>
                  <a:srgbClr val="0E7490"/>
                </a:solidFill>
              </a:defRPr>
            </a:pPr>
            <a:r>
              <a:t>Multicast Trees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Class D IPs: 224.0.0.0 - 239.255.255.255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IGMP: Host-to-Router signaling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Source Tree: Optimal delay per sender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Shared Tree: Less router memory state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2.2.4.2 Multicast Routing Protocols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M2.2.4 MULTICAST PROTOCOLS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521208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F1E4A"/>
                </a:solidFill>
              </a:defRPr>
            </a:pPr>
            <a:r>
              <a:t>Dense-Mode Protocols (Flood &amp; Prune)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PIM-DM / DVMRP: Assumes multicast group members are densely distributed across almost every subnet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Reverse Path Forwarding (RPF): Accepts packet only if it arrives on interface used to reach the source IP; drops duplicates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Flood &amp; Prune: Floods initial traffic everywhere; routers with no active downstream members send 'Prune' messages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Grafting: Allows pruned branch to rejoin tree immediately when a new host joins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280160"/>
            <a:ext cx="5212080" cy="484632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0F1E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41732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E7490"/>
                </a:solidFill>
              </a:defRPr>
            </a:pPr>
            <a:r>
              <a:t>Sparse-Mode Protocols (Explicit Join)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PIM-SM: Assumes members are sparsely distributed across wide-area network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Rendezvous Point (RP): Core router where all sender sources register and receiver branches join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Explicit Join: Traffic only forwarded to subnets that explicitly sent IGMP/PIM Join messages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Scalability: Highly scalable for Internet-scale video broadcasting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188720"/>
            <a:ext cx="164592" cy="44805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0"/>
            <a:ext cx="100584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300">
                <a:solidFill>
                  <a:srgbClr val="D97706"/>
                </a:solidFill>
              </a:defRPr>
            </a:pPr>
            <a:r>
              <a:t>PCCST501 Computer Networks | KTU 2024 Scheme • MODULE 2 • M2.2.5</a:t>
            </a:r>
          </a:p>
          <a:p>
            <a:pPr>
              <a:spcAft>
                <a:spcPts val="1400"/>
              </a:spcAft>
              <a:defRPr b="1" sz="3200">
                <a:solidFill>
                  <a:srgbClr val="F8FAFC"/>
                </a:solidFill>
              </a:defRPr>
            </a:pPr>
            <a:r>
              <a:t>Next Generation Internet Protocol (IPv6)</a:t>
            </a:r>
          </a:p>
          <a:p>
            <a:pPr>
              <a:spcAft>
                <a:spcPts val="2800"/>
              </a:spcAft>
              <a:defRPr sz="1700">
                <a:solidFill>
                  <a:srgbClr val="94A3B8"/>
                </a:solidFill>
              </a:defRPr>
            </a:pPr>
            <a:r>
              <a:t>128-Bit Addressing, Fixed 40-Byte Base Header, Extension Headers Chain, SLAAC Autoconfiguration &amp; Migration</a:t>
            </a:r>
          </a:p>
          <a:p>
            <a:pPr>
              <a:defRPr b="1" sz="1300">
                <a:solidFill>
                  <a:srgbClr val="E2E8F0"/>
                </a:solidFill>
              </a:defRPr>
            </a:pPr>
            <a:r>
              <a:t>Prepared by: Prof. Anju Markose | Assistant Professor, Dept. of CSE | VJCET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Viswajyothi College of Engineering and Technology (VJCET), Vazhakulam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2.2.5.1 IPv6 Header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M2.2.5 IPV6 HEADER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128-Bit Address Space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$2^{128} \approx 3.4 \times 10^{38}$ unique addresses (represented as 8 groups of 4 hex digits: `2001:0db8:85a3:0000:0000:8a2e:0370:7334`).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Fixed 40-Byte Base Header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Fixed length streamlines router processing in hardware ASICs (compared to variable 20-60B IPv4 header).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Key Header Fields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Version (4b: 6), Traffic Class (8b: QoS DiffServ), Flow Label (20b: maintains flow context), Payload Length (16b), Next Header (8b: identifies upper layer protocol or next extension header), Hop Limit (8b: replaces TTL), Source Address (128b), Destination Address (128b).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Eliminated Fields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Header Checksum (eliminated to boost speed; left to L2/L4), IHL (fixed at 40B), and Fragmentation fields (moved to optional Extension Headers).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28016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500">
                <a:solidFill>
                  <a:srgbClr val="0E7490"/>
                </a:solidFill>
              </a:defRPr>
            </a:pPr>
            <a:r>
              <a:t>IPv6 vs IPv4 Header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Address: 128-bit vs 32-bit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Base Header: 40B fixed vs 20-60B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Checksum: None vs 16-bit Header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Fragmentation: Source only vs Routers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TTL -&gt; Hop Limit (8 bits)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2.2.5.2 Extension Headers, SLAAC &amp; IPv6 Migration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M2.2.5 SLAAC &amp; TRANSITION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Extension Headers Chain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Daisy-chained via `Next Header` field: Hop-by-Hop Options $\to$ Routing $\to$ Fragment $\to$ Encapsulating Security Payload (ESP) $\to$ Authentication Header (AH) $\to$ TCP/UDP.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Stateless Address Autoconfiguration (SLAAC)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Host generates unique IPv6 address automatically using local link prefix advertised by router + modified EUI-64 MAC address (or randomized interface ID). No DHCP server required.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Dual-Stack Transition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Nodes implement both full IPv4 and IPv6 protocol stacks simultaneously, allowing seamless communication across both networks.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Tunneling (6in4 / 6to4 / Teredo)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IPv6 packets encapsulated as payload inside IPv4 packets to traverse legacy IPv4 routing backbones.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NAT64 / DNS64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Translates IPv6-only client requests to communicate directly with legacy IPv4-only web servers.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28016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500">
                <a:solidFill>
                  <a:srgbClr val="0E7490"/>
                </a:solidFill>
              </a:defRPr>
            </a:pPr>
            <a:r>
              <a:t>Transition Strategies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Dual-Stack: Run IPv4 &amp; IPv6 together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Tunneling: Encapsulate IPv6 in IPv4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Translation: NAT64/DNS64 gateway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SLAAC: Zero-configuration networking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188720"/>
            <a:ext cx="164592" cy="44805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0"/>
            <a:ext cx="100584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300">
                <a:solidFill>
                  <a:srgbClr val="D97706"/>
                </a:solidFill>
              </a:defRPr>
            </a:pPr>
            <a:r>
              <a:t>PCCST501 Computer Networks | KTU 2024 Scheme • MODULE 2 • M2.2.6</a:t>
            </a:r>
          </a:p>
          <a:p>
            <a:pPr>
              <a:spcAft>
                <a:spcPts val="1400"/>
              </a:spcAft>
              <a:defRPr b="1" sz="3200">
                <a:solidFill>
                  <a:srgbClr val="F8FAFC"/>
                </a:solidFill>
              </a:defRPr>
            </a:pPr>
            <a:r>
              <a:t>Quality of Service (QoS) &amp; Traffic Shaping</a:t>
            </a:r>
          </a:p>
          <a:p>
            <a:pPr>
              <a:spcAft>
                <a:spcPts val="2800"/>
              </a:spcAft>
              <a:defRPr sz="1700">
                <a:solidFill>
                  <a:srgbClr val="94A3B8"/>
                </a:solidFill>
              </a:defRPr>
            </a:pPr>
            <a:r>
              <a:t>QoS Principles, Traffic Shaping Algorithms: Leaky Bucket vs Token Bucket, Integrated Services &amp; Differentiated Services</a:t>
            </a:r>
          </a:p>
          <a:p>
            <a:pPr>
              <a:defRPr b="1" sz="1300">
                <a:solidFill>
                  <a:srgbClr val="E2E8F0"/>
                </a:solidFill>
              </a:defRPr>
            </a:pPr>
            <a:r>
              <a:t>Prepared by: Prof. Anju Markose | Assistant Professor, Dept. of CSE | VJCET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Viswajyothi College of Engineering and Technology (VJCET), Vazhakulam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2.2.6.1 Traffic Shaping: Leaky Bucket vs Token Bucket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M2.2.6 LEAKY VS TOKEN BUCKET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521208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F1E4A"/>
                </a:solidFill>
              </a:defRPr>
            </a:pPr>
            <a:r>
              <a:t>Leaky Bucket Algorithm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Mechanism: Packets enter bucket of capacity $C$; leak out bottom at constant fixed rate $r$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Output Rate: Strictly constant / smooth transmission rate; zero bursts allowed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Overflow: If arriving packet overflows bucket capacity, it is discarded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Best For: Strict traffic policing and real-time constant-bitrate audio (CBR)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280160"/>
            <a:ext cx="5212080" cy="484632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0F1E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41732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E7490"/>
                </a:solidFill>
              </a:defRPr>
            </a:pPr>
            <a:r>
              <a:t>Token Bucket Algorithm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Mechanism: Tokens generated at constant rate $r$ into bucket of capacity $b$. Packet sent only if enough tokens present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Output Rate: Allows controlled burst transmission up to bucket capacity $b$, with average rate $r$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Burst Duration: Max burst size $= b + r \times t$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Best For: Bursty Internet data traffic (Web, video streaming, database queries)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2.2.6.2 Architectural QoS Models: IntServ vs DiffServ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M2.2.6 INTSERV VS DIFFSERV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Integrated Services (IntServ / RFC 1633)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Per-flow hard QoS guarantees. End hosts use RSVP (Resource Reservation Protocol) to reserve bandwidth and buffer space along entire path prior to data transmission.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IntServ Scalability Problem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Requires every core router to maintain state for millions of individual flows $\implies$ unscalable for the global Internet backbone.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Differentiated Services (DiffServ / RFC 2475)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Class-based soft QoS. Edge routers classify and mark packets by writing a 6-bit DSCP (Differentiated Services Code Point) value in IP header.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Per-Hop Behaviors (PHB)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Core routers inspect DSCP and schedule packets according to class without maintaining per-flow state (Expedited Forwarding EF for VoIP, Assured Forwarding AF for video).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28016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500">
                <a:solidFill>
                  <a:srgbClr val="0E7490"/>
                </a:solidFill>
              </a:defRPr>
            </a:pPr>
            <a:r>
              <a:t>QoS Model Summary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IntServ: Per-flow, RSVP, stateful, unscalable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DiffServ: Class-based, DSCP, stateless core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Leaky Bucket: Constant output rate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Token Bucket: Allows controlled bursts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188720"/>
            <a:ext cx="164592" cy="44805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0"/>
            <a:ext cx="100584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300">
                <a:solidFill>
                  <a:srgbClr val="D97706"/>
                </a:solidFill>
              </a:defRPr>
            </a:pPr>
            <a:r>
              <a:t>PCCST501 Computer Networks | KTU 2024 Scheme • MODULE 2 • M2.3</a:t>
            </a:r>
          </a:p>
          <a:p>
            <a:pPr>
              <a:spcAft>
                <a:spcPts val="1400"/>
              </a:spcAft>
              <a:defRPr b="1" sz="3200">
                <a:solidFill>
                  <a:srgbClr val="F8FAFC"/>
                </a:solidFill>
              </a:defRPr>
            </a:pPr>
            <a:r>
              <a:t>Linux Kernel TCP/IP Architecture &amp; Routing</a:t>
            </a:r>
          </a:p>
          <a:p>
            <a:pPr>
              <a:spcAft>
                <a:spcPts val="2800"/>
              </a:spcAft>
              <a:defRPr sz="1700">
                <a:solidFill>
                  <a:srgbClr val="94A3B8"/>
                </a:solidFill>
              </a:defRPr>
            </a:pPr>
            <a:r>
              <a:t>Linux Network Stack Internals, sk_buff Structure, Routing Table fib_table, Route Cache &amp; ip route Commands</a:t>
            </a:r>
          </a:p>
          <a:p>
            <a:pPr>
              <a:defRPr b="1" sz="1300">
                <a:solidFill>
                  <a:srgbClr val="E2E8F0"/>
                </a:solidFill>
              </a:defRPr>
            </a:pPr>
            <a:r>
              <a:t>Prepared by: Prof. Anju Markose | Assistant Professor, Dept. of CSE | VJCET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Viswajyothi College of Engineering and Technology (VJCET), Vazhakulam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2.3.1 Linux Kernel Network Stack &amp; sk_buff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M2.3 LINUX KERNEL STACK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Linux Packet Journey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NIC RX Ring Buffer $\to$ DMA to RAM $\to$ Hard IRQ $\to$ NAPI SoftIRQ $\to$ `netif_receive_skb()` $\to$ IP Layer $\to$ Transport Layer $\to$ Socket Receive Queue.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Socket Buffer (`struct sk_buff`)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The central data structure in Linux kernel networking representing a network packet as it moves through layers.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Zero-Copy Pointer Manipulation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`sk_buff` contains `head`, `data`, `tail`, `end` pointers. Adding headers (encapsulation) simply shifts `data` pointer via `skb_push()`, avoiding expensive data copying in memory!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Netfilter Hook Framework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Kernel hooks (`NF_INET_PRE_ROUTING`, `NF_INET_LOCAL_IN`, `NF_INET_FORWARD`, `NF_INET_LOCAL_OUT`, `NF_INET_POST_ROUTING`) powering `iptables` / `nftables` firewalls and NAT.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28016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500">
                <a:solidFill>
                  <a:srgbClr val="0E7490"/>
                </a:solidFill>
              </a:defRPr>
            </a:pPr>
            <a:r>
              <a:t>sk_buff Functions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skb_push(): Prepend header space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skb_pull(): Strip header at receiver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skb_put(): Append payload data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skb_reserve(): Allocate head room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Zero memory copy overhead!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2.3.2 Linux Routing Table (fib_table) &amp; ip route CLI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M2.3 LINUX ROUTING COMMANDS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Forwarding Information Base (`fib_table`)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Linux kernel routing table storing network prefixes, metrics, scopes, and next-hop gateways organized in a LC-trie (Level-Compressed Trie) for sub-microsecond Longest Prefix Matching.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Viewing Routing Table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`ip route show` or `ip route list` displays main routing table entries.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Adding Static Route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`ip route add 192.168.10.0/24 via 10.0.0.1 dev eth0`.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Adding Default Gateway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`ip route add default via 192.168.1.1 dev eth0`.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Deleting Route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`ip route del 192.168.10.0/24`.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Policy Routing (`ip rule`)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Multiple routing tables selected by source IP, TOS, or firewall mark (e.g. `ip rule add from 192.168.2.0/24 table 100`).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28016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500">
                <a:solidFill>
                  <a:srgbClr val="0E7490"/>
                </a:solidFill>
              </a:defRPr>
            </a:pPr>
            <a:r>
              <a:t>Hands-on Commands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ip route show: View routes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ip route add &lt;net&gt; via &lt;gw&gt; dev &lt;if&gt;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ip route del &lt;net&gt;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ip rule list: Policy routing rules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All KTU CO2 &amp; CO3 Topics Covered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188720"/>
            <a:ext cx="164592" cy="44805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0"/>
            <a:ext cx="100584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300">
                <a:solidFill>
                  <a:srgbClr val="D97706"/>
                </a:solidFill>
              </a:defRPr>
            </a:pPr>
            <a:r>
              <a:t>PCCST501 Computer Networks | KTU 2024 Scheme • MODULE 3 COMPLETE • MODULE 3</a:t>
            </a:r>
          </a:p>
          <a:p>
            <a:pPr>
              <a:spcAft>
                <a:spcPts val="1400"/>
              </a:spcAft>
              <a:defRPr b="1" sz="3200">
                <a:solidFill>
                  <a:srgbClr val="F8FAFC"/>
                </a:solidFill>
              </a:defRPr>
            </a:pPr>
            <a:r>
              <a:t>Data Link Layer, MAC Protocols &amp; Wireless LANs</a:t>
            </a:r>
          </a:p>
          <a:p>
            <a:pPr>
              <a:spcAft>
                <a:spcPts val="2800"/>
              </a:spcAft>
              <a:defRPr sz="1700">
                <a:solidFill>
                  <a:srgbClr val="94A3B8"/>
                </a:solidFill>
              </a:defRPr>
            </a:pPr>
            <a:r>
              <a:t>Complete Lecture &amp; Revision Master Deck (M3.1 to M3.9)</a:t>
            </a:r>
          </a:p>
          <a:p>
            <a:pPr>
              <a:defRPr b="1" sz="1300">
                <a:solidFill>
                  <a:srgbClr val="E2E8F0"/>
                </a:solidFill>
              </a:defRPr>
            </a:pPr>
            <a:r>
              <a:t>Prepared by: Prof. Anju Markose | Assistant Professor, Dept. of CSE | VJCET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Viswajyothi College of Engineering and Technology (VJCET), Vazhakulam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188720"/>
            <a:ext cx="164592" cy="44805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0"/>
            <a:ext cx="100584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300">
                <a:solidFill>
                  <a:srgbClr val="D97706"/>
                </a:solidFill>
              </a:defRPr>
            </a:pPr>
            <a:r>
              <a:t>PCCST501 Computer Networks | KTU 2024 Scheme • MODULE 3 • M3.1</a:t>
            </a:r>
          </a:p>
          <a:p>
            <a:pPr>
              <a:spcAft>
                <a:spcPts val="1400"/>
              </a:spcAft>
              <a:defRPr b="1" sz="3200">
                <a:solidFill>
                  <a:srgbClr val="F8FAFC"/>
                </a:solidFill>
              </a:defRPr>
            </a:pPr>
            <a:r>
              <a:t>Data Link Layer &amp; Framing Techniques</a:t>
            </a:r>
          </a:p>
          <a:p>
            <a:pPr>
              <a:spcAft>
                <a:spcPts val="2800"/>
              </a:spcAft>
              <a:defRPr sz="1700">
                <a:solidFill>
                  <a:srgbClr val="94A3B8"/>
                </a:solidFill>
              </a:defRPr>
            </a:pPr>
            <a:r>
              <a:t>Node-to-Node Delivery, Character Count, Byte Stuffing with Escape Characters &amp; Bit Stuffing with Flags</a:t>
            </a:r>
          </a:p>
          <a:p>
            <a:pPr>
              <a:defRPr b="1" sz="1300">
                <a:solidFill>
                  <a:srgbClr val="E2E8F0"/>
                </a:solidFill>
              </a:defRPr>
            </a:pPr>
            <a:r>
              <a:t>Prepared by: Prof. Anju Markose | Assistant Professor, Dept. of CSE | VJCET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Viswajyothi College of Engineering and Technology (VJCET), Vazhakulam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3.1.1 Data Link Layer Role &amp; Framing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M3.1 FRAMING CONCEPTS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Node-to-Node Delivery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Data Link Layer encapsulates Network Layer datagrams into hardware Frames and delivers them across a single physical link between adjacent nodes.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Framing Concept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Dividing the raw bit stream from the Physical Layer into discrete, manageable data units (frames) with identifiable boundaries.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Character Count Method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Frame header includes a field specifying total number of characters in the frame. Flaw: If a transmission error corrupts the count field, sender and receiver lose synchronization permanently!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Byte Stuffing (Character-Oriented)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Frame delimited by special flag bytes (e.g. `FLAG` = `0x7E`). Whenever `FLAG` or `ESC` occurs in payload data, sender inserts an escape byte (`ESC` = `0x1B`) before it. Receiver removes `ESC`.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Bit Stuffing (Bit-Oriented - HDLC/PPP)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Frame delimited by special flag pattern `01111110` (six consecutive 1s). Whenever sender detects FIVE consecutive 1s in payload, it automatically stuffs a '0' bit. Receiver strips the stuffed '0' after five 1s.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28016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500">
                <a:solidFill>
                  <a:srgbClr val="0E7490"/>
                </a:solidFill>
              </a:defRPr>
            </a:pPr>
            <a:r>
              <a:t>Bit Stuffing Rule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Flag: 01111110 (6 ones)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Sender: Stuffs '0' after 5 ones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Example Data: 01111110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Transmitted: 011111010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Receiver: Strips '0' after 5 ones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188720"/>
            <a:ext cx="164592" cy="44805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0"/>
            <a:ext cx="100584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300">
                <a:solidFill>
                  <a:srgbClr val="D97706"/>
                </a:solidFill>
              </a:defRPr>
            </a:pPr>
            <a:r>
              <a:t>PCCST501 Computer Networks | KTU 2024 Scheme • MODULE 3 • M3.2</a:t>
            </a:r>
          </a:p>
          <a:p>
            <a:pPr>
              <a:spcAft>
                <a:spcPts val="1400"/>
              </a:spcAft>
              <a:defRPr b="1" sz="3200">
                <a:solidFill>
                  <a:srgbClr val="F8FAFC"/>
                </a:solidFill>
              </a:defRPr>
            </a:pPr>
            <a:r>
              <a:t>Error Control &amp; Flow Control in Data Link Layer</a:t>
            </a:r>
          </a:p>
          <a:p>
            <a:pPr>
              <a:spcAft>
                <a:spcPts val="2800"/>
              </a:spcAft>
              <a:defRPr sz="1700">
                <a:solidFill>
                  <a:srgbClr val="94A3B8"/>
                </a:solidFill>
              </a:defRPr>
            </a:pPr>
            <a:r>
              <a:t>CRC-32 Modulo-2 Polynomial Division, Hamming (7,4) Error Correction, Stop-and-Wait, Go-Back-N &amp; Selective Repeat</a:t>
            </a:r>
          </a:p>
          <a:p>
            <a:pPr>
              <a:defRPr b="1" sz="1300">
                <a:solidFill>
                  <a:srgbClr val="E2E8F0"/>
                </a:solidFill>
              </a:defRPr>
            </a:pPr>
            <a:r>
              <a:t>Prepared by: Prof. Anju Markose | Assistant Professor, Dept. of CSE | VJCET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Viswajyothi College of Engineering and Technology (VJCET), Vazhakulam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3.2.1 Error Detection: Cyclic Redundancy Check (CRC)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M3.2 CRC POLYNOMIAL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CRC Concept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Powerful polynomial-based error detection method based on binary Modulo-2 division (XOR operations without carry).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Generator Polynomial $G(x)$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Agreed polynomial of degree $r$ (represented as an $(r+1)$-bit divisor). E.g., CRC-32 has $r=32$ bits.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Sender FCS Generation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Append $r$ zeros to the data block $D$. Perform Modulo-2 division of $D \cdot 2^r$ by divisor $G$. The remainder $R$ (of length $r$ bits) is the Frame Check Sequence (FCS). Frame sent is $T = D \cdot 2^r \oplus R$.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Receiver Verification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Receiver divides arriving frame $T$ by divisor $G$. If remainder is EXACTLY ZERO, frame is accepted as error-free; otherwise discarded.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Error Detection Strength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Detects all single-bit errors, all double errors, all odd numbers of bit errors, and all burst errors of length $\le r$.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28016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500">
                <a:solidFill>
                  <a:srgbClr val="0E7490"/>
                </a:solidFill>
              </a:defRPr>
            </a:pPr>
            <a:r>
              <a:t>CRC Algorithm Steps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1. Let divisor G have length k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2. Append (k - 1) zeros to Data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3. Divide using XOR Modulo-2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4. Remainder = FCS (Checksum)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5. Transmit Data + FCS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6. Receiver Remainder must be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3.2.2 Error Correction: Hamming Code (7,4)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M3.2 HAMMING CODE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Hamming Distance ($d_{min}$)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To detect $e$ errors, minimum Hamming distance must be $d_{min} \ge e + 1$. To correct $t$ errors, $d_{min} \ge 2t + 1$.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Hamming (7,4) Code Structure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Transmits 4 data bits ($d_1, d_2, d_3, d_4$) with 3 parity check bits ($p_1, p_2, p_3$) at power-of-2 positions ($1, 2, 4$). Total codeword = 7 bits.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Parity Bit Assignment (Even Parity)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$p_1$ checks bits (1, 3, 5, 7); $p_2$ checks bits (2, 3, 6, 7); $p_4$ checks bits (4, 5, 6, 7).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Syndrome Word Calculation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Receiver calculates syndrome bits $s_3 s_2 s_1$. If syndrome is `000`, no error occurred. If syndrome equals binary integer $k$ ($1 \le k \le 7$), bit position $k$ is inverted and corrected!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28016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500">
                <a:solidFill>
                  <a:srgbClr val="0E7490"/>
                </a:solidFill>
              </a:defRPr>
            </a:pPr>
            <a:r>
              <a:t>Hamming Key Rules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Parity bit positions: 1, 2, 4, 8...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Parity bits formula: 2^p &gt;= m + p + 1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Syndrome indicates exact bit error position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Detects 2-bit, corrects 1-bit errors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3.2.3 Sliding Window Flow Control: Stop-and-Wait vs GBN vs SR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M3.2 ARQ PROTOCOLS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521208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F1E4A"/>
                </a:solidFill>
              </a:defRPr>
            </a:pPr>
            <a:r>
              <a:t>Go-Back-N ARQ (GBN)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Sender Window: Size $N &gt; 1$; unacked frames inflight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Receiver Window: Size = 1; accepts frames strictly in-order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On Out-of-Order Frame: Discards frame and re-sends ACK for last in-order frame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On Timeout: Retransmits ALL $N$ unacknowledged frames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Sequence Numbers: Requires sequence numbers $\ge N + 1$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280160"/>
            <a:ext cx="5212080" cy="484632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0F1E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41732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E7490"/>
                </a:solidFill>
              </a:defRPr>
            </a:pPr>
            <a:r>
              <a:t>Selective Repeat ARQ (SR)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Sender Window: Size $N &gt; 1$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Receiver Window: Size $N &gt; 1$; buffers out-of-order frames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On Damaged Frame: Sends Negative ACK (NAK) or waits for timeout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On Timeout: Retransmits ONLY the specific damaged/lost frame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Sequence Numbers: Requires sequence numbers $\ge 2N$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188720"/>
            <a:ext cx="164592" cy="44805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0"/>
            <a:ext cx="100584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300">
                <a:solidFill>
                  <a:srgbClr val="D97706"/>
                </a:solidFill>
              </a:defRPr>
            </a:pPr>
            <a:r>
              <a:t>PCCST501 Computer Networks | KTU 2024 Scheme • MODULE 3 • M3.3</a:t>
            </a:r>
          </a:p>
          <a:p>
            <a:pPr>
              <a:spcAft>
                <a:spcPts val="1400"/>
              </a:spcAft>
              <a:defRPr b="1" sz="3200">
                <a:solidFill>
                  <a:srgbClr val="F8FAFC"/>
                </a:solidFill>
              </a:defRPr>
            </a:pPr>
            <a:r>
              <a:t>Multiple Access Protocols (MAC)</a:t>
            </a:r>
          </a:p>
          <a:p>
            <a:pPr>
              <a:spcAft>
                <a:spcPts val="2800"/>
              </a:spcAft>
              <a:defRPr sz="1700">
                <a:solidFill>
                  <a:srgbClr val="94A3B8"/>
                </a:solidFill>
              </a:defRPr>
            </a:pPr>
            <a:r>
              <a:t>Random Access (ALOHA, CSMA/CD, CSMA/CA), Controlled Access (Polling, Token Ring) &amp; Channelization (CDMA)</a:t>
            </a:r>
          </a:p>
          <a:p>
            <a:pPr>
              <a:defRPr b="1" sz="1300">
                <a:solidFill>
                  <a:srgbClr val="E2E8F0"/>
                </a:solidFill>
              </a:defRPr>
            </a:pPr>
            <a:r>
              <a:t>Prepared by: Prof. Anju Markose | Assistant Professor, Dept. of CSE | VJCET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Viswajyothi College of Engineering and Technology (VJCET), Vazhakulam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3.3.1 Random Access: Pure ALOHA vs Slotted ALOHA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M3.3 ALOHA PROTOCOLS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521208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F1E4A"/>
                </a:solidFill>
              </a:defRPr>
            </a:pPr>
            <a:r>
              <a:t>Pure ALOHA (Abramson, 1970)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Transmission Rule: Nodes transmit frames immediately whenever data is ready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Vulnerable Period: $2 \times T_{frame}$ (collision if any other node transmits within $\pm T_{frame}$)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Throughput Equation: $S = G \cdot e^{-2G}$ (where $G$ is traffic load)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Maximum Throughput: $S_{max} = \frac{1}{2e} \approx 18.4\%$ (achieved at $G = 0.5$)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280160"/>
            <a:ext cx="5212080" cy="484632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0F1E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41732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E7490"/>
                </a:solidFill>
              </a:defRPr>
            </a:pPr>
            <a:r>
              <a:t>Slotted ALOHA (Roberts, 1972)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Transmission Rule: Time divided into synchronized slots ($T_{slot} = T_{frame}$). Nodes transmit only at slot boundary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Vulnerable Period: $1 \times T_{frame}$ (halved compared to Pure ALOHA)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Throughput Equation: $S = G \cdot e^{-G}$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Maximum Throughput: $S_{max} = \frac{1}{e} \approx 36.8\%$ (achieved at $G = 1.0$)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3.3.2 CSMA/CD (Carrier Sense Multiple Access with Collision Detection)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M3.3 CSMA/CD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Carrier Sensing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Listen Before Talk: Station senses channel before transmitting (1-persistent: transmits immediately when idle; Non-persistent: waits random delay if busy; p-persistent: transmits with probability $p$).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Collision Detection (Listen While Talk)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Station monitors signal energy while transmitting. If signal energy exceeds normal threshold, collision detected $\implies$ abort immediately and transmit a 32-bit Jam Signal.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Binary Exponential Backoff Algorithm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After $n$-th collision ($1 \le n \le 10$), choose random slot delay $k \in [0, 2^n - 1]$. Wait time $= k \times 51.2\,\mu\text{s}$. Abort if $n = 16$.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Minimum Frame Size Condition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Sender must transmit for at least $2 \times T_{prop}$ to detect collisions before transmission finishes: $T_{trans} \ge 2 \times T_{prop} \implies L_{min} = 2 \times T_{prop} \times \text{Bandwidth}$ (64 Bytes in 10 Mbps Ethernet).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28016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500">
                <a:solidFill>
                  <a:srgbClr val="0E7490"/>
                </a:solidFill>
              </a:defRPr>
            </a:pPr>
            <a:r>
              <a:t>CSMA/CD Key Formulas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Backoff Range: k in [0, 2^n - 1]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Slot Time: 51.2 microseconds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Min Frame Length = 2 * d_prop * Rate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Standard Ethernet Min Frame = 64 Bytes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Jam Signal: 32 to 48 bits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3.3.3 Channelization &amp; CDMA (Code Division Multiple Access)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M3.3 CHANNELIZATION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Channelization Principles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Shared bandwidth divided among stations: FDMA (Frequency bands), TDMA (Time slots), and CDMA (Orthogonal Codes).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CDMA Fundamentals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All stations transmit simultaneously across the entire frequency band. Signals are separated using orthogonal chip sequences.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Orthogonal Chip Sequences (Walsh Codes)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Each station is assigned an $N$-bit orthogonal chip code $C_i$ where $C_i \cdot C_j = 0$ (if $i \neq j$) and $C_i \cdot C_i = 1$.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CDMA Encoding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To send bit 1: transmit code $C_i$. To send bit 0: transmit inverse $-C_i$. If silent: transmit 0.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CDMA Decoding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Receiver multiplies composite incoming signal $S$ by desired station's code $C_i$: $S \cdot C_i = (d_1 C_1 + d_2 C_2 + \dots) \cdot C_i = d_i (C_i \cdot C_i) = d_i$. All other signals cancel to 0!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28016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500">
                <a:solidFill>
                  <a:srgbClr val="0E7490"/>
                </a:solidFill>
              </a:defRPr>
            </a:pPr>
            <a:r>
              <a:t>CDMA Properties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Inner Product: Ci * Cj = 0 (i != j)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Self Product: Ci * Ci = 1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Immune to interference &amp; jamming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Used in 3G mobile networks &amp; GPS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188720"/>
            <a:ext cx="164592" cy="44805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0"/>
            <a:ext cx="100584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300">
                <a:solidFill>
                  <a:srgbClr val="D97706"/>
                </a:solidFill>
              </a:defRPr>
            </a:pPr>
            <a:r>
              <a:t>PCCST501 Computer Networks | KTU 2024 Scheme • MODULE 3 • M3.4</a:t>
            </a:r>
          </a:p>
          <a:p>
            <a:pPr>
              <a:spcAft>
                <a:spcPts val="1400"/>
              </a:spcAft>
              <a:defRPr b="1" sz="3200">
                <a:solidFill>
                  <a:srgbClr val="F8FAFC"/>
                </a:solidFill>
              </a:defRPr>
            </a:pPr>
            <a:r>
              <a:t>Link Layer Addressing &amp; Address Resolution Protocol (ARP)</a:t>
            </a:r>
          </a:p>
          <a:p>
            <a:pPr>
              <a:spcAft>
                <a:spcPts val="2800"/>
              </a:spcAft>
              <a:defRPr sz="1700">
                <a:solidFill>
                  <a:srgbClr val="94A3B8"/>
                </a:solidFill>
              </a:defRPr>
            </a:pPr>
            <a:r>
              <a:t>48-Bit IEEE MAC Addresses, OUI Vendor Allocation, ARP Query &amp; Reply Protocol Mechanism</a:t>
            </a:r>
          </a:p>
          <a:p>
            <a:pPr>
              <a:defRPr b="1" sz="1300">
                <a:solidFill>
                  <a:srgbClr val="E2E8F0"/>
                </a:solidFill>
              </a:defRPr>
            </a:pPr>
            <a:r>
              <a:t>Prepared by: Prof. Anju Markose | Assistant Professor, Dept. of CSE | VJCET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Viswajyothi College of Engineering and Technology (VJCET), Vazhakulam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3.4.1 MAC Addressing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M3.4 MAC ADDRESSES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48-Bit Physical Address (6 Bytes)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Burned into the Network Interface Card (NIC) ROM. Represented as 12 hexadecimal digits: `00:1A:2B:3C:4D:5E`.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Organizationally Unique Identifier (OUI - First 24 bits)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Assigned by IEEE to the hardware manufacturer (e.g. Intel, Cisco, Apple).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NIC Serial Number (Last 24 bits)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Assigned uniquely by manufacturer to individual network interfaces.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Broadcast MAC Address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`FF:FF:FF:FF:FF:FF` (all 48 bits are 1s). Processed by every adapter on the local LAN broadcast domain.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Multicast MAC Address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Least Significant Bit of first byte is 1 (e.g. `01:00:5E:xx:xx:xx` for IPv4 multicast).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28016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500">
                <a:solidFill>
                  <a:srgbClr val="0E7490"/>
                </a:solidFill>
              </a:defRPr>
            </a:pPr>
            <a:r>
              <a:t>MAC Address Structure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First 3 Bytes (24b): OUI Vendor ID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Last 3 Bytes (24b): Device Serial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Unicast: 00:1A:2B:3C:4D:5E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Broadcast: FF:FF:FF:FF:FF:FF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Flat physical addressing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3.4.2 Address Resolution Protocol (ARP)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M3.4 ARP OPERATION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ARP Purpose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Dynamically translates a known 32-bit IP address into its corresponding 48-bit MAC address on the same local subnet.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ARP Request (Broadcast)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Sender broadcasts an Ethernet frame (`Dst MAC = FF:FF:FF:FF:FF:FF`) asking: 'Who has IP `192.168.1.5`? Tell `192.168.1.1`'.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ARP Reply (Unicast)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The host with target IP `192.168.1.5` responds with a unicast frame directly to sender's MAC containing its physical address.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ARP Cache Table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Sender caches the `(IP, MAC, TTL)` mapping (typically for 20 minutes) to eliminate redundant broadcasts for future packets.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Gratuitous ARP &amp; Proxy ARP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Gratuitous ARP: Host announces its own IP/MAC on boot to detect IP address conflicts. Proxy ARP: Router responds on behalf of remote hosts.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28016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500">
                <a:solidFill>
                  <a:srgbClr val="0E7490"/>
                </a:solidFill>
              </a:defRPr>
            </a:pPr>
            <a:r>
              <a:t>ARP Protocol Flow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1. ARP Request -&gt; Broadcast (FF:..:FF)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2. Target Host -&gt; Unicast ARP Reply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3. Host stores in ARP Cache Table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4. Cache expires after TTL (20 min)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Gratuitous ARP: Detects IP conflicts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188720"/>
            <a:ext cx="164592" cy="44805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0"/>
            <a:ext cx="100584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300">
                <a:solidFill>
                  <a:srgbClr val="D97706"/>
                </a:solidFill>
              </a:defRPr>
            </a:pPr>
            <a:r>
              <a:t>PCCST501 Computer Networks | KTU 2024 Scheme • MODULE 3 • M3.5</a:t>
            </a:r>
          </a:p>
          <a:p>
            <a:pPr>
              <a:spcAft>
                <a:spcPts val="1400"/>
              </a:spcAft>
              <a:defRPr b="1" sz="3200">
                <a:solidFill>
                  <a:srgbClr val="F8FAFC"/>
                </a:solidFill>
              </a:defRPr>
            </a:pPr>
            <a:r>
              <a:t>Ethernet Protocols (IEEE 802.3)</a:t>
            </a:r>
          </a:p>
          <a:p>
            <a:pPr>
              <a:spcAft>
                <a:spcPts val="2800"/>
              </a:spcAft>
              <a:defRPr sz="1700">
                <a:solidFill>
                  <a:srgbClr val="94A3B8"/>
                </a:solidFill>
              </a:defRPr>
            </a:pPr>
            <a:r>
              <a:t>Standard Ethernet (10BASE-T), Fast Ethernet, Gigabit Ethernet, 10GbE, Frame Format &amp; MTU</a:t>
            </a:r>
          </a:p>
          <a:p>
            <a:pPr>
              <a:defRPr b="1" sz="1300">
                <a:solidFill>
                  <a:srgbClr val="E2E8F0"/>
                </a:solidFill>
              </a:defRPr>
            </a:pPr>
            <a:r>
              <a:t>Prepared by: Prof. Anju Markose | Assistant Professor, Dept. of CSE | VJCET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Viswajyothi College of Engineering and Technology (VJCET), Vazhakulam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3.5.1 IEEE 802.3 Ethernet Frame Format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M3.5 ETHERNET FRAME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Preamble (7 Bytes)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Alternating `10101010` pattern for receiver clock synchronization.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Start of Frame Delimiter (SFD - 1 Byte)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`10101011` pattern signaling start of valid frame data.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Destination MAC (6 Bytes) &amp; Source MAC (6 Bytes)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48-bit physical hardware addresses of receiver and sender.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Type / Length Field (2 Bytes)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If $\ge 1536$ (`0x0600`), specifies upper layer protocol (`0x0800` for IPv4, `0x0806` for ARP). If $\le 1500$, specifies payload byte length.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Data Payload (46 to 1500 Bytes)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Minimum 46 bytes (padded with zeros if smaller to meet 64B frame minimum) and Maximum 1500 bytes (MTU).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CRC-32 FCS Trailer (4 Bytes)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Cyclic Redundancy Check trailer verifying frame integrity.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28016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500">
                <a:solidFill>
                  <a:srgbClr val="0E7490"/>
                </a:solidFill>
              </a:defRPr>
            </a:pPr>
            <a:r>
              <a:t>Frame Size Limits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Min Frame Size: 64 Bytes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Max Frame Size: 1518 Bytes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Min Payload: 46 Bytes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Max Payload (MTU): 1500 Bytes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Preamble + SFD = 8 Bytes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3.5.2 High-Speed Ethernet Standards Evolution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M3.5 ETHERNET EVOLUTION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521208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F1E4A"/>
                </a:solidFill>
              </a:defRPr>
            </a:pPr>
            <a:r>
              <a:t>Standard &amp; Fast Ethernet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Standard Ethernet (10BASE-T): 10 Mbps, Cat 3/5 UTP, Manchester encoding, Hub topology, CSMA/CD half-duplex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Fast Ethernet (100BASE-TX): 100 Mbps, Cat 5 UTP (2 pairs), 4B/5B + MLT-3 line encoding, Switch full-duplex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100BASE-FX: 100 Mbps over Multi-mode Optical Fiber (2 km reach)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280160"/>
            <a:ext cx="5212080" cy="484632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0F1E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41732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E7490"/>
                </a:solidFill>
              </a:defRPr>
            </a:pPr>
            <a:r>
              <a:t>Gigabit &amp; 10G Ethernet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Gigabit Ethernet (1000BASE-T): 1000 Mbps (1 Gbps), Cat 5e/6 UTP (all 4 pairs simultaneous bidirectional), 4D-PAM5 encoding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1000BASE-SX / LX: 1 Gbps over Short-wavelength / Long-wavelength Optical Fiber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10-Gigabit Ethernet (802.3ae): 10 Gbps, Optical Fiber &amp; Cat 6A UTP; Full-duplex only (CSMA/CD disabled!)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188720"/>
            <a:ext cx="164592" cy="44805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0"/>
            <a:ext cx="100584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300">
                <a:solidFill>
                  <a:srgbClr val="D97706"/>
                </a:solidFill>
              </a:defRPr>
            </a:pPr>
            <a:r>
              <a:t>PCCST501 Computer Networks | KTU 2024 Scheme • MODULE 3 • M3.5V</a:t>
            </a:r>
          </a:p>
          <a:p>
            <a:pPr>
              <a:spcAft>
                <a:spcPts val="1400"/>
              </a:spcAft>
              <a:defRPr b="1" sz="3200">
                <a:solidFill>
                  <a:srgbClr val="F8FAFC"/>
                </a:solidFill>
              </a:defRPr>
            </a:pPr>
            <a:r>
              <a:t>Virtual LANs (VLAN - IEEE 802.1Q)</a:t>
            </a:r>
          </a:p>
          <a:p>
            <a:pPr>
              <a:spcAft>
                <a:spcPts val="2800"/>
              </a:spcAft>
              <a:defRPr sz="1700">
                <a:solidFill>
                  <a:srgbClr val="94A3B8"/>
                </a:solidFill>
              </a:defRPr>
            </a:pPr>
            <a:r>
              <a:t>Broadcast Domain Segmentation, IEEE 802.1Q Frame Tagging, Trunk Ports vs Access Ports &amp; Inter-VLAN Routing</a:t>
            </a:r>
          </a:p>
          <a:p>
            <a:pPr>
              <a:defRPr b="1" sz="1300">
                <a:solidFill>
                  <a:srgbClr val="E2E8F0"/>
                </a:solidFill>
              </a:defRPr>
            </a:pPr>
            <a:r>
              <a:t>Prepared by: Prof. Anju Markose | Assistant Professor, Dept. of CSE | VJCET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Viswajyothi College of Engineering and Technology (VJCET), Vazhakulam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3.5V.1 VLAN Motivation &amp; IEEE 802.1Q Tagging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M3.5V VLAN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VLAN Concept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Logically segments a single physical switch infrastructure into multiple isolated broadcast domains, improving security, traffic management, and bandwidth efficiency.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Access Ports vs Trunk Ports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Access Ports: Connect to end devices (PCs, printers); belong to a single VLAN and carry standard untagged Ethernet frames. Trunk Ports: Connect switch-to-switch or switch-to-router; carry multiplexed traffic for multiple VLANs using 802.1Q tags.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IEEE 802.1Q Tag (4 Bytes)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Inserted between Source MAC and Type/Length fields of standard Ethernet frame.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Tag Fields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TPID (Tag Protocol ID: 16b = `0x8100`), Priority Code Point (PCP: 3b QoS), DEI (Drop Eligible: 1b), and VLAN ID (VID: 12 bits = 4094 possible VLANs).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28016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500">
                <a:solidFill>
                  <a:srgbClr val="0E7490"/>
                </a:solidFill>
              </a:defRPr>
            </a:pPr>
            <a:r>
              <a:t>802.1Q Tag Format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Tag Size: 4 Bytes (32 bits)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TPID: 0x8100 (16 bits)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Priority (PCP): 3 bits (802.1p)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VLAN ID: 12 bits (1 to 4094)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Trunking: Carries tagged traffic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3.5V.2 Inter-VLAN Routing Architectures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M3.5V INTER-VLAN ROUTING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Need for Layer 3 Routing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Hosts in different VLANs cannot communicate at Layer 2 even if connected to the same physical switch. Communication requires a Layer 3 routing device.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Router-on-a-Stick (ROAS)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Single physical router interface connected to switch trunk port. Divided into logical sub-interfaces (e.g. `eth0.10`, `eth0.20`), each configured with the default gateway IP for its respective VLAN.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Layer 3 Switches (Multilayer Switching)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High-performance switch with built-in hardware ASIC IP routing. Switch Virtual Interfaces (SVIs: `interface vlan 10`) provide wirespeed line-rate Inter-VLAN forwarding without external router bottlenecks.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28016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500">
                <a:solidFill>
                  <a:srgbClr val="0E7490"/>
                </a:solidFill>
              </a:defRPr>
            </a:pPr>
            <a:r>
              <a:t>Inter-VLAN Methods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Legacy: Dedicated router port per VLAN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Router-on-a-Stick: 802.1Q sub-interfaces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Layer 3 Switch: SVI hardware routing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Separates broadcast, secures subnets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188720"/>
            <a:ext cx="164592" cy="44805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0"/>
            <a:ext cx="100584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300">
                <a:solidFill>
                  <a:srgbClr val="D97706"/>
                </a:solidFill>
              </a:defRPr>
            </a:pPr>
            <a:r>
              <a:t>PCCST501 Computer Networks | KTU 2024 Scheme • MODULE 3 • M3.6</a:t>
            </a:r>
          </a:p>
          <a:p>
            <a:pPr>
              <a:spcAft>
                <a:spcPts val="1400"/>
              </a:spcAft>
              <a:defRPr b="1" sz="3200">
                <a:solidFill>
                  <a:srgbClr val="F8FAFC"/>
                </a:solidFill>
              </a:defRPr>
            </a:pPr>
            <a:r>
              <a:t>Connecting Devices &amp; Domain Segmentation</a:t>
            </a:r>
          </a:p>
          <a:p>
            <a:pPr>
              <a:spcAft>
                <a:spcPts val="2800"/>
              </a:spcAft>
              <a:defRPr sz="1700">
                <a:solidFill>
                  <a:srgbClr val="94A3B8"/>
                </a:solidFill>
              </a:defRPr>
            </a:pPr>
            <a:r>
              <a:t>Repeaters, Hubs, Bridges, Layer 2 Learning Switches, Routers &amp; Collision vs Broadcast Domain Analysis</a:t>
            </a:r>
          </a:p>
          <a:p>
            <a:pPr>
              <a:defRPr b="1" sz="1300">
                <a:solidFill>
                  <a:srgbClr val="E2E8F0"/>
                </a:solidFill>
              </a:defRPr>
            </a:pPr>
            <a:r>
              <a:t>Prepared by: Prof. Anju Markose | Assistant Professor, Dept. of CSE | VJCET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Viswajyothi College of Engineering and Technology (VJCET), Vazhakulam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3.6.1 Connecting Devices Classification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M3.6 CONNECTING DEVICES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Physical Layer (L1): Repeaters &amp; Hubs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Regenerate/amplify electrical signals and broadcast bits to all ports. Single Collision Domain &amp; Single Broadcast Domain.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Data Link Layer (L2): Bridges &amp; Switches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Forward frames based on 48-bit MAC address tables. Break network into separate Collision Domains per port while maintaining a Single Broadcast Domain.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Learning Switch Algorithm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Switch inspects Source MAC of incoming frame to update `(MAC, Port, TTL)` table. If Destination MAC is in table $\implies$ selective forward to specific port; if destination unknown/broadcast $\implies$ flood to all ports except incoming.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Network Layer (L3): Routers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Forward packets based on 32-bit/128-bit IP addresses. Break network into separate Collision Domains AND separate Broadcast Domains.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28016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500">
                <a:solidFill>
                  <a:srgbClr val="0E7490"/>
                </a:solidFill>
              </a:defRPr>
            </a:pPr>
            <a:r>
              <a:t>Device Hierarchy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L1 Hub: Bit repeater (dumb)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L2 Switch: Frame filter (MAC)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L3 Router: Packet forwarder (IP)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L7 Gateway: Protocol translation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3.6.2 Collision Domains vs Broadcast Domains Matrix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M3.6 DOMAIN ANALYSIS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521208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F1E4A"/>
                </a:solidFill>
              </a:defRPr>
            </a:pPr>
            <a:r>
              <a:t>Collision Domain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Definition: Network segment where simultaneous transmissions cause physical signal collision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Hub / Repeater: Entire hub is 1 single collision domain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Layer 2 Switch: Each individual switch port is an isolated collision domain ($N$ ports = $N$ domains)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Router: Each router interface is an isolated collision domain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Full-Duplex Switch: Zero collisions occur in full-duplex switch links!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280160"/>
            <a:ext cx="5212080" cy="484632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0F1E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41732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E7490"/>
                </a:solidFill>
              </a:defRPr>
            </a:pPr>
            <a:r>
              <a:t>Broadcast Domain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Definition: Network segment reached by an L2 broadcast frame (`FF:FF:FF:FF:FF:FF`)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Hub / Switch: All connected ports belong to 1 single broadcast domain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Switch with VLANs: Each configured VLAN forms an isolated broadcast domain ($M$ VLANs = $M$ domains)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Router: Routers block L2 broadcasts by default; each router interface is a separate broadcast domain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188720"/>
            <a:ext cx="164592" cy="44805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0"/>
            <a:ext cx="100584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300">
                <a:solidFill>
                  <a:srgbClr val="D97706"/>
                </a:solidFill>
              </a:defRPr>
            </a:pPr>
            <a:r>
              <a:t>PCCST501 Computer Networks | KTU 2024 Scheme • MODULE 3 • M3.7</a:t>
            </a:r>
          </a:p>
          <a:p>
            <a:pPr>
              <a:spcAft>
                <a:spcPts val="1400"/>
              </a:spcAft>
              <a:defRPr b="1" sz="3200">
                <a:solidFill>
                  <a:srgbClr val="F8FAFC"/>
                </a:solidFill>
              </a:defRPr>
            </a:pPr>
            <a:r>
              <a:t>Wireless LANs (IEEE 802.11 Wi-Fi)</a:t>
            </a:r>
          </a:p>
          <a:p>
            <a:pPr>
              <a:spcAft>
                <a:spcPts val="2800"/>
              </a:spcAft>
              <a:defRPr sz="1700">
                <a:solidFill>
                  <a:srgbClr val="94A3B8"/>
                </a:solidFill>
              </a:defRPr>
            </a:pPr>
            <a:r>
              <a:t>Architecture (BSS, ESS, AP), CSMA/CA Protocol, NAV, IFS, Hidden/Exposed Terminals, RTS/CTS &amp; Wi-Fi Standards</a:t>
            </a:r>
          </a:p>
          <a:p>
            <a:pPr>
              <a:defRPr b="1" sz="1300">
                <a:solidFill>
                  <a:srgbClr val="E2E8F0"/>
                </a:solidFill>
              </a:defRPr>
            </a:pPr>
            <a:r>
              <a:t>Prepared by: Prof. Anju Markose | Assistant Professor, Dept. of CSE | VJCET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Viswajyothi College of Engineering and Technology (VJCET), Vazhakulam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3.7.1 IEEE 802.11 Wi-Fi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M3.7 802.11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Basic Service Set (BSS)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Building block of 802.11. Consists of wireless stations. Infrastructure BSS includes a central Access Point (AP); Ad-hoc / IBSS has peer-to-peer communication without an AP.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Extended Service Set (ESS)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Two or more BSSs interconnected by a wired Distribution System (DS / Ethernet switch backbone) sharing a common SSID, enabling seamless mobile client roaming.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Service Set Identifier (SSID)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Human-readable name of the wireless network (up to 32 characters) advertised in Periodic Beacon frames by APs.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BSSID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The 48-bit MAC address of the Access Point's wireless radio interface.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28016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500">
                <a:solidFill>
                  <a:srgbClr val="0E7490"/>
                </a:solidFill>
              </a:defRPr>
            </a:pPr>
            <a:r>
              <a:t>Wi-Fi Topologies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Infrastructure Mode: With AP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Ad-hoc Mode: Peer-to-peer (IBSS)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ESS: Multiple APs on wired DS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SSID: Network broadcast name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BSSID: 48-bit AP MAC address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3.7.2 CSMA/CA &amp; Inter-Frame Spaces (IFS)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M3.7 CSMA/CA &amp; IFS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Why CSMA/CD Fails in Wireless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1. Wireless radios cannot transmit and receive simultaneously on same channel (half-duplex). 2. Signal attenuation makes collision detection impossible at sender $\implies$ Wi-Fi uses Collision AVOIDANCE (CSMA/CA).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CSMA/CA Protocol Flow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Station senses medium. If idle for DIFS, it selects random backoff slot count. Decrements counter while medium idle. Transmits when counter reaches 0. Receiver sends ACK after SIFS.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Inter-Frame Spaces (IFS Hierarchy)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SIFS (Short IFS - highest priority for ACKs/CTS) &lt; PIFS (PCF IFS) &lt; DIFS (DCF IFS - standard data frames).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Network Allocation Vector (NAV)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Virtual carrier sensing. Frames carry a `Duration` field. Stations hearing duration set their internal NAV timer and refrain from transmitting until NAV expires.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28016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500">
                <a:solidFill>
                  <a:srgbClr val="0E7490"/>
                </a:solidFill>
              </a:defRPr>
            </a:pPr>
            <a:r>
              <a:t>IFS Priority Hierarchy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1. SIFS: Lowest delay (ACK / CTS)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2. PIFS: Medium delay (Polling)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3. DIFS: Highest delay (Data frames)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NAV: Virtual countdown timer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Exponential Contention Window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3.7.3 Hidden vs Exposed Terminals &amp; RTS/CTS Handshake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M3.7 RTS/CTS MECHANISM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521208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F1E4A"/>
                </a:solidFill>
              </a:defRPr>
            </a:pPr>
            <a:r>
              <a:t>Hidden Terminal Problem (Solved by RTS/CTS)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Scenario: Station A and C both communicate with AP B, but A and C cannot hear each other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Problem: Simultaneous transmissions from A and C collide at B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Solution: A sends RTS $\to$ B replies with CTS (heard by C) $\to$ C sets NAV and stays silent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Handshake: RTS (20B) $\to$ CTS (14B) $\to$ DATA $\to$ ACK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280160"/>
            <a:ext cx="5212080" cy="484632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0F1E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41732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E7490"/>
                </a:solidFill>
              </a:defRPr>
            </a:pPr>
            <a:r>
              <a:t>Exposed Terminal Problem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Scenario: B transmits to A; C wants to transmit to D (outside B's range)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Problem: C senses carrier from B and unnecessarily delays transmitting to D even though no collision would occur at A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Resolution: Directional antennas or spatial reuse techniques in modern Wi-Fi 6 (BSS Coloring)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188720"/>
            <a:ext cx="164592" cy="44805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0"/>
            <a:ext cx="100584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300">
                <a:solidFill>
                  <a:srgbClr val="D97706"/>
                </a:solidFill>
              </a:defRPr>
            </a:pPr>
            <a:r>
              <a:t>PCCST501 Computer Networks | KTU 2024 Scheme • MODULE 3 • M3.8</a:t>
            </a:r>
          </a:p>
          <a:p>
            <a:pPr>
              <a:spcAft>
                <a:spcPts val="1400"/>
              </a:spcAft>
              <a:defRPr b="1" sz="3200">
                <a:solidFill>
                  <a:srgbClr val="F8FAFC"/>
                </a:solidFill>
              </a:defRPr>
            </a:pPr>
            <a:r>
              <a:t>Mobile IP Architecture</a:t>
            </a:r>
          </a:p>
          <a:p>
            <a:pPr>
              <a:spcAft>
                <a:spcPts val="2800"/>
              </a:spcAft>
              <a:defRPr sz="1700">
                <a:solidFill>
                  <a:srgbClr val="94A3B8"/>
                </a:solidFill>
              </a:defRPr>
            </a:pPr>
            <a:r>
              <a:t>Entities (MN, HA, FA), Home Address vs Care-of Address, Agent Discovery, Triangle Routing &amp; Route Optimization</a:t>
            </a:r>
          </a:p>
          <a:p>
            <a:pPr>
              <a:defRPr b="1" sz="1300">
                <a:solidFill>
                  <a:srgbClr val="E2E8F0"/>
                </a:solidFill>
              </a:defRPr>
            </a:pPr>
            <a:r>
              <a:t>Prepared by: Prof. Anju Markose | Assistant Professor, Dept. of CSE | VJCET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Viswajyothi College of Engineering and Technology (VJCET), Vazhakulam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3.8.1 Mobile IP Entities &amp; Addressing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M3.8 MOBILE IP ENTITIES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Mobile IP (RFC 5944)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Allows mobile devices (Mobile Nodes) to change their point of attachment to the Internet without changing their static IP address, preserving active TCP connections.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Mobile Node (MN)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End system that moves across subnets (e.g. smartphone moving between Wi-Fi and 5G).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Home Agent (HA)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Router on the Mobile Node's home network that tunnels packets to the MN when it is away from home.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Foreign Agent (FA)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Router on the visited foreign network that assists the MN in receiving packets and provides a Care-of Address (COA).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Two IP Addresses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Permanent Home Address (static IP identifying MN) and Temporary Care-of Address (COA identifying current location).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28016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500">
                <a:solidFill>
                  <a:srgbClr val="0E7490"/>
                </a:solidFill>
              </a:defRPr>
            </a:pPr>
            <a:r>
              <a:t>Mobile IP Terminology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MN: Mobile Node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HA: Home Agent router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FA: Foreign Agent router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Home Address: Permanent static IP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COA: Temporary location address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3.8.2 Triangle Routing &amp; Encapsulation Tunneling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M3.8 TRIANGLE ROUTING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Agent Discovery &amp; Registration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Foreign Agents broadcast periodic Agent Advertisements. MN registers its new COA with Home Agent via Registration Request.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Triangle Routing Mechanism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1. Correspondent Node (CN) sends packet to MN's Home Address. 2. Home Agent intercepts packet. 3. HA encapsulates packet inside a new IP header (`Dst = COA`) [IP-in-IP Tunneling]. 4. FA decapsulates packet and delivers to MN. 5. MN replies directly to CN.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Inefficiency of Triangle Routing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Packets travel an indirect triangular path through the Home Agent even if CN and MN are on adjacent networks, adding propagation delay.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Route Optimization Solution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HA sends a Binding Update to CN containing MN's current COA, allowing CN to tunnel future packets directly to MN's COA.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28016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500">
                <a:solidFill>
                  <a:srgbClr val="0E7490"/>
                </a:solidFill>
              </a:defRPr>
            </a:pPr>
            <a:r>
              <a:t>Key Takeaways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IP-in-IP Encapsulation Tunneling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Triangle Path: CN -&gt; HA -&gt; FA -&gt; MN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Direct Reply: MN -&gt; CN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Binding Update: Eliminates triangle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188720"/>
            <a:ext cx="164592" cy="44805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0"/>
            <a:ext cx="100584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300">
                <a:solidFill>
                  <a:srgbClr val="D97706"/>
                </a:solidFill>
              </a:defRPr>
            </a:pPr>
            <a:r>
              <a:t>PCCST501 Computer Networks | KTU 2024 Scheme • MODULE 3 • M3.9</a:t>
            </a:r>
          </a:p>
          <a:p>
            <a:pPr>
              <a:spcAft>
                <a:spcPts val="1400"/>
              </a:spcAft>
              <a:defRPr b="1" sz="3200">
                <a:solidFill>
                  <a:srgbClr val="F8FAFC"/>
                </a:solidFill>
              </a:defRPr>
            </a:pPr>
            <a:r>
              <a:t>Linux Raw Socket Link Layer Programming</a:t>
            </a:r>
          </a:p>
          <a:p>
            <a:pPr>
              <a:spcAft>
                <a:spcPts val="2800"/>
              </a:spcAft>
              <a:defRPr sz="1700">
                <a:solidFill>
                  <a:srgbClr val="94A3B8"/>
                </a:solidFill>
              </a:defRPr>
            </a:pPr>
            <a:r>
              <a:t>Datalink Provider Interface, SOCK_PACKET vs PF_PACKET, struct sockaddr_ll &amp; Custom Frame Sniffing</a:t>
            </a:r>
          </a:p>
          <a:p>
            <a:pPr>
              <a:defRPr b="1" sz="1300">
                <a:solidFill>
                  <a:srgbClr val="E2E8F0"/>
                </a:solidFill>
              </a:defRPr>
            </a:pPr>
            <a:r>
              <a:t>Prepared by: Prof. Anju Markose | Assistant Professor, Dept. of CSE | VJCET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Viswajyothi College of Engineering and Technology (VJCET), Vazhakulam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3.9.1 Linux Raw Sockets &amp; PF_PACKET Interface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M3.9 LINUX RAW SOCKETS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Link-Layer Direct Access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Standard sockets operate at L4/L3. Link-layer raw sockets allow application programs to send and receive raw L2 Ethernet frames directly bypassing kernel IP stack.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Legacy `SOCK_PACKET` vs Modern `PF_PACKET`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`SOCK_PACKET` (Linux 2.0) passed device name in `sockaddr`. Replaced in modern Linux by `socket(PF_PACKET, SOCK_RAW, htons(ETH_P_ALL))` which provides cleaner device binding and hardware header access.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`struct sockaddr_ll` Structure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Socket address struct for link layer: `sll_family = AF_PACKET`, `sll_protocol = htons(ETH_P_ALL)`, `sll_ifindex` (interface index), `sll_hatype` (ARP hardware type), `sll_addr` (MAC address bytes).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Promiscuous Mode Sniffing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NIC configured with `IFF_PROMISC` flag captures ALL frames traversing the physical wire regardless of Destination MAC (used by Wireshark/tcpdump).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28016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500">
                <a:solidFill>
                  <a:srgbClr val="0E7490"/>
                </a:solidFill>
              </a:defRPr>
            </a:pPr>
            <a:r>
              <a:t>Hands-on Code Snip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s = socket(PF_PACKET, SOCK_RAW, htons(ETH_P_ALL));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recvfrom(s, buffer, 2048, 0, NULL, NULL);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struct ethhdr *eth = (struct ethhdr*)buffer;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All KTU CO4 Topics Covered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188720"/>
            <a:ext cx="164592" cy="44805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0"/>
            <a:ext cx="100584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300">
                <a:solidFill>
                  <a:srgbClr val="D97706"/>
                </a:solidFill>
              </a:defRPr>
            </a:pPr>
            <a:r>
              <a:t>PCCST501 Computer Networks | KTU 2024 Scheme • MODULE 4 COMPLETE • MODULE 4</a:t>
            </a:r>
          </a:p>
          <a:p>
            <a:pPr>
              <a:spcAft>
                <a:spcPts val="1400"/>
              </a:spcAft>
              <a:defRPr b="1" sz="3200">
                <a:solidFill>
                  <a:srgbClr val="F8FAFC"/>
                </a:solidFill>
              </a:defRPr>
            </a:pPr>
            <a:r>
              <a:t>Network Management &amp; Physical Layer Fundamentals</a:t>
            </a:r>
          </a:p>
          <a:p>
            <a:pPr>
              <a:spcAft>
                <a:spcPts val="2800"/>
              </a:spcAft>
              <a:defRPr sz="1700">
                <a:solidFill>
                  <a:srgbClr val="94A3B8"/>
                </a:solidFill>
              </a:defRPr>
            </a:pPr>
            <a:r>
              <a:t>Complete Lecture &amp; Revision Master Deck (M4.1 to M4.6)</a:t>
            </a:r>
          </a:p>
          <a:p>
            <a:pPr>
              <a:defRPr b="1" sz="1300">
                <a:solidFill>
                  <a:srgbClr val="E2E8F0"/>
                </a:solidFill>
              </a:defRPr>
            </a:pPr>
            <a:r>
              <a:t>Prepared by: Prof. Anju Markose | Assistant Professor, Dept. of CSE | VJCET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Viswajyothi College of Engineering and Technology (VJCET), Vazhakulam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188720"/>
            <a:ext cx="164592" cy="44805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0"/>
            <a:ext cx="100584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300">
                <a:solidFill>
                  <a:srgbClr val="D97706"/>
                </a:solidFill>
              </a:defRPr>
            </a:pPr>
            <a:r>
              <a:t>PCCST501 Computer Networks | KTU 2024 Scheme • MODULE 4 • M4.1</a:t>
            </a:r>
          </a:p>
          <a:p>
            <a:pPr>
              <a:spcAft>
                <a:spcPts val="1400"/>
              </a:spcAft>
              <a:defRPr b="1" sz="3200">
                <a:solidFill>
                  <a:srgbClr val="F8FAFC"/>
                </a:solidFill>
              </a:defRPr>
            </a:pPr>
            <a:r>
              <a:t>Network Management &amp; SNMP Architecture</a:t>
            </a:r>
          </a:p>
          <a:p>
            <a:pPr>
              <a:spcAft>
                <a:spcPts val="2800"/>
              </a:spcAft>
              <a:defRPr sz="1700">
                <a:solidFill>
                  <a:srgbClr val="94A3B8"/>
                </a:solidFill>
              </a:defRPr>
            </a:pPr>
            <a:r>
              <a:t>Framework Components (NMS, Agent, MIB), SNMP Protocol Operations (UDP 161/162), Evolution: SNMPv1 vs SNMPv2c vs SNMPv3</a:t>
            </a:r>
          </a:p>
          <a:p>
            <a:pPr>
              <a:defRPr b="1" sz="1300">
                <a:solidFill>
                  <a:srgbClr val="E2E8F0"/>
                </a:solidFill>
              </a:defRPr>
            </a:pPr>
            <a:r>
              <a:t>Prepared by: Prof. Anju Markose | Assistant Professor, Dept. of CSE | VJCET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Viswajyothi College of Engineering and Technology (VJCET), Vazhakulam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4.1.1 Network Management Framework Components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M4.1 SNMP FRAMEWORK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Network Management Framework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Consists of 4 fundamental components: Managing Entity, Managed Devices, Management Agents, and Management Information Base.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Managing Entity (NMS - Network Management System)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Central workstation executing network management applications. Polls agents, receives alerts, and presents graphical dashboards.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Managed Device &amp; Agent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Routers, switches, servers running an SNMP Management Agent software module that collects local operational metrics and executes configuration commands.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Management Information Base (MIB)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Hierarchical structured collection of managed object variables maintained inside each device (e.g., packets transmitted, CPU utilization, interface status).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UDP Port Protocol Transport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SNMP Manager sends requests to Agent on UDP Port 161; Agent sends unsolicited alerts (Traps) to Manager on UDP Port 162.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28016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500">
                <a:solidFill>
                  <a:srgbClr val="0E7490"/>
                </a:solidFill>
              </a:defRPr>
            </a:pPr>
            <a:r>
              <a:t>SNMP Core Elements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NMS: Central manager console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Agent: Software on managed node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MIB: Device database variables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Port 161 UDP: Requests (Get/Set)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Port 162 UDP: Alerts (Traps/Inform)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4.1.2 SNMP Protocol Operations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M4.1 SNMP OPERATIONS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`GetRequest`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Manager requests value of one or more specific MIB variables by OID from Agent.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`GetNextRequest`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Manager requests value of lexicographically next object in MIB tree (used for table traversal / walk).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`GetBulkRequest` (SNMPv2/v3)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Manager efficiently fetches large blocks of tabular data in a single PDU response, minimizing network roundtrips.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`SetRequest`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Manager writes a new value to a MIB variable to reconfigure device state (e.g. enable/disable an interface).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`Response`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Agent replies to Manager with requested data values or error status.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`Trap` (Unsolicited Alert)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Agent proactively sends alert to NMS reporting an asynchronous critical event (e.g. link down, power supply failure, authentication failure). Unacknowledged.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`InformRequest` (SNMPv2/v3)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Manager-to-Manager or Agent-to-Manager acknowledged trap.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28016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500">
                <a:solidFill>
                  <a:srgbClr val="0E7490"/>
                </a:solidFill>
              </a:defRPr>
            </a:pPr>
            <a:r>
              <a:t>Operation Summary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GetRequest: Fetch variable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GetNextRequest: Tree traversal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GetBulkRequest: Table retrieval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SetRequest: Modify configuration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Trap: Unsolicited async event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InformRequest: Acknowledged trap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4.1.3 Evolution of SNMP: SNMPv1 vs SNMPv2c vs SNMPv3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M4.1 SNMP EVOLUTION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521208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F1E4A"/>
                </a:solidFill>
              </a:defRPr>
            </a:pPr>
            <a:r>
              <a:t>SNMPv1 &amp; SNMPv2c (Legacy)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Authentication: Plaintext Community Strings (`public` for read, `private` for write) transmitted in cleartext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Security: Vulnerable to packet sniffing, replay attacks, and unauthorized configuration modification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Data Types: v1: 32-bit counters only (rollover in 34s on 1 Gbps links!). v2c: Added 64-bit counters (`Counter64`) &amp; `GetBulkRequest`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280160"/>
            <a:ext cx="5212080" cy="484632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0F1E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41732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E7490"/>
                </a:solidFill>
              </a:defRPr>
            </a:pPr>
            <a:r>
              <a:t>SNMPv3 (Modern Standard - RFC 3411)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User-based Security Model (USM): Provides Message Integrity (HMAC-MD5/SHA) and Confidentiality (DES/AES-128/256 payload encryption)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View-based Access Control (VACM): Defines granular read/write access permissions per user group for specific MIB subtrees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Anti-Replay: Timestamps and boot counters prevent replaying captured SNMP packets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188720"/>
            <a:ext cx="164592" cy="44805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0"/>
            <a:ext cx="100584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300">
                <a:solidFill>
                  <a:srgbClr val="D97706"/>
                </a:solidFill>
              </a:defRPr>
            </a:pPr>
            <a:r>
              <a:t>PCCST501 Computer Networks | KTU 2024 Scheme • MODULE 4 • M4.2</a:t>
            </a:r>
          </a:p>
          <a:p>
            <a:pPr>
              <a:spcAft>
                <a:spcPts val="1400"/>
              </a:spcAft>
              <a:defRPr b="1" sz="3200">
                <a:solidFill>
                  <a:srgbClr val="F8FAFC"/>
                </a:solidFill>
              </a:defRPr>
            </a:pPr>
            <a:r>
              <a:t>Abstract Syntax Notation One (ASN.1) &amp; MIB-2</a:t>
            </a:r>
          </a:p>
          <a:p>
            <a:pPr>
              <a:spcAft>
                <a:spcPts val="2800"/>
              </a:spcAft>
              <a:defRPr sz="1700">
                <a:solidFill>
                  <a:srgbClr val="94A3B8"/>
                </a:solidFill>
              </a:defRPr>
            </a:pPr>
            <a:r>
              <a:t>ASN.1 Data Types, Basic Encoding Rules (BER) Tag-Length-Value Format, MIB-2 Tree Hierarchy &amp; OID Structure</a:t>
            </a:r>
          </a:p>
          <a:p>
            <a:pPr>
              <a:defRPr b="1" sz="1300">
                <a:solidFill>
                  <a:srgbClr val="E2E8F0"/>
                </a:solidFill>
              </a:defRPr>
            </a:pPr>
            <a:r>
              <a:t>Prepared by: Prof. Anju Markose | Assistant Professor, Dept. of CSE | VJCET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Viswajyothi College of Engineering and Technology (VJCET), Vazhakulam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4.2.1 ASN.1 Data Types &amp; BER Wire Encoding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M4.2 ASN.1 &amp; BER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Role of ASN.1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A formal, machine-independent language for specifying data types and structured messages independently of operating system hardware or byte-ordering conventions.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Primitive ASN.1 Data Types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`INTEGER` (signed integer), `OCTET STRING` (byte sequence), `OBJECT IDENTIFIER` (dotted OID path), `BOOLEAN` (True/False), `NULL` (empty placeholder).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Constructed ASN.1 Data Types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`SEQUENCE` (ordered list of different types - like a C struct), `SEQUENCE OF` (ordered list of same type - like an array).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Basic Encoding Rules (BER - TLV Format)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Serializes ASN.1 objects into wire bytes as `[Tag | Length | Value]`.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BER Example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Tag specifies data type (e.g. `0x02` for INTEGER), Length specifies payload byte count (e.g. `0x01`), Value contains actual data (e.g. `0x05` $\implies$ `02 01 05` encodes integer 5).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28016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500">
                <a:solidFill>
                  <a:srgbClr val="0E7490"/>
                </a:solidFill>
              </a:defRPr>
            </a:pPr>
            <a:r>
              <a:t>BER TLV Structure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Tag (Type): 1 Byte identifier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Length: Byte count of Value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Value: Actual binary payload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02 01 05: INTEGER 5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04 03 41 42 43: OCTET STRING 'ABC'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4.2.2 Management Information Base (MIB-2) Tree &amp; OIDs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M4.2 MIB-2 HIERARCHY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MIB-2 Tree Hierarchy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All managed objects are organized into a globally unique hierarchical tree identified by dotted numeric Object Identifiers (OIDs).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Standard Internet Root Path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`iso(1) . org(3) . dod(6) . internet(1) . mgmt(2) . mib-2(1)` = `1.3.6.1.2.1`.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Key MIB-2 Functional Groups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1. `system (1.3.6.1.2.1.1)`: Device name, description, uptime, contact.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2. `interfaces (1.3.6.1.2.1.2)`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Number of interfaces, interface speed, MTU, packet counters (`ifInOctets`, `ifOutOctets`).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3. `ip (1.3.6.1.2.1.4)` &amp; `tcp (1.3.6.1.2.1.6)`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IP routing table (`ipRouteTable`), forwarding counters, active TCP connection table (`tcpConnTable`).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28016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500">
                <a:solidFill>
                  <a:srgbClr val="0E7490"/>
                </a:solidFill>
              </a:defRPr>
            </a:pPr>
            <a:r>
              <a:t>Key MIB OIDs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sysDescr: 1.3.6.1.2.1.1.1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sysUpTime: 1.3.6.1.2.1.1.3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ifNumber: 1.3.6.1.2.1.2.1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ipForwarding: 1.3.6.1.2.1.4.1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Scalar append .0: sysDescr.0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188720"/>
            <a:ext cx="164592" cy="44805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0"/>
            <a:ext cx="100584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300">
                <a:solidFill>
                  <a:srgbClr val="D97706"/>
                </a:solidFill>
              </a:defRPr>
            </a:pPr>
            <a:r>
              <a:t>PCCST501 Computer Networks | KTU 2024 Scheme • MODULE 4 • M4.3</a:t>
            </a:r>
          </a:p>
          <a:p>
            <a:pPr>
              <a:spcAft>
                <a:spcPts val="1400"/>
              </a:spcAft>
              <a:defRPr b="1" sz="3200">
                <a:solidFill>
                  <a:srgbClr val="F8FAFC"/>
                </a:solidFill>
              </a:defRPr>
            </a:pPr>
            <a:r>
              <a:t>Physical Layer: Data, Signals &amp; Capacity Limits</a:t>
            </a:r>
          </a:p>
          <a:p>
            <a:pPr>
              <a:spcAft>
                <a:spcPts val="2800"/>
              </a:spcAft>
              <a:defRPr sz="1700">
                <a:solidFill>
                  <a:srgbClr val="94A3B8"/>
                </a:solidFill>
              </a:defRPr>
            </a:pPr>
            <a:r>
              <a:t>Analog vs Digital Signals, Fourier Decomposition, Transmission Impairments, Nyquist Bit Rate &amp; Shannon Capacity Theorem</a:t>
            </a:r>
          </a:p>
          <a:p>
            <a:pPr>
              <a:defRPr b="1" sz="1300">
                <a:solidFill>
                  <a:srgbClr val="E2E8F0"/>
                </a:solidFill>
              </a:defRPr>
            </a:pPr>
            <a:r>
              <a:t>Prepared by: Prof. Anju Markose | Assistant Professor, Dept. of CSE | VJCET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Viswajyothi College of Engineering and Technology (VJCET), Vazhakulam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4.3.1 Data, Signals &amp; Transmission Impairments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M4.3 SIGNALS &amp; IMPAIRMENTS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Analog vs Digital Signals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Analog: Continuous signal waveform over time with infinite voltage levels. Digital: Discrete discrete voltage levels representing binary 0s and 1s.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Fourier Harmonic Analysis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Any periodic composite signal can be decomposed into an infinite series of fundamental and harmonic sine waves: $s(t) = \frac{A_0}{2} + \sum [A_n \sin(2\pi n f t) + B_n \cos(2\pi n f t)]$.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Transmission Impairment 1: Attenuation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Loss of signal energy over transmission distance. Measured in decibels (dB): $\text{dB} = 10 \log_{10} \left( \frac{P_2}{P_1} \right)$ (Negative dB = signal loss). Compensated by amplifiers / repeaters.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Transmission Impairment 2: Distortion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Different harmonic frequency components travel at slightly different speeds in guided media, shifting relative phase and altering signal shape.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Transmission Impairment 3: Noise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Thermal noise (Johnson noise: $N = kTB$), Induced noise, Crosstalk (coupling between adjacent wires), Impulse noise (sudden spikes).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28016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500">
                <a:solidFill>
                  <a:srgbClr val="0E7490"/>
                </a:solidFill>
              </a:defRPr>
            </a:pPr>
            <a:r>
              <a:t>Decibel Formulas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Power: dB = 10 * log10(P2 / P1)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Voltage: dB = 20 * log10(V2 / V1)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Half power = -3 dB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10x power = +10 dB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100x power = +20 dB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4.3.2 Channel Capacity Limits: Nyquist vs Shannon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M4.3 THEORETICAL LIMITS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521208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F1E4A"/>
                </a:solidFill>
              </a:defRPr>
            </a:pPr>
            <a:r>
              <a:t>Nyquist Bit Rate (Noiseless Channel)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Condition: Ideal noiseless channel of bandwidth $B$ Hz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Signal Levels: $L$ distinct discrete signal voltage levels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Formula: $\text{Bit Rate} = 2 \times B \times \log_2(L) \text{ bps}$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Example: Bandwidth = 3000 Hz, $L = 2 \implies \text{Bit Rate} = 2 \times 3000 \times 1 = 6000 \text{ bps}$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Significance: Upper bound determined strictly by bandwidth and modulation levels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280160"/>
            <a:ext cx="5212080" cy="484632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0F1E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41732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E7490"/>
                </a:solidFill>
              </a:defRPr>
            </a:pPr>
            <a:r>
              <a:t>Shannon Capacity Theorem (Noisy Channel)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Condition: Real-world physical channel with Gaussian thermal noise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Signal-to-Noise: $\text{SNR} = \frac{\text{Signal Power}}{\text{Noise Power}}$ (Linear scale)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Formula: $\text{Capacity } C = B \times \log_2(1 + \text{SNR}) \text{ bps}$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Example: $B = 3000\text{ Hz}, \text{SNR}_{\text{dB}} = 30\text{ dB} \implies \text{SNR} = 1000$ $\implies C = 3000 \times \log_2(1001) \approx 29,887\text{ bps}$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Significance: Absolute theoretical upper bound regardless of signal levels $L$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188720"/>
            <a:ext cx="164592" cy="44805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0"/>
            <a:ext cx="100584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300">
                <a:solidFill>
                  <a:srgbClr val="D97706"/>
                </a:solidFill>
              </a:defRPr>
            </a:pPr>
            <a:r>
              <a:t>PCCST501 Computer Networks | KTU 2024 Scheme • MODULE 4 • M4.4</a:t>
            </a:r>
          </a:p>
          <a:p>
            <a:pPr>
              <a:spcAft>
                <a:spcPts val="1400"/>
              </a:spcAft>
              <a:defRPr b="1" sz="3200">
                <a:solidFill>
                  <a:srgbClr val="F8FAFC"/>
                </a:solidFill>
              </a:defRPr>
            </a:pPr>
            <a:r>
              <a:t>Digital Transmission: Line Coding Techniques</a:t>
            </a:r>
          </a:p>
          <a:p>
            <a:pPr>
              <a:spcAft>
                <a:spcPts val="2800"/>
              </a:spcAft>
              <a:defRPr sz="1700">
                <a:solidFill>
                  <a:srgbClr val="94A3B8"/>
                </a:solidFill>
              </a:defRPr>
            </a:pPr>
            <a:r>
              <a:t>Baseband Transmission, Unipolar, Polar (NRZ-L, NRZ-I), Biphase (Manchester, Differential Manchester), Bipolar AMI &amp; Block Codes</a:t>
            </a:r>
          </a:p>
          <a:p>
            <a:pPr>
              <a:defRPr b="1" sz="1300">
                <a:solidFill>
                  <a:srgbClr val="E2E8F0"/>
                </a:solidFill>
              </a:defRPr>
            </a:pPr>
            <a:r>
              <a:t>Prepared by: Prof. Anju Markose | Assistant Professor, Dept. of CSE | VJCET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Viswajyothi College of Engineering and Technology (VJCET), Vazhakulam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4.4.1 NRZ vs Biphase Manchester Line Coding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M4.4 LINE CODING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521208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F1E4A"/>
                </a:solidFill>
              </a:defRPr>
            </a:pPr>
            <a:r>
              <a:t>NRZ (Non-Return-to-Zero)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NRZ-L (Level): Bit 0 = Positive voltage $+V$; Bit 1 = Negative voltage $-V$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NRZ-I (Invert): Bit 1 = Transition at bit beginning; Bit 0 = No transition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Drawback: Significant DC component; baseline wander; loss of synchronization on consecutive 0s or 1s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Bandwidth: Low bandwidth ($B = N / 2$)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280160"/>
            <a:ext cx="5212080" cy="484632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0F1E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41732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E7490"/>
                </a:solidFill>
              </a:defRPr>
            </a:pPr>
            <a:r>
              <a:t>Manchester &amp; Differential Manchester (Self-Clocking)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Manchester (IEEE 802.3): Bit 0 = High-to-Low mid-bit transition; Bit 1 = Low-to-High mid-bit transition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Diff Manchester (802.5): Always mid-bit transition for clocking. Bit 0 = Transition at bit start; Bit 1 = No transition at start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Advantage: Guaranteed mid-bit transition gives perfect receiver clock synchronization and ZERO DC bias!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Drawback: Requires DOUBLE bandwidth ($B = N$)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4.4.2 Bipolar AMI, Block Coding &amp; Scrambling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M4.4 BIPOLAR &amp; BLOCK CODES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Bipolar AMI (Alternate Mark Inversion)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Bit 0 = Zero volts ($0\text{V}$). Bit 1 = Alternating positive ($+V$) and negative ($-V$) voltages. Eliminates DC component entirely; provides basic error detection (violating polarity rule = error).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Loss of Sync on Zeros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Long strings of consecutive 0s produce continuous $0\text{V}$, causing receiver clock drift.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Scrambling (B8ZS &amp; HDB3)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B8ZS (North America T1): Replaces eight consecutive 0s with `000VB0VB` (where V=Bipolar Violation, B=Bipolar Rule). HDB3 (Europe E1): Replaces four consecutive 0s with `000V` or `B00V`.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Block Coding (4B/5B &amp; 8B/10B)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Converts 4-bit data nibbles into 5-bit codewords ensuring no more than three consecutive 0s ever occur, which are then transmitted using NRZ-I (Used in 100BASE-TX Fast Ethernet).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28016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500">
                <a:solidFill>
                  <a:srgbClr val="0E7490"/>
                </a:solidFill>
              </a:defRPr>
            </a:pPr>
            <a:r>
              <a:t>Line Coding Summary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NRZ: Simple, DC bias issue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Manchester: 802.3, self-clocking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AMI: Alternates +V/-V on 1s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B8ZS/HDB3: Scrambles long 0s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4B/5B: Guarantees clock sync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188720"/>
            <a:ext cx="164592" cy="44805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0"/>
            <a:ext cx="100584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300">
                <a:solidFill>
                  <a:srgbClr val="D97706"/>
                </a:solidFill>
              </a:defRPr>
            </a:pPr>
            <a:r>
              <a:t>PCCST501 Computer Networks | KTU 2024 Scheme • MODULE 4 • M4.5</a:t>
            </a:r>
          </a:p>
          <a:p>
            <a:pPr>
              <a:spcAft>
                <a:spcPts val="1400"/>
              </a:spcAft>
              <a:defRPr b="1" sz="3200">
                <a:solidFill>
                  <a:srgbClr val="F8FAFC"/>
                </a:solidFill>
              </a:defRPr>
            </a:pPr>
            <a:r>
              <a:t>Analog Transmission &amp; Bandwidth Utilization</a:t>
            </a:r>
          </a:p>
          <a:p>
            <a:pPr>
              <a:spcAft>
                <a:spcPts val="2800"/>
              </a:spcAft>
              <a:defRPr sz="1700">
                <a:solidFill>
                  <a:srgbClr val="94A3B8"/>
                </a:solidFill>
              </a:defRPr>
            </a:pPr>
            <a:r>
              <a:t>Digital-to-Analog Modulation (ASK, FSK, PSK, QAM), Multiplexing Techniques: FDM, WDM, Synchronous TDM &amp; Statistical TDM</a:t>
            </a:r>
          </a:p>
          <a:p>
            <a:pPr>
              <a:defRPr b="1" sz="1300">
                <a:solidFill>
                  <a:srgbClr val="E2E8F0"/>
                </a:solidFill>
              </a:defRPr>
            </a:pPr>
            <a:r>
              <a:t>Prepared by: Prof. Anju Markose | Assistant Professor, Dept. of CSE | VJCET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Viswajyothi College of Engineering and Technology (VJCET), Vazhakulam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4.5.1 Digital-to-Analog Modulation Techniques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M4.5 MODULATION METHODS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521208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F1E4A"/>
                </a:solidFill>
              </a:defRPr>
            </a:pPr>
            <a:r>
              <a:t>Basic Shift Keying (ASK, FSK, PSK)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ASK (Amplitude Shift Keying): Varies carrier amplitude: Bit 1 = High amplitude $A_1$; Bit 0 = Low amplitude $A_2$ (or 0 in OOK). Susceptible to noise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FSK (Frequency Shift Keying): Varies carrier frequency: Bit 1 = Frequency $f_1$; Bit 0 = Frequency $f_2$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BPSK (Binary Phase Shift Keying): Varies carrier phase: Bit 0 = $0^\circ$ phase; Bit 1 = $180^\circ$ phase. Highly robust against noise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QPSK (Quadrature PSK): Uses 4 phase angles ($45^\circ, 135^\circ, 225^\circ, 315^\circ$) to transmit 2 bits per signal baud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280160"/>
            <a:ext cx="5212080" cy="484632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0F1E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41732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E7490"/>
                </a:solidFill>
              </a:defRPr>
            </a:pPr>
            <a:r>
              <a:t>QAM (Quadrature Amplitude Modulation)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Concept: Combines Amplitude Shift Keying and Phase Shift Keying to pack multiple bits per baud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16-QAM: 16 constellation points $\implies 4 \text{ bits per baud}$ ($2^4 = 16$)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64-QAM / 256-QAM: 64 points (6 bits/baud) / 256 points (8 bits/baud); used in modern 4G/5G, Wi-Fi 6, and cable modems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Bandwidth Efficiency: Achieves massive bit rates over narrow RF channels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4.5.2 Multiplexing: FDM, WDM &amp; Time Division Multiplexing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M4.5 MULTIPLEXING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Bandwidth Utilization Goal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Combine multiple low-speed incoming data channels over a single high-capacity physical link.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Frequency Division Multiplexing (FDM)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Analog technique. Divides total link bandwidth into separate non-overlapping frequency carrier bands separated by Guard Bands (Used in Radio, Cable TV, ADSL).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Wavelength Division Multiplexing (WDM / DWDM)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Optical multiplexing over fiber. Multiplexes multiple laser beams of different light wavelengths (colors) into a single fiber strand (Dense WDM carries $&gt; 80$ channels of 100 Gbps each).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Synchronous Time Division Multiplexing (TDM)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Digital technique. Time divided into recurring frames; each frame contains fixed time slots pre-assigned to each input channel. Flaw: Wastes bandwidth if a channel has no data to send (idle slots).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Statistical TDM (Asynchronous TDM)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Time slots allocated dynamically on-demand only to active input channels carrying data. Eliminates wasted idle slots, dramatically increasing link utilization.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28016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500">
                <a:solidFill>
                  <a:srgbClr val="0E7490"/>
                </a:solidFill>
              </a:defRPr>
            </a:pPr>
            <a:r>
              <a:t>Multiplexing Summary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FDM: Analog frequency bands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WDM: Optical wavelengths in fiber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Sync TDM: Fixed pre-assigned slots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Stat TDM: Dynamic on-demand slots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Guard Bands: Prevent interference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188720"/>
            <a:ext cx="164592" cy="44805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0"/>
            <a:ext cx="100584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300">
                <a:solidFill>
                  <a:srgbClr val="D97706"/>
                </a:solidFill>
              </a:defRPr>
            </a:pPr>
            <a:r>
              <a:t>PCCST501 Computer Networks | KTU 2024 Scheme • MODULE 4 • M4.6</a:t>
            </a:r>
          </a:p>
          <a:p>
            <a:pPr>
              <a:spcAft>
                <a:spcPts val="1400"/>
              </a:spcAft>
              <a:defRPr b="1" sz="3200">
                <a:solidFill>
                  <a:srgbClr val="F8FAFC"/>
                </a:solidFill>
              </a:defRPr>
            </a:pPr>
            <a:r>
              <a:t>Transmission Media (Guided &amp; Unguided)</a:t>
            </a:r>
          </a:p>
          <a:p>
            <a:pPr>
              <a:spcAft>
                <a:spcPts val="2800"/>
              </a:spcAft>
              <a:defRPr sz="1700">
                <a:solidFill>
                  <a:srgbClr val="94A3B8"/>
                </a:solidFill>
              </a:defRPr>
            </a:pPr>
            <a:r>
              <a:t>Guided Media (Twisted Pair UTP/STP, Coaxial, Optical Fiber Single/Multi-mode TIR), Unguided Wireless &amp; Satellite Orbits</a:t>
            </a:r>
          </a:p>
          <a:p>
            <a:pPr>
              <a:defRPr b="1" sz="1300">
                <a:solidFill>
                  <a:srgbClr val="E2E8F0"/>
                </a:solidFill>
              </a:defRPr>
            </a:pPr>
            <a:r>
              <a:t>Prepared by: Prof. Anju Markose | Assistant Professor, Dept. of CSE | VJCET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Viswajyothi College of Engineering and Technology (VJCET), Vazhakulam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4.6.1 Guided Transmission Media: Copper vs Optical Fiber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M4.6 GUIDED MEDIA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521208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F1E4A"/>
                </a:solidFill>
              </a:defRPr>
            </a:pPr>
            <a:r>
              <a:t>Twisted Pair &amp; Coaxial Cable (Copper)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Unshielded Twisted Pair (UTP): Pairs twisted to cancel electromagnetic interference (EMI) and crosstalk. Cat 5e (1 Gbps / 100m), Cat 6/6A (10 Gbps / 55-100m). RJ-45 connector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Shielded Twisted Pair (STP): Metal foil braid per pair for harsh industrial environments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Coaxial Cable: Central copper conductor surrounded by dielectric insulation, metallic braided shield, and jacket. 50$\Omega$ Baseband / 75$\Omega$ Broadband Cable TV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280160"/>
            <a:ext cx="5212080" cy="484632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0F1E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41732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E7490"/>
                </a:solidFill>
              </a:defRPr>
            </a:pPr>
            <a:r>
              <a:t>Optical Fiber (Glass / Silica Core)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Propagation Principle: Total Internal Reflection (TIR) when light angle exceeds critical angle (Core refractive index $n_1 &gt;$ Cladding $n_2$)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Step-Index vs Graded-Index: Step-Index: Constant core index. Graded-Index: Parabolic index profile reduces modal dispersion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Single-Mode Fiber (SMF): Tiny core (8-10 $\mu$m); zero modal dispersion; laser source; reach &gt; 40 km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Multi-Mode Fiber (MMF): Larger core (50-62.5 $\mu$m); LED source; short reach (&lt; 2 km) inside LANs/data centers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Immense Advantages: Immense bandwidth, zero electromagnetic interference (EMI), complete electrical isolation, low attenuation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4.6.2 Unguided Media (Wireless) &amp; Satellite Orbits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M4.6 UNGUIDED &amp; SATELLITES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Radio Waves (3 kHz to 1 GHz)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Omnidirectional propagation (signals travel in all directions). Penetrates building walls easily. Used for AM/FM radio, cordless phones, and VHF television.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Microwaves (1 GHz to 300 GHz)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Directional line-of-sight propagation using parabolic dish antennas. Cannot penetrate walls effectively; subject to rain attenuation (Used for terrestrial towers, radar, satellite).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Infrared (300 GHz to 400 THz)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High-frequency line-of-sight; cannot penetrate solid walls (prevents eavesdropping). Used for short-range TV remotes and wireless peripherals.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Geostationary Earth Orbit (GEO ~35,786 km)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Orbital period matches Earth's rotation (24 hrs); fixed position above equator. High propagation delay (~250 ms one-way RTT $\approx 500$ ms).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Medium Earth Orbit (MEO ~2,000 to 20,000 km)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Used by GPS constellations (24 satellites at ~20,200 km).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Low Earth Orbit (LEO ~500 to 1,500 km)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Low propagation delay (~20-40 ms RTT); requires mega-constellations of thousands of satellites (e.g. Starlink, OneWeb).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28016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500">
                <a:solidFill>
                  <a:srgbClr val="0E7490"/>
                </a:solidFill>
              </a:defRPr>
            </a:pPr>
            <a:r>
              <a:t>Satellite Orbits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GEO: 35,786 km (High delay ~500ms)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MEO: 20,200 km (GPS navigation)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LEO: 500-1500 km (Low latency broadband)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All KTU CO5 Topics Covered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