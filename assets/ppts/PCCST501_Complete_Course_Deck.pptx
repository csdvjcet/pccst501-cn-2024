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PCCST501 MASTER • COMPLETE COURSE DECK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PCCST501 Computer Networks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KTU 2024 Scheme Curriculum • Modules 1 to 4 Complete Comprehensive Lecture Deck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MASTER • MODULE 1 MASTER DECK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Application Layer &amp; Internet Fundamentals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Complete Lecture Slides for KTU PCCST501 Computer Networks | Topics M1.1 through M1.9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M1.1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Overview of the Internet Architecture &amp; Performance Metrics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Network Edge, Network Core, Packet vs Circuit Switching, Delay Models, Queuing Loss &amp; Throughput Bottlenecks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1.1.1 The Internet: Structural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M1.1 INTERNET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The Internet: Network of Networks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vast, distributed interconnection of billions of heterogeneous computing devices (end systems / hosts) running networked software.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Network Edge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End systems (clients, servers, mobile, IoT devices) that generate and consume application data. Connected via Access Networks (DSL, FTTH, 4G/5G, Wi-Fi 6).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Network Core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mesh of interconnected packet switches (routers and link-layer switches) responsible for routing and forwarding data across global ISP tiers.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ISP Tier Hierarchy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Tier-1 ISPs (global transit providers like Lumen, AT&amp;T), connected via IXPs (Internet Exchange Points), supplying regional and local access ISPs.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Protocols &amp; Standards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Network protocols define message format, ordering, transmission rules, and error handling. Governed by IETF RFCs and IEEE standards.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Structural Layers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Tier-1 ISPs: Global backbone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IXPs: Free/peered routing exchange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Regional ISPs: Connect local access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Access Nets: DSL, PON/Fiber, Wireless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End Systems: Run user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1.1.2 Switching Paradigms: Packet vs Circuit Switching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M1.1 SWITCHING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Packet Switching (Internet)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Data Unit: Discrete chunks called packets (Header + Payload)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Multiplexing: Statistical Multiplexing — resources allocated on demand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Link Utilization: High efficiency; handles bursty internet traffic seamlessly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Delays &amp; Loss: Queuing delay occurs; buffers drop packets on congestion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State Maintenance: Stateless core routers; adaptive per-packet dynamic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Circuit Switching (Legacy PSTN)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Data Unit: Continuous bit stream over reserved physical channel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Multiplexing: Fixed allocation via FDM (Frequency) or TDM (Time) slots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Link Utilization: Low; reserved bandwidth wasted during idle/silent periods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Delays &amp; Loss: Zero queuing delay; calls blocked if no circuit available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State Maintenance: Dedicated call setup and teardown state in every switch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1.1.3 Mathematical Delay Models in Packet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M1.1 NODAL DELAY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Total Nodal Delay ($d_{nodal}$)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Sum of 4 fundamental delay components at each intermediate router hop: $d_{nodal} = d_{proc} + d_{queue} + d_{trans} + d_{prop}$.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Nodal Processing Delay ($d_{proc}$)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Time taken by router CPU to inspect packet header, compute bit checksums, and determine output interface (microseconds).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Queuing Delay ($d_{queue}$)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Time packet waits inside output buffer queue before transmission. Governed by Traffic Intensity $I = (L \cdot a) / R$ ($L$ = bits, $a$ = arrival rate, $R$ = bandwidth).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Transmission Delay ($d_{trans}$)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Time required to push all $L$ bits of the packet onto the link at rate $R$: $d_{trans} = L / R$ seconds.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Propagation Delay ($d_{prop}$)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Time for a physical bit to travel through the physical medium over distance $d$ at speed $s \approx 2 \times 10^8$ m/s in copper/fiber: $d_{prop} = d / s$ seconds.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Packet Loss &amp; Throughput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When arriving traffic exceeds buffer capacity, packet drop occurs. End-to-end throughput is bottlenecked by the minimum link capacity along the transmission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Delay Formulas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d_nodal = d_proc + d_queue + d_trans + d_prop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d_trans = L / R (sec)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d_prop = d / s (sec)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Traffic Intensity: I = (L * a) / 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If I -&gt; 1: Queuing delay -&gt; infinity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Bottleneck Throughput = min(R1, R2, ...)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1.1.4 Worked KTU Numerical: Delay &amp; Throughput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M1.1 WORKED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1500-byte packet is transmitted over a 100 km fiber link with transmission rate R = 10 Mbps. Propagation speed in fiber is s = 2 * 10^8 m/s. Nodal processing delay is 5 microseconds and the router queue currently holds 2 packets of 1500 bytes each. Calculate: (a) Transmission delay, (b) Propagation delay, (c) Queuing delay, (d) Total nodal delay.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L = 1500 bytes = 1500 * 8 = 12,000 bits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R = 10 Mbps = 10 * 10^6 bps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d = 100 km = 10^5 m, s = 2 * 10^8 m/s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d_trans = L / R, d_prop = d / s, d_queue = 2 * (L / 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d_trans = 12,000 / 10^7 = 1.2 * 10^-3 s = 1.2 ms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d_prop = 10^5 / (2 * 10^8) = 0.5 * 10^-3 s = 0.5 ms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d_queue = 2 * 1.2 ms = 2.4 ms (2 packets ahead in queue)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d_proc = 5 microseconds = 0.005 ms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d_nodal = 0.005 + 2.4 + 1.2 + 0.5 = 4.105 ms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Total Nodal Delay = 4.105 ms (Queuing delay is dominant)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In university exams, always convert bytes to bits (multiply by 8) before dividing by transmission rate R (bps).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Internet Architecture &amp; Delay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/ 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packet switching and circuit switching with respect to bandwidth utilization, delays, and state maintenance.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Derive the four components of nodal delay in packet-switched networks with mathematical equations and units.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statistical multiplexing and explain why traffic intensity I &gt; 1 causes buffer overflow and packet loss.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Packet switching enables statistical multiplexing without dedicated circuits.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Transmission delay (L/R) depends on bandwidth; Propagation delay (d/s) depends on distance.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Queuing delay grows non-linearly as traffic intensity I = (L*a)/R approaches 1.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End-to-end throughput is always throttled by the bottleneck link on the 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M1.2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Protocol Layering &amp; Network Models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Layering Principles, OSI 7-Layer Reference Model, TCP/IP 5-Layer Stack, PDU Encapsulation &amp; Addressing Hierarchy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1.2.1 Principles of Layered Network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M1.2 PROTOCOL LAYERING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Modularity &amp; Abstraction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Dividing the massive complexity of network communication into decoupled functional layers. Each layer provides well-defined services to the layer above.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Layer Independence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internal implementation of a layer protocol can be completely modified or replaced without affecting adjacent layers as long as the layer interface remains unchanged.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Encapsulation at Sender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Data moves top-down; each layer adds its own Protocol Header (and L2 adds a trailer) containing control metadata (addresses, sequence numbers, checksums).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Decapsulation at Receiver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Data moves bottom-up; each layer processes and strips its corresponding header, passing the demultiplexed payload to the upper layer.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Protocol Data Unit (PDU) Terminology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L5: Message (App) -&gt; L4: Segment (TCP) / Datagram (UDP) -&gt; L3: Packet / Datagram (IP) -&gt; L2: Frame (Ethernet/Wi-Fi) -&gt; L1: Raw Bit Stream.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Benefits of Layering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Simplifies system design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Standardizes interfaces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Enables multi-vendor hardware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Isolates layer troubleshooting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Facilitates protocol evolution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1.2.2 Comprehensive Architecture: OSI 7-Layer vs TCP/IP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M1.2 OSI VS TCP/IP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OSI 7-Layer Model (ISO Conceptual)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7. Application: User applications &amp; network services (HTTP, DNS)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6. Presentation: Data formatting, compression, encryption/decryption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5. Session: Dialog management, token coordination, checkpoints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4. Transport: End-to-end reliability, flow control, port addressing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3. Network: Logical host addressing (IP) &amp; packet routing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2. Data Link: Node-to-node frame transfer &amp; MAC error control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1. Physical: Unstructured bit transmission over raw copper/fiber/air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TCP/IP 5-Layer Internet Stack (Practical)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5. Application: Integrates OSI L7, L6, L5; protocols: HTTP, SMTP, DNS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4. Transport: Process-to-process multiplexing: TCP (reliable) &amp; UDP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3. Network (Internet): Host-to-host delivery across networks: IPv4, IPv6, ICMP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2. Data Link: Hardware framing, MAC addressing: Ethernet, 802.11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1. Physical: Signals, voltages, optical pulses, RF frequencies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1.2.3 Addressing Hierarchy &amp; PDU Encapsulation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M1.2 ADDRESSING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Application Layer Addressing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Uniform Resource Identifiers (URIs), Domain Names (FQDNs), and standardized Port Numbers.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Transport Layer Addressing (Port Numbers)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16-bit Port Number (0 - 65,535). Well-known ports (0-1023: HTTP 80, HTTPS 443, SSH 22), Registered (1024-49151), Dynamic/Private (49152-65535).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Network Layer Addressing (IP Addresses)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Logical 32-bit IPv4 or 128-bit IPv6 address used for global routing across subnets and autonomous systems.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Data Link Layer Addressing (MAC Addresses)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Physical 48-bit (6-byte) EUI-48 hardware address burned into the NIC (e.g., `00:1A:2B:3C:4D:5E`). Used strictly on the local link.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Cross-Layer Demultiplexing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L2 Frame Type field identifies L3 (IPv4 0x0800, ARP 0x0806) -&gt; L3 Protocol field identifies L4 (TCP 6, UDP 17) -&gt; L4 Port identifies L5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Addressing Summary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Process ID: 16-bit Port Number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Host ID: 32-bit / 128-bit IP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NIC ID: 48-bit MAC Address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L2 Type 0x0800 -&gt; IPv4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L3 Protocol 6 -&gt; TCP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L3 Protocol 17 -&gt; UDP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Protocol Layering &amp; Network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the OSI 7-Layer model with the TCP/IP 5-Layer stack. Explain why the Presentation and Session layers are merged in TCP/IP.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Illustrate the step-by-step PDU encapsulation and decapsulation process across all layers with a neat labeled diagram.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three-level addressing hierarchy (Port, IP, MAC) and describe how demultiplexing occurs at each layer.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OSI is a conceptual model; TCP/IP is the practical architecture implemented across the Internet.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Headers prepend metadata: Port at L4, IP at L3, MAC and CRC FCS trailer at L2.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L2 MAC changes at every router hop; L3 Source and Destination IP remain unchanged end-to-end (without NAT).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M1.3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Application Layer Paradigms &amp; Requirements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Client-Server vs P2P Architectures, Transport Service Needs (Integrity, Throughput, Timing, Security), Socket Interface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1.3.1 Application Paradigms: Client-Server vs P2P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M1.3 APPLICATION PARADIGMS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Client-Server Architecture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Centralized Server: Always-on host with fixed, well-known IP address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Client Behavior: Initiate requests on demand; clients do not speak to each other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Scalability Limit: Server upload capacity bottlenecks under massive simultaneous loads ($D_{CS} = \max\{N \cdot F / u_s, F / d_i\}$)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Infrastructure Cost: Requires massive data centers, load balancers, and CDN caching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Examples: Web (HTTP), Email (SMTP/IMAP), Remote Login (SSH)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Peer-to-Peer (P2P) Architecture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Decentralized Peers: Arbitrary end systems communicate directly without dedicated central servers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Self-Scalability: Peers are both consumers (downloaders) and producers (uploaders) of data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Scalability Formula: Distribution time grows logarithmically: $D_{P2P} = \max\{F / u_s, F / d_{min}, N \cdot F / (u_s + \sum u_i)\}$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Challenges: Churn (peers join/leave dynamically), security, ISP asymmetric bandwidth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Examples: BitTorrent, IPFS, Blockchain, Skype (original)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1.3.2 Transport Layer Service Requirements for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M1.3 TRANSPORT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Data Integrity / Reliability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Loss-intolerant applications (Web documents, file transfer, email, banking) require 100% reliable transport (TCP). Loss-tolerant applications (audio/video streaming, VoIP) can tolerate slight packet loss (UDP).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Throughput Guarantees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Bandwidth-sensitive applications (HD video streaming, real-time conferencing) need minimum throughput guarantees. Elastic applications (Email, Web, FTP) make use of whatever bandwidth is available.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Timing / Latency Guarantees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Interactive gaming and VoIP require tight upper bounds on end-to-end delay (e.g., &lt; 150 ms) to prevent human-perceptible lag.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Security &amp; Encryption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Application data privacy, server authentication, and message integrity provided via TLS (Transport Layer Security) running on top of TCP (e.g., HTTPS, SMTPS).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Transport Choice Mapping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TCP: HTTP/1.1 (80), HTTPS (443), FTP (20/21), SMTP (25), SSH (22). UDP: DNS (53), SNMP (161), RTP/RTSP, DHCP (67/68), QUIC/HTTP3 (443).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Service Classification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Reliability: TCP (Strict) vs UDP (Loss-tolerant)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Timing: Sensitive (VoIP) vs Elastic (Email/Web)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Security: TLS/SSL cryptographic wrapper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Multiplexing: 16-bit Port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Application Paradigms &amp;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Client-Server and Peer-to-Peer network paradigms with real-world examples.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Identify the transport service requirements (loss, throughput, timing, security) for HTTP, VoIP, DNS, and FTP.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how the socket interface acts as an API bridge between application-layer user processes and kernel transport protocols.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Client-Server has centralized control and fixed IP; P2P possesses self-scalability as each leecher becomes a seeder.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TCP provides 100% reliable byte-stream delivery with flow and congestion control.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UDP provides low-latency, lightweight datagram delivery without handshake or congestion throttling.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M1.4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World Wide Web &amp; HTTP Protocol Suite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HTTP/1.0, HTTP/1.1 (Persistent vs Non-Persistent, Pipelining), HTTP/2 (Binary Framing, Streams, Push), HTTP/3 (QUIC), Caching &amp; Cookies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1.4.1 HTTP Protocol Fundamentals &amp; Message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M1.4 HTTP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HTTP (HyperText Transfer Protocol)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Stateless, application-layer request-response protocol operating over TCP (standard port 80, TLS encrypted HTTPS port 443).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HTTP Request Structure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Method (GET, POST, HEAD, PUT, DELETE) + Request-URI + HTTP-Version \r\n Header Lines (Host, User-Agent, Accept, Cookie) \r\n\r\n [Optional Entity Body].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HTTP Response Structure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HTTP-Version + Status Code (200 OK, 301 Moved, 304 Not Modified, 404 Not Found, 500 Server Error) + Status Phrase \r\n Headers (Content-Type, Content-Length, Set-Cookie, Cache-Control) \r\n\r\n [Data Body].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Statelessness &amp; State Management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HTTP servers maintain no state across successive requests from the same client. State is tracked using Cookies (via `Set-Cookie` and `Cookie` headers) and Session Tokens.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Conditional GET &amp; Web Caching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Clients and Proxy Caches avoid re-transmitting unmodified objects using the `If-Modified-Since` request header. If object unchanged, server responds `304 Not Modified` with zero body bits.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Status Codes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200 OK: Request succeeded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301 Moved Permanently: Redirect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304 Not Modified: Cache hit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400 Bad Request: Syntax error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404 Not Found: Resource absent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503 Service Unavailable: Busy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1.4.2 HTTP/1.0 vs HTTP/1.1 vs HTTP/2 vs HTTP/3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M1.4 HTTP EVOLUTION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HTTP/1.0 &amp; HTTP/1.1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1.0 Non-Persistent: Opens fresh TCP connection per object ($2 \cdot RTT$ per object); high latency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1.1 Persistent: Reuses single TCP connection for multiple objects; default `Keep-Alive`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Pipelining: Sends multiple requests without waiting for replies (suffers Head-of-Line blocking)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HTTP/2 (RFC 7540)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Binary Framing: Replaces plain text with binary frame parser (Headers &amp; Data frames)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Multiplexing: Interleaves streams over single TCP; eliminates HTTP Head-of-Line blocking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Server Push: Proactively pushes critical resources (CSS, JS) before client requests them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HPACK: Compresses redundant header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D97706"/>
                </a:solidFill>
              </a:defRPr>
            </a:pPr>
            <a:r>
              <a:t>HTTP/3 (QUIC / RFC 9000)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QUIC over UDP: Replaces TCP with QUIC transport layer over UDP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Zero HoL Blocking: Packet loss in one stream never stalls unrelated streams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0-RTT Handshake: Combines connection setup and TLS 1.3 cryptographic handshake in 1 round-trip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1.4.3 Worked KTU Numerical: Web Page Retrieval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M1.4 WORKED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base HTML page references 8 small embedded JPEG images located on the same server. Round-Trip Time between client and server is RTT = 40 ms. Base HTML transmission time is negligible. Calculate total retrieval time for: (a) HTTP/1.0 Non-Persistent with sequential TCP connections, (b) HTTP/1.1 Persistent without pipelining, (c) HTTP/1.1 Persistent with pipelining.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Non-Persistent: 1 TCP Handshake (1 RTT) + 1 Request/Response (1 RTT) = 2 RTT per object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Persistent without Pipelining: 1 TCP Handshake (1 RTT) + 1 RTT for Base + N * 1 RTT for images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Persistent with Pipelining: 1 TCP Handshake (1 RTT) + 1 RTT for Base + 1 RTT for all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Total objects = 1 Base HTML + 8 Images = 9 objects.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(a) Non-Persistent: 9 objects * 2 RTT = 18 RTT = 18 * 40 ms = 720 ms.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(b) Persistent without Pipelining: 1 RTT (TCP setup) + 1 RTT (Base HTML) + (8 * 1 RTT) = 10 RTT = 10 * 40 ms = 400 ms.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(c) Persistent with Pipelining: 1 RTT (TCP setup) + 1 RTT (Base HTML) + 1 RTT (pipelined batch) = 3 RTT = 3 * 40 ms = 120 ms.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Non-Persistent: 720 ms | Persistent: 400 ms | Pipelined: 120 ms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Always remember: TCP 3-way handshake consumes 1 full RTT before any HTTP request can be transmitted.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World Wide Web &amp;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difference between non-persistent and persistent HTTP connections with timing diagrams.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What is Head-of-Line (HoL) blocking? How do HTTP/2 binary framing and HTTP/3 QUIC solve it?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Describe the mechanism of Web Caching using the Conditional GET request (`If-Modified-Since`).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HTTP/1.0 incurs 2 RTT per object; HTTP/1.1 persistent reuses TCP connections to save handshakes.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HTTP/2 multiplexes streams over 1 TCP connection using binary framing, but TCP packet loss stalls all streams.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HTTP/3 runs over UDP with QUIC to provide independent stream streams and 0-RTT connection re-establishment.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Web caches reduce traffic intensity on access links and drastically cut down end-user latency.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M1.5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FTP (File Transfer Protocol) Architecture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Out-of-Band Control vs In-Band Data, Control Port 21 vs Data Port 20, Active Mode (PORT) vs Passive Mode (PASV), Stateful Operation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1.5.1 Dual-Channel Architecture of FTP (RFC 959)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M1.5 FTP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Out-of-Band Control Connection (Port 21)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FTP establishes a dedicated TCP connection on port 21 solely for control commands (USER, PASS, LIST, RETR, STOR, QUIT) and server status replies (e.g., 220, 331, 230). Remains open throughout session.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In-Band Data Connection (Port 20)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separate, independent TCP connection created strictly for data transfer (file upload/download, directory listings). Opened per file transfer and closed immediately upon completion.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Stateful Connection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Unlike stateless HTTP, FTP servers maintain extensive session state: current working directory, authenticated user credentials, transfer mode (ASCII vs Binary), and client IP/port.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Security Limitations of Plain FTP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Credentials and data transmitted in unencrypted cleartext. Modern secure alternatives: FTPS (FTP over TLS/SSL) and SFTP (SSH File Transfer Protocol).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FTP Commands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USER / PASS: Authentication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LIST: Directory listing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RETR: Retrieve / Download file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STOR: Store / Upload file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TYPE A / I: ASCII / Binary mode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QUIT: Close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1.5.2 Active Mode (`PORT`) vs Passive Mode (`PASV`)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M1.5 ACTIVE VS PASSIVE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Active Mode FTP (`PORT`)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Control Channel: Client connects from random port $N$ to Server Port 21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Data Channel Initiation: Client sends `PORT IP,p1,p2` command. Server initiates data connection from Server Port 20 to Client Port $P$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Firewall Problem: Client-side firewalls and NATs block inbound connections initiated by external servers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Usage: Legacy environments without client NAT firewalls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Passive Mode FTP (`PASV`)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Control Channel: Client connects from random port $N$ to Server Port 21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Data Channel Initiation: Client sends `PASV` command. Server opens random port $M$ and replies with `227 Entering Passive Mode`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Firewall Friendly: Client initiates outbound connection to Server Port $M$; traversable through client NATs/firewalls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Usage: Standard default mode across modern Internet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FTP Architecture &amp;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why FTP is called an 'out-of-band' control protocol. How does it differ from HTTP?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Active Mode and Passive Mode in FTP with step-by-step connection flow diagrams. Explain why Passive mode is preferred behind NAT firewalls.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FTP separates control signaling (Port 21) from data bulk transfer (Port 20).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In Active mode, server connects to client (fails behind client firewalls).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In Passive mode, client connects to server's dynamically assigned high port (bypasses client NAT restrictions).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M1.6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Electronic Mail Architecture &amp; Protocols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User Agents (UA), Mail Transfer Agents (MTA), SMTP Push Protocol (Port 25/587), MIME 7-Bit ASCII Encoding, POP3 vs IMAP4 vs Webmail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1.6.1 Email System Architecture &amp; Message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M1.6 EMAIL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Core Components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Three major components: User Agents (mail clients like Thunderbird, Outlook), Mail Servers (run mailboxes and outgoing message queues), and Mail Transfer Protocols.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SMTP (Simple Mail Transfer Protocol - RFC 5321)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Push protocol operating over TCP port 25 (inter-server relay) and port 587 (client message submission with STARTTLS).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End-to-End Delivery Flow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Alice (UA) -&gt; Alice's Mail Server (MTA) -&gt; [Internet Relay via SMTP over TCP] -&gt; Bob's Mail Server (MTA mailbox) -&gt; Bob (UA via POP3/IMAP4/HTTPS).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SMTP Push vs Pull Architecture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SMTP pushes email from sender to receiver's server. Receiver cannot use SMTP to pull mail to their local client because client may not be online with fixed IP.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SMTP Message Format (RFC 5322)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Header lines (`From:`, `To:`, `Subject:`, `Date:`) separated from Message Body by a blank line `\r\n`. Handled as 7-bit ASCII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SMTP Command Flow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HELO / EHLO: Client intro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MAIL FROM: Sender envelope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RCPT TO: Recipient address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DATA: Start message payload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. (Single period): End of data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QUIT: Terminate TCP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1.6.2 MIME Extensions &amp; Mail Access: POP3 vs IMAP4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M1.6 MIME &amp; ACCESS PROTOCOLS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MIME (Multipurpose Internet Mail Extensions)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Purpose: Allows non-ASCII binary data (images, audio, PDFs, attachments) over 7-bit ASCII SMTP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MIME Headers: `MIME-Version: 1.0`, `Content-Type: multipart/mixed; boundary=...`, `Content-Transfer-Encoding: base64`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Base64 Encoding: Converts 3 binary bytes (24 bits) into 4 printable ASCII characters (6 bits each; 33% overhead)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Mail Access: POP3 vs IMAP4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POP3 (Post Office Protocol v3): TCP Port 110. 'Download and Delete' mode — copies email to local device; no server synchronization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IMAP4 (Internet Message Access Protocol): TCP Port 143. Retains all messages/folders on server; multi-device synchronization; supports partial retrieval (e.g., fetch headers only)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Webmail (HTTP/HTTPS): User agent runs inside web browser; uses HTTPS to communicate with webmail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Electronic Mail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why SMTP cannot be used by an end user to pull emails from the mail server. (5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POP3 and IMAP4 access protocols with respect to folder synchronization and multi-device access.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role of MIME in electronic mail. How does Base64 encoding convert 8-bit binary data to 7-bit ASCII?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SMTP is strictly a push protocol; POP3 and IMAP4 are pull protocols.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POP3 is simple and offline-oriented; IMAP4 maintains centralized state and synchronized folders across devices.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MIME headers allow multimedia attachments; Base64 maps 3 binary bytes into 4 ASCII symbols.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M1.7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Domain Name System (DNS) Architecture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Hierarchical Distributed Database, Root/TLD/Authoritative Servers, Iterative vs Recursive Queries, DNS Caching &amp; TTL, Resource Records (RR)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1.7.1 DNS: Distributed Hierarchical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M1.7 DNS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DNS Core Function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Application-layer service translating human-readable hostnames (e.g., `www.vjcet.ac.in`) into 32-bit IPv4 / 128-bit IPv6 machine addresses.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Why Distributed &amp; Hierarchical?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single centralized database would suffer single-point failure, massive traffic congestion, geographic distance delay, and impossible maintenance.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Root DNS Servers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13 logical root server addresses (A through M, replicated worldwide via Anycast routing). Directs queries to appropriate TLD servers.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Top-Level Domain (TLD) Servers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Responsible for generic TLDs (`.com`, `.org`, `.net`, `.edu`) and country-code ccTLDs (`.in`, `.uk`, `.de`, `.jp`).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Authoritative DNS Servers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Maintained by organizations/service providers containing the definitive, official mapping records for an institution's public hosts.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Local DNS Name Server (Resolver)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ISP / Campus resolver (e.g., Google 8.8.8.8, Cloudflare 1.1.1.1) acting as proxy intermediary cache for client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DNS Hierarchy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Root Servers: Global root '.'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TLD Servers: .com, .in, .org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Authoritative: vjcet.ac.in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Local Resolver: ISP DNS cache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Runs on UDP Port 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1.7.2 DNS Resolution Mechanisms: Iterative vs Recursive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M1.7 RESOLUTION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Iterative DNS Query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Client Interaction: Local DNS server handles resolution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Server Response: Contacted server replies: 'I don't know the exact IP, but you should ask this next DNS server' (returns referral delegation)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Query Load: Local DNS server sequentially queries Root -&gt; TLD -&gt; Authoritative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Server Burden: Puts minimal load on Root and TLD server 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Recursive DNS Query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Server Action: Contacted server takes full responsibility to obtain the final IP address on behalf of the requester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Chain of Queries: Client -&gt; Local -&gt; Root -&gt; TLD -&gt; Authoritative (and returns back up the chain)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Server Burden: Heavy connection holding state and CPU burden on high-level servers; generally restricted at Root/TLD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Standard Practice: Client to Local DNS is Recursive; Local DNS to Root/TLD/Authoritative is Iterative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1.7.3 DNS Resource Records (RR) &amp; Message Caching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M1.7 RESOURCE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Resource Record (RR) 4-Tuple Format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`(Name, Value, Type, TTL)` stored in DNS database.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Type A Record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`Name` = Hostname, `Value` = IPv4 Address (e.g., `(vjcet.ac.in, 117.211.89.5, A, 3600)`).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Type AAAA Record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`Name` = Hostname, `Value` = 128-bit IPv6 Address.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Type CNAME Record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`Name` = Alias hostname, `Value` = Canonical / True hostname (e.g., `(www.vjcet.org, vjcet.ac.in, CNAME, 86400)`).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Type NS Record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`Name` = Domain, `Value` = Hostname of Authoritative Name Server for domain (e.g., `(vjcet.ac.in, ns1.vjcet.ac.in, NS, 86400)`).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Type MX Record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`Name` = Domain, `Value` = Hostname of Mail Server for domain (e.g., `(vjcet.ac.in, mail.vjcet.ac.in, MX, 3600)`).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DNS Caching &amp; TTL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Resolvers cache mapping records for `TTL` seconds, dramatically reducing query delays and global root traffic.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RR Summary Table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Type A: Hostname -&gt; IPv4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Type AAAA: Hostname -&gt; IPv6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Type CNAME: Alias -&gt; Canonical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Type NS: Domain -&gt; Name Server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Type MX: Domain -&gt; Mail Server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Type PTR: IP -&gt; Hostname (Reverse)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Domain Name System (DNS)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Draw and explain the step-by-step resolution process for `www.vjcet.ac.in` comparing Iterative and Recursive queries.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format and role of DNS Resource Records (A, AAAA, CNAME, NS, MX, PTR) with examples.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Why does DNS use UDP on port 53 for standard queries instead of TCP? When is TCP used in DNS?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Standard DNS uses UDP port 53 for fast 1-round-trip resolution without 3-way handshake overhead.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TCP port 53 is used for DNS Zone Transfers between primary/secondary servers and responses exceeding 512 bytes (EDNS0).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DNS caching drastically improves web browsing latency across the globe.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M1.8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Peer-to-Peer Paradigm &amp; BitTorrent Case Study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P2P File Distribution Time ($D_{P2P}$ vs $D_{CS}$), Torrents, Trackers &amp; DHT, Chunks &amp; Pieces, Rarest-First, Tit-for-Tat Choking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1.8.1 P2P File Distribution vs Client-Server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M1.8 P2P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File Distribution Problem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server holds a file of size $F$ bits and needs to distribute copies to $N$ independent peer clients. Server upload rate is $u_s$, peer upload rates $u_i$, peer download rates $d_i$.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Client-Server Distribution Time ($D_{CS}$)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$D_{CS} \ge \max \{ \frac{N \cdot F}{u_s}, \frac{F}{d_{min}} \}$. As $N$ grows, $D_{CS}$ increases linearly with $N$. Adding more clients degrades service.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P2P Distribution Time ($D_{P2P}$)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$D_{P2P} \ge \max \{ \frac{F}{u_s}, \frac{F}{d_{min}}, \frac{N \cdot F}{u_s + \sum_{i=1}^N u_i} \}$. Each client donates upload capacity ($u_i$) back to the swarm.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Self-Scalability of P2P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As $N \to \infty$, the total upload capacity $(u_s + \sum u_i)$ scales proportionally with demand $N \cdot F$, bounding distribution time to a sub-linear / constant asymptote.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Scalability Formulas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D_CS &gt;= max(N*F/u_s, F/d_min)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D_P2P &gt;= max(F/u_s, F/d_min, N*F / (u_s + sum(u_i)))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Client-Server scales O(N)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P2P scales O(1) / O(log N)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Peers act as uploaders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1.8.2 BitTorrent Protocol Architecture &amp;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M1.8 BITTORRENT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Torrents &amp; Swarms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collection of all peers participating in the distribution of a specific file is called a Swarm. File metadata is encoded in a `.torrent` file containing SHA-1 hashes of chunks.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Chunks &amp; Pieces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file is partitioned into equal chunks (typically 256 KB to 2 MB). As soon as a peer downloads a chunk, it can immediately upload it to other peers.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Tracker &amp; Trackerless DHT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central Tracker node maintains the list of active IP addresses in the swarm. Modern BitTorrent uses Kademlia Distributed Hash Tables (DHT) for trackerless operation.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Rarest-First Chunk Selection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peer determines which chunks are least common among its neighbors and requests those first. Ensures rare chunks are duplicated rapidly across the swarm to prevent missing chunk bottlenecks.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Tit-for-Tat (TFT) Choking Algorithm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peer gives upload priority to the top 4 peers currently supplying data to it at the highest rates (unchoked every 10 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Optimistic Unchoking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Every 30 s, a peer randomly picks 1 additional peer to upload to, discovering new faster partners and allowing newcomers to obtain their initial chunk.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BitTorrent Mechanics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Swarm: Group of active peers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Chunk Size: 256 KB - 2 MB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Rarest-First: Balances supply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Tit-for-Tat: Incentivizes uploading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Optimistic Unchoking: Finds peers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Seeders: 100% complete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P2P &amp; BitTorrent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Derive the theoretical file distribution time for Client-Server ($D_{CS}$) and P2P ($D_{P2P}$) architectures.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working of BitTorrent with focus on Rarest-First chunk selection, Tit-for-Tat choking, and Optimistic Unchoking.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What is peer churn in P2P networks, and how does Distributed Hash Table (DHT) handle it?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Client-Server distribution time increases linearly with $N$, whereas P2P distributes the upload burden.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Rarest-First ensures even chunk distribution across the swarm.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Tit-for-Tat solves free-riding by rewarding peers who contribute upload bandwidth.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M1.9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Application Layer Case Study: CDNs &amp; Video Streaming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Content Distribution Networks (CDNs), DNS Redirection, Edge Server Placement, DASH (Dynamic Adaptive Streaming over HTTP)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1.9.1 Content Distribution Networks (CDNs)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M1.9 CDN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The Web Scale Problem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Serving massive video traffic (YouTube, Netflix) from a single mega data center causes single point of failure, network congestion, long-distance delay, and repeated link traversals.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CDN Philosophy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Deploy thousands of geographically distributed server clusters (Points of Presence - PoPs) at edge ISPs across the globe. Store replicated video copies close to end users.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Server Placement Philosophies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Enter Deep (Akamai): Deploy clusters inside thousands of access ISPs close to users. 2. Bring Home (Limelight): Deploy fewer large clusters at Tier-1 PoPs interconnected by private backbone.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CDN DNS Redirection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When user requests `video.netflix.com`, authoritative DNS intercepts the request and returns a CNAME pointing to CDN domain. CDN's DNS resolver uses client IP to return the IP address of the geographically closest edge cache server.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CDN Benefits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Ultra-low latency to users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Reduces ISP transit costs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Absorbs DDoS attacks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High availability &amp; redundancy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1.9.2 DASH: Dynamic Adaptive Streaming over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M1.9 DASH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Video Encoding &amp; Chunks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Video is pre-encoded at multiple quality/bitrate versions (e.g., 360p 500 kbps, 720p 2 Mbps, 1080p 5 Mbps, 4K 15 Mbps) and partitioned into small chunks (2 to 10 seconds each).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MPD (Media Presentation Description)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An XML manifest file listing the URLs and bitrates for all chunks across every quality level.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Client-Side Dynamic Adaptation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client player continuously monitors available download bandwidth and buffer occupancy. It dynamically requests high-quality chunks when bandwidth is ample, and gracefully steps down to lower bitrates to avoid playback stalling.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Transport over HTTP/TCP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Streams over standard HTTP/HTTPS port 80/443, effortlessly traversing firewalls and NATs without requiring proprietary streaming server protocols.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DASH Algorithm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MPD Manifest: Lists chunks &amp; bitrates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Client measures throughput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If buffer high -&gt; Request 4K/1080p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If bandwidth drops -&gt; Request 720p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Zero playback interruption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CDN &amp; Streaming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how Content Distribution Networks (CDNs) use DNS redirection to route user requests to the optimal edge server.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Describe the architecture and working of Dynamic Adaptive Streaming over HTTP (DASH).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CDNs bring content close to users, cutting down WAN transit delays and backbone congestion.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DNS CNAME redirection enables real-time dynamic traffic routing based on network conditions.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DASH shifts streaming intelligence to the client, adapting video bitrate in real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MASTER • MODULE 2 MASTER DECK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Transport &amp; Network Layer Architecture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Complete Lecture Slides for KTU PCCST501 Computer Networks | Topics M2.1.1 through M2.3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M2.1.1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Transport Layer Services &amp; Multiplexing Principles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Process-to-Process Communication, Port Addressing, Connectionless vs Connection-Oriented Demultiplexing (2-Tuple vs 4-Tuple)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2.1.1.1 Transport Layer Core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M2.1.1 TRANSPORT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Process-to-Process Logical Delivery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While the Network Layer delivers packets host-to-host between IP addresses, the Transport Layer extends this to deliver messages process-to-process between application sockets.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Port Addressing &amp; Socket Binding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Processes are identified via 16-bit Port Numbers (0 to 65,535). Sockets bind an IP address and Port number together as an end-to-end communication endpoint.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Transport Layer Responsibilities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Multiplexing &amp; Demultiplexing, 2. Reliability (Loss detection, ACKs, retransmissions), 3. Flow Control (Preventing receiver buffer overflow), 4. Congestion Control (Preventing network core collapse).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Transport Limitations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Transport protocols cannot provide hard real-time delay bounds or guaranteed bandwidth on standard best-effort IP networks.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Port Numbers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Port 80: HTTP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Port 443: HTTPS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Port 22: SSH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Port 53: DNS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Port 25: SMTP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Port 21: FTP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2.1.1.2 Demultiplexing: Connectionless (UDP) vs Connection-Oriented (TCP)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M2.1.1 DEMULTIPLEXING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UDP Demultiplexing (2-Tuple)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Identifier Tuple: Identified strictly by: `(Destination IP, Destination Port)`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Behavior: Two UDP datagrams arriving from different source IP/ports targeted at same Dest Port are delivered to the exact same socket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State: Completely stateless; no connection handshake or per-peer buffers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Speed: Zero connection establishment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TCP Demultiplexing (4-Tuple)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Identifier Tuple: Identified by 4-tuple: `(Source IP, Source Port, Destination IP, Destination Port)`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Behavior: Server listening socket (`listen()`) forks/spawns a distinct connected socket (`accept()`) for each unique client 4-tuple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State: Full connection state, sequence tracking, and dedicated receive buffers per connection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Scalability: Enables concurrent multi-client web/database servers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Transport Layer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host-to-host delivery and process-to-process delivery with a neat diagram.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how multiplexing and demultiplexing work in UDP and TCP. Why does TCP require a 4-tuple while UDP needs only a 2-tuple?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Network layer provides host-to-host IP delivery; Transport layer provides process-to-process port delivery.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UDP demux uses Destination Port only; TCP demux uses Source IP, Source Port, Dest IP, Dest Port.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TCP creates separate connected sockets for every distinct client connection.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M2.1.2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Transport Protocols &amp; User Datagram Protocol (UDP)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UDP Segment Header Structure, 16-Bit 1's Complement Checksum with Pseudo-Header, UDP Applications &amp; Use Cases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2.1.2.1 UDP Protocol Architecture &amp; 8-Byte Header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M2.1.2 UDP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UDP Characteristics (RFC 768)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Connectionless, unreliable, lightweight, message-oriented transport protocol. Provides bare minimum services: process multiplexing and optional error checking.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Why Use UDP?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No connection establishment delay (0-RTT), 2. No connection state at server, 3. Small header overhead (8 bytes vs TCP 20 bytes), 4. Unregulated send rate (no congestion throttling).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UDP 8-Byte Header Format (32-bit width)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Source Port (16 bits) | Destination Port (16 bits) \n Length (16 bits, header + payload in bytes) | Checksum (16 bits).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Message Boundary Preservation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UDP sends data in discrete datagrams. If sender writes 500 bytes twice, receiver reads 500 bytes twice (preserves message boundaries, unlike TCP byte stream).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Header Breakdown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Source Port: 16 bits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Destination Port: 16 bits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Length: 16 bits (Min 8 B)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Checksum: 16 bits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Total Header: Exactly 8 Bytes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2.1.2.2 UDP 16-Bit 1's Complement Checksum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M2.1.2 CHECKSUM CALCULATION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Compute the UDP checksum for three 16-bit words: Word 1 = 0x66B4 (0110 0110 1011 0100), Word 2 = 0x5555 (0101 0101 0101 0101), Word 3 = 0x8F0C (1000 1111 0000 1100). Show wraparound carry addition and 1's complement inversion. Also explain how the receiver verifies checksum integrity.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Step 1: Sum 16-bit words using standard binary addition.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Step 2: If sum produces a 17th bit (carry overflow), wrap it around and add to the least significant bit.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Step 3: Invert all bits (1's complement) to obtain the transmitted Checksum field.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Receiver: Sums all received words including Checksum; valid result must be 0xFFFF (all 1s).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Sum Word 1 + Word 2: 0x66B4 + 0x5555 = 0xBC09 (1011 1100 0000 1001)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Add Word 3: 0xBC09 + 0x8F0C = 0x14B15 (1 0100 1011 0001 0101 - Carry generated!)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Wrap carry around: 0x4B15 + 1 = 0x4B16 (0100 1011 0001 0110)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Take 1's complement (~0x4B16): 1011 0100 1110 1001 = 0xB4E9 (Checksum transmitted)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Receiver Verification: 0x4B16 + 0xB4E9 = 0xFFFF (1111 1111 1111 1111 -&gt; Verified Valid!)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Transmitted Checksum = 0xB4E9 | Receiver sum = 0xFFFF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Note: UDP includes an IP Pseudo-Header (Source IP, Dest IP, Protocol 17, UDP Length) in checksum calculation to detect misrouted packets.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UDP Protocol &amp; Checksum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Draw the UDP segment header format and explain all fields. Why is UDP header size fixed at 8 bytes?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step-by-step procedure for computing the UDP 16-bit 1's complement checksum. What is the role of the pseudo-header?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Why is UDP preferred over TCP for DNS queries, SNMP, and real-time gaming?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UDP header is minimal (8 bytes) with Source Port, Dest Port, Length, and Checksum.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Checksum calculation wraps around carry bits and inverts result for easy receiver verification (0xFFFF).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UDP avoids TCP connection overhead and latency fluctuations from retransmissions.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M2.1.3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Transmission Control Protocol (TCP) Architecture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TCP 20-Byte Header Format, 3-Way Handshake Connection Setup, 4-Way Connection Teardown (TIME_WAIT 2MSL), Sequence/ACK Mechanics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2.1.3.1 TCP Header Architecture (RFC 793 / 9293)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M2.1.3 TCP HEADER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Connection-Oriented Byte Stream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TCP provides full-duplex, reliable, sequenced byte-stream transfer between communicating processes.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Header Format (20 to 60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Source Port (16b) | Destination Port (16b) \n Sequence Number (32b: byte-stream offset) \n Acknowledgment Number (32b: next expected byte) \n Data Offset (4b: header length in 32-bit words) | Reserved (4b) | Flags (8b) | Window Size (16b) \n Checksum (16b) | Urgent Pointer (16b) \n Options (0 to 40 bytes: MSS, Window Scale, SACK, Timestamps).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TCP Control Flags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SYN (Establish connection), ACK (Ack valid), FIN (Close connection), RST (Reset/abort connection), PSH (Push data immediately to app), URG (Urgent pointer active), ECE &amp; CWR (Explicit Congestion Notification).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Cumulative Acknowledgment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TCP Ack number $N$ indicates the receiver has successfully received all contiguous bytes up to $N-1$ and is expecting byte $N$.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TCP Control Flags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SYN: Connection request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ACK: Acknowledgment field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FIN: Graceful teardown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RST: Reset connection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PSH: Push buffer to app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URG: Out-of-band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2.1.3.2 Connection Lifecycle: 3-Way Handshake vs 4-Way Teardown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M2.1.3 TCP LIFECYCLE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3-Way Handshake (Connection Setup)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Step 1 (Client -&gt; Server): Client sends `SYN = 1`, `Seq = x` (Initial Sequence Number $ISN_c$). Enters `SYN_SENT` state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Step 2 (Server -&gt; Client): Server allocates buffers, replies `SYN = 1`, `ACK = 1`, `Seq = y` ($ISN_s$), `Ack = x + 1`. Enters `SYN_RCVD`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Step 3 (Client -&gt; Server): Client sends `ACK = 1`, `Seq = x + 1`, `Ack = y + 1` (may piggyback initial application data). Enters `ESTABLISHED`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SYN Flood Defense: TCP SYN Cookies prevent server memory exhaustion from bogus SYN requests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4-Way Connection Teardown (Graceful Close)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Step 1 (Client -&gt; Server): Client finishes sending, transmits `FIN = 1`, `Seq = u`. Enters `FIN_WAIT_1`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Step 2 (Server -&gt; Client): Server acknowledges with `ACK = 1`, `Ack = u + 1`. Enters `CLOSE_WAIT`; Client enters `FIN_WAIT_2`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Step 3 (Server -&gt; Client): Server finishes outstanding data, transmits `FIN = 1`, `Seq = v`. Enters `LAST_ACK`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Step 4 (Client -&gt; Server): Client replies `ACK = 1`, `Ack = v + 1`. Client enters `TIME_WAIT` for 2MSL (Maximum Segment Lifetime = 60-120s) before terminating to ensure final ACK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TCP Connection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Draw the complete TCP segment header format and explain all fields, especially Sequence Number, ACK Number, and Control Flags.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Illustrate the TCP 3-Way Handshake with sequence and acknowledgment numbers. Why is a 2-way handshake insufficient?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purpose of the `TIME_WAIT` state and the 2MSL timer during TCP connection termination.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TCP Sequence number tracks the byte offset of transmitted data; ACK number represents the next expected byte.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3-way handshake is mandatory to synchronize Initial Sequence Numbers (ISNs) bi-directionally and verify full-duplex connectivity.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`TIME_WAIT` (2MSL) guarantees that any lingering duplicate packets in the network expire before the socket is reused.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M2.1.4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TCP Flow &amp; Congestion Control Mechanisms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Sliding Window Flow Control, Silly Window Syndrome, Congestion Window (cwnd), Slow Start, AIMD, Fast Retransmit, TCP Tahoe vs Reno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2.1.4.1 Flow Control &amp; Silly Window Syndrome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M2.1.4 FLOW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Flow Control Goal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Matches the sender's transmission rate to the receiver's consumption rate to prevent receiver buffer overflow.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Receive Window (`rwnd`) Mechanics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Receiver advertises remaining buffer space via `rwnd` field in TCP header. Sender ensures: $\text{LastByteSent} - \text{LastByteAcked} \le \min(\text{cwnd}, \text{rwnd})$.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Zero-Window Probing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When receiver buffer is full (`rwnd = 0`), sender stops transmitting but periodically sends 1-byte probe segments to force receiver to return window update ACKs.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Silly Window Syndrome (SWS)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Occurs when data is transmitted in tiny chunks (1 byte payload + 40 bytes header = 97.5% overhead).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SWS Solutions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**Nagle's Algorithm (Sender-side)**: Send first small segment; buffer subsequent data until all previous data is ACKed or MSS is reached. 2. **Clark's Solution (Receiver-side)**: Receiver advertises `rwnd = 0` until buffer space is at least MSS or 50% buffer capacity.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Variables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rwnd: Receiver buffer limit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cwnd: Network congestion limit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Effective Win = min(cwnd, rwnd)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Nagle's: Buffers small writes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Clark's: Suppresses tiny rwnd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2.1.4.2 Congestion Control: TCP Tahoe vs TCP Reno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M2.1.4 TAHOE VS RENO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TCP Tahoe (Legacy)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Slow Start Phase: Begins with `cwnd = 1 MSS`. Increases `cwnd` exponentially: doubles every RTT (`cwnd += 1 MSS` per ACK received)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Congestion Avoidance: When `cwnd &gt;= ssthresh`, transitions to AIMD: increases `cwnd` linearly by 1 MSS per RTT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On Loss Detection (Timeout or 3 Dup ACKs): 1. `ssthresh = cwnd / 2` \n 2. Drops `cwnd = 1 MSS` (always resets to slow start)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Performance: Severe throughput collapse upon any single packet loss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TCP Reno (Standard)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Slow Start &amp; Congestion Avoidance: Identical to Tahoe during normal growth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On Timeout Loss: Severe congestion: `ssthresh = cwnd / 2`, `cwnd = 1 MSS` (resets to Slow Start)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On 3 Duplicate ACKs (Fast Retransmit): Mild congestion: Retransmits lost segment immediately without waiting for retransmission timer to expire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Fast Recovery Phase: Skips slow start! Sets `ssthresh = cwnd / 2`, sets `cwnd = ssthresh + 3 MSS`, continues linear AIMD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2.1.4.3 Worked KTU Numerical: TCP Congestion Window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M2.1.4 WORKED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TCP Reno connection has ssthresh = 16 MSS. Starting at RTT 1 with cwnd = 1 MSS in Slow Start: (a) Trace cwnd values up to RTT 8. (b) At RTT 8, three duplicate ACKs are received. Calculate new ssthresh and cwnd for RTT 9 and RTT 10 under Fast Recovery.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Slow Start: cwnd doubles every RTT until ssthresh is reached.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Congestion Avoidance (AIMD): cwnd increases by +1 MSS per RTT.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Fast Retransmit / Fast Recovery (3 Dup ACKs): ssthresh_new = cwnd / 2, cwnd_new = ssthresh_new.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RTT 1: cwnd = 1 MSS (Slow Start)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RTT 2: cwnd = 2 MSS | RTT 3: cwnd = 4 MSS | RTT 4: cwnd = 8 MSS | RTT 5: cwnd = 16 MSS (ssthresh reached)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RTT 6: cwnd = 17 MSS (AIMD Linear) | RTT 7: cwnd = 18 MSS | RTT 8: cwnd = 19 MSS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At RTT 8, 3 Dup ACKs occur: ssthresh_new = 19 / 2 = 9.5 -&gt; 9 MSS.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RTT 9: Under TCP Reno Fast Recovery, cwnd = 9 MSS. RTT 10: cwnd = 10 MSS (continues linear AIMD).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RTT 8: 19 MSS -&gt; Loss -&gt; RTT 9: cwnd = 9 MSS, ssthresh = 9 MSS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If loss was caused by Timeout instead of 3 Dup ACKs, cwnd would drop to 1 MSS.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TCP Flow &amp; Congestion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TCP Sliding Window flow control and how the receiver window `rwnd` prevents buffer overrun.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What is Silly Window Syndrome? Explain Nagle's algorithm and Clark's solution with examples.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TCP Tahoe and TCP Reno congestion control algorithms with a neat graph plotting `cwnd` versus Transmission RTTs.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Flow control is receiver-driven (`rwnd`); Congestion control is network-driven (`cwnd`).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Effective transmission window is the minimum of `cwnd` and `rwnd`.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TCP Reno avoids slow start upon 3 duplicate ACKs via Fast Retransmit and Fast Recovery.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M2.1.5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Berkeley Socket API &amp; I/O Multiplexing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Socket System Calls Lifecycle (TCP &amp; UDP), I/O Multiplexing with select() and poll(), fd_set Macros, Non-Blocking Sockets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2.1.5.1 Berkeley Socket API System Call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M2.1.5 SOCKET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Socket Abstraction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socket is a kernel endpoint for network I/O represented as an integer file descriptor in Linux (`int sockfd`).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TCP Server Lifecycle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`socket(AF_INET, SOCK_STREAM, 0)` -&gt; Creates endpoint \n 2. `bind(sockfd, &amp;addr, sizeof)` -&gt; Associates socket with IP/Port \n 3. `listen(sockfd, backlog)` -&gt; Sets passive listening mode and backlog queue \n 4. `accept(sockfd, &amp;client_addr, &amp;len)` -&gt; Blocks until client connects, returns new connected descriptor \n 5. `read()` / `write()` or `recv()` / `send()` -&gt; Data exchange \n 6. `close(sockfd)` -&gt; Tears down connection.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TCP Client Lifecycle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`socket()` -&gt; 2. `connect(sockfd, &amp;server_addr, sizeof)` (initiates 3-way handshake) -&gt; 3. `write()` / `read()` -&gt; 4. `close()`.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UDP Sockets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Connectionless: Server calls `socket()` -&gt; `bind()` -&gt; `recvfrom()` -&gt; `sendto()`. Client calls `socket()` -&gt; `sendto()` -&gt; `recvfrom()` without `listen()` or `accept()`.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System Calls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socket(): Create fd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bind(): Bind IP &amp; Port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listen(): Passive queue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accept(): Return client fd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connect(): 3-way handshake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sendto()/recvfrom(): UDP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2.1.5.2 I/O Multiplexing: `select()` System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M2.1.5 IO MULTIPLEXING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6217920" cy="4892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5943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D97706"/>
                </a:solidFill>
              </a:defRPr>
            </a:pPr>
            <a:r>
              <a:t>// Linux Socket &amp; Protocol Implementation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#include &lt;sys/select.h&gt;</a:t>
            </a:r>
            <a:br/>
            <a:r>
              <a:t>int max_fd = listen_fd;</a:t>
            </a:r>
            <a:br/>
            <a:r>
              <a:t>fd_set read_fds;</a:t>
            </a:r>
            <a:br/>
            <a:br/>
            <a:r>
              <a:t>while (1) {</a:t>
            </a:r>
            <a:br/>
            <a:r>
              <a:t>    FD_ZERO(&amp;read_fds);</a:t>
            </a:r>
            <a:br/>
            <a:r>
              <a:t>    FD_SET(listen_fd, &amp;read_fds);</a:t>
            </a:r>
            <a:br/>
            <a:r>
              <a:t>    // Add active client descriptors</a:t>
            </a:r>
            <a:br/>
            <a:r>
              <a:t>    for (int i = 0; i &lt; max_clients; i++) {</a:t>
            </a:r>
            <a:br/>
            <a:r>
              <a:t>        if (client_fds[i] &gt; 0) FD_SET(client_fds[i], &amp;read_fds);</a:t>
            </a:r>
            <a:br/>
            <a:r>
              <a:t>        if (client_fds[i] &gt; max_fd) max_fd = client_fds[i];</a:t>
            </a:r>
            <a:br/>
            <a:r>
              <a:t>    }</a:t>
            </a:r>
            <a:br/>
            <a:r>
              <a:t>    // Block until at least one descriptor is ready for read</a:t>
            </a:r>
            <a:br/>
            <a:r>
              <a:t>    int activity = select(max_fd + 1, &amp;read_fds, NULL, NULL, NULL);</a:t>
            </a:r>
            <a:br/>
            <a:r>
              <a:t>    if (FD_ISSET(listen_fd, &amp;read_fds)) {</a:t>
            </a:r>
            <a:br/>
            <a:r>
              <a:t>        int new_fd = accept(listen_fd, ...);</a:t>
            </a:r>
            <a:br/>
            <a:r>
              <a:t>        // Add new_fd to client list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234440"/>
            <a:ext cx="438912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3716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1E4A"/>
                </a:solidFill>
              </a:defRPr>
            </a:pPr>
            <a:r>
              <a:t>⚙️ System Call &amp; Execution Workflow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Why I/O Multiplexing?: Allows a single-threaded server process to monitor multiple socket descriptors simultaneously without blocking on any single slow client.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`fd_set` Bitmask Macros: `FD_ZERO(&amp;set)` clears mask, `FD_SET(fd, &amp;set)` adds fd, `FD_CLR(fd, &amp;set)` removes fd, `FD_ISSET(fd, &amp;set)` tests readiness.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`select()` Parameters: `int select(int nfds, fd_set *readfds, fd_set *writefds, fd_set *exceptfds, struct timeval *timeout)`. `nfds` is `max_fd + 1`.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`poll()` vs `select()`: `poll()` uses array of `struct pollfd` (no `FD_SETSIZE` 1024 descriptor limit and separate input/output events).</a:t>
            </a:r>
          </a:p>
          <a:p>
            <a:pPr>
              <a:defRPr b="1" sz="1150">
                <a:solidFill>
                  <a:srgbClr val="0E7490"/>
                </a:solidFill>
              </a:defRPr>
            </a:pPr>
            <a:r>
              <a:t>💡 Hands-on Insight: Single-threaded I/O multiplexing handles hundreds of concurrent connections with minimal memory overhead compared to multi-threading.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Socket API &amp; select()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Write the sequence of Berkeley socket system calls executed on both server and client for TCP connection establishment and data transfer.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working of I/O multiplexing using the `select()` system call with code structure and `fd_set` macros.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blocking, non-blocking, and I/O multiplexed socket architectures.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`listen()` creates a passive socket queue; `accept()` extracts the next connection from the queue.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`select()` monitors multiple file descriptors simultaneously, unblocking as soon as any fd is ready.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`poll()` and `epoll()` overcome the 1024 file descriptor limitation of traditional `select()`.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M2.2.1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Network Layer Architecture &amp; Router Design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Data Plane (Forwarding) vs Control Plane (Routing), Datagram Networks vs Virtual Circuits, Router Fabrics &amp; Buffer Queuing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2.2.1.1 Network Layer: Data Plane vs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M2.2.1 NETWORK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Network Layer Core Mission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Achieving end-to-end host-to-host packet delivery across multiple heterogeneous intermediate networks.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Data Plane (Forwarding)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Local, per-router action. Takes a packet arriving on an input link interface and moves it to the appropriate output link interface in nanoseconds. Implemented in high-speed hardware ASIC/TCAM.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Control Plane (Routing)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Network-wide logic. Determines the end-to-end global path that packets take from source to destination. Implemented in software routing algorithms (OSPF, RIP, BGP) or centralized SDN controllers.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Service Models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Internet uses Best-Effort Service Model: no guarantees on delivery, delay, bandwidth, or ordering. Simplicity in the network core pushed intelligence to end hosts.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Plane Separation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Data Plane: Local forwarding (ASIC/Hardware)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Control Plane: Global routing (Software/OSPF)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Nanosecond speed in Data Plane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Millisecond speed in Control Plane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2.2.1.2 Network Models: Datagram vs Virtual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M2.2.1 DATAGRAM VS VC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Datagram Networks (Internet IP)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Connection Setup: No connection setup phase; packets injected immediately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Addressing: Packets carry full global 32-bit/128-bit Source and Destination IP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Routing Path: Each packet routed independently; successive packets may follow different paths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Router State: Stateless routers; failure of a link triggers automatic rerouting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Complexity: Pushed to network edge end hosts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Virtual Circuit Networks (ATM / Frame Relay)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Connection Setup: Mandatory end-to-end signaling setup before data transfer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Addressing: Packets carry small local Virtual Circuit Identifier (VCI)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Routing Path: All packets in a connection follow the exact same fixed virtual path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Router State: Routers maintain per-connection state tables; link failure drops VC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Complexity: Heavy complexity in network core switches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Network Layer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the Data Plane and Control Plane of the Network Layer.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Datagram networks and Virtual Circuit networks with respect to connection setup, addressing, and router state.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Describe the internal architecture of a modern high-speed router (Input Ports, Switching Fabric, Output Ports).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Forwarding is local and hardware-based; Routing is global and software-based.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Internet uses datagram packet switching with stateless routers for maximum resilience.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Crossbar switching fabrics eliminate internal shared bus contention in high-speed routers.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M2.2.2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IPv4 Addressing, Subnetting, CIDR &amp; NAT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IPv4 20-60 Byte Header, Fragmentation &amp; Reassembly, Classless Addressing (CIDR), Subnet Design, NAT/PAT, ICMP Protocol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2.2.2.1 IPv4 Header Format &amp; Fragmentation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M2.2.2 IPV4 HEADER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IPv4 Header Structure (20 to 60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Version (4b: 4) | IHL (4b: Header length in 32-bit words, min 5 = 20B) | DSCP/ECN (8b: QoS) | Total Length (16b: Header + Payload, max 65535B) \n Identification (16b) | Flags (3b: Reserved, DF, MF) | Fragment Offset (13b: measured in 8-byte units) \n TTL (8b: Time-to-Live, decremented per hop) | Protocol (8b: ICMP=1, TCP=6, UDP=17) | Header Checksum (16b) \n Source IP (32b) \n Destination IP (32b) \n Options (0-40B).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Fragmentation Fields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**Identification**: Identifies fragments belonging to same original datagram. **DF (Don't Fragment)**: If set to 1, router drops packet if larger than MTU. **MF (More Fragments)**: 1 for all fragments except the final one (0). **Fragment Offset**: Byte offset divided by 8.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Reassembly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Occurs strictly at the final destination host before delivering to the transport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Header Fields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IHL: Header words (x4 bytes)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Total Length: Max 65,535 B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TTL: Prevents routing loops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Protocol: 6=TCP, 17=UDP, 1=ICMP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Offset unit = 8 Bytes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2.2.2.2 Worked KTU Numerical: IPv4 Fragmentation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M2.2.2 FRAGMENTATION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An IPv4 datagram with Total Length = 4000 bytes (20-byte IP header + 3980 bytes payload) arrives at a router whose outgoing link has Maximum Transmission Unit MTU = 1500 bytes. Calculate the Total Length, Payload Length, MF flag, and Fragment Offset for all resulting fragments.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MTU = 1500 bytes (Max payload per fragment = 1500 - 20 = 1480 bytes).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1480 is divisible by 8 (1480 / 8 = 185) -&gt; Valid maximum payload per fragment.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Total payload to fragment = 3980 bytes.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Fragment Offset = Total previous payload bytes divided by 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Frag 1: Header = 20 B, Payload = 1480 B, Total Length = 1500 B, MF = 1, Offset = 0 / 8 = 0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Frag 2: Header = 20 B, Payload = 1480 B, Total Length = 1500 B, MF = 1, Offset = 1480 / 8 = 185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Remaining payload = 3980 - 1480 - 1480 = 1020 B.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Frag 3: Header = 20 B, Payload = 1020 B, Total Length = 1040 B, MF = 0 (last fragment!), Offset = 2960 / 8 = 370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Frag 1: Len 1500, MF=1, Off=0 | Frag 2: Len 1500, MF=1, Off=185 | Frag 3: Len 1040, MF=0, Off=370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Always verify that Fragment Offset values are integer multiples of 8 bytes!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2.2.2.3 Worked KTU Numerical: CIDR Subnetting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M2.2.2 SUBNETTING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An organization is allocated the block `200.50.16.0/24`. Design 4 equal-sized subnets. For each subnet, specify: (a) Subnet Mask, (b) Network Address, (c) Usable Host Range, (d) Direct Broadcast Address, (e) Maximum usable hosts.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Given /24 network: 8 host bits (256 addresses).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To create 4 subnets: Need 2 subnet bits (2^2 = 4). New prefix = /24 + 2 = /26.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Block size per subnet = 256 / 4 = 64 addresses.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Usable hosts per subnet = 2^(32 - 26) - 2 = 64 - 2 = 62 hosts.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Subnet Mask: 255.255.255.192 (/26)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Subnet 1: Net = 200.50.16.0/26 | Hosts = 200.50.16.1 to 200.50.16.62 | Broadcast = 200.50.16.63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Subnet 2: Net = 200.50.16.64/26 | Hosts = 200.50.16.65 to 200.50.16.126 | Broadcast = 200.50.16.127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Subnet 3: Net = 200.50.16.128/26 | Hosts = 200.50.16.129 to 200.50.16.190 | Broadcast = 200.50.16.191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Subnet 4: Net = 200.50.16.192/26 | Hosts = 200.50.16.193 to 200.50.16.254 | Broadcast = 200.50.16.255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4 Subnets of /26 mask (255.255.255.192), each accommodating 62 usable hosts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First address is Network ID; Last address is Directed Broadcast; both cannot be assigned to hosts.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IPv4, CIDR &amp; NAT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Draw the complete IPv4 header format and explain all fields with numerical significance.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working of Network Address Translation (NAT) and Port Address Translation (PAT) with translation table examples.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What is ICMP? Explain its role in error reporting (Destination Unreachable, Time Exceeded) and diagnostic tools (`ping`, `traceroute`).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IPv4 fragmentation uses ID, Flags (DF, MF), and Offset in 8-byte blocks.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CIDR replaces classful boundaries with arbitrary prefix lengths (/N) and Longest Prefix Matching.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NAT allows private IP subnets (RFC 1918) to share a single public IP using port mapping tables.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M2.2.3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Unicast Routing Protocols &amp; Algorithms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Link-State Routing &amp; Dijkstra's Algorithm, Distance-Vector &amp; Bellman-Ford, Count-to-Infinity, RIP, OSPF &amp; BGP-4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2.2.3.1 Link-State (LS) vs Distance-Vector (DV)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M2.2.3 LS VS DV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Link-State (LS) Routing (e.g., OSPF)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Global Topology Knowledge: Every router floods link-state advertisements (LSAs); all nodes possess full network topology graph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Algorithm: Dijkstra's Shortest Path Algorithm run locally on each router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Convergence Speed: Ultra-fast convergence; zero routing loops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Message Overhead: $O(N \cdot E)$ messages flooded periodically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Complexity: $O(V^2)$ or $O(E \log V)$ computation per router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Distance-Vector (DV) Routing (e.g., RIP)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Local Knowledge Only: Routers only know cost to immediate direct neighbors; exchange vectors periodically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Algorithm: Distributed Bellman-Ford equation: $d_x(y) = \min_v \{c(x,v) + d_v(y)\}$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Convergence Speed: Slow convergence; susceptible to Count-to-Infinity problem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Mitigation: Split Horizon and Poisoned Reverse rules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Simplicity: Lightweight computation; suitable for small networks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2.2.3.2 Internet Routing Protocols: RIP vs OSPF vs BGP-4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M2.2.3 PROTOCOL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RIP (Routing Information Protocol - RFC 2453)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Intra-AS Distance Vector protocol. Uses Hop Count metric (max 15 hops; 16 = infinity). Updates broadcast every 30s over UDP port 520.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OSPF (Open Shortest Path First - RFC 2328)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Intra-AS Link State protocol. Uses link cost based on inverse bandwidth. Hierarchical design with Area 0 (Backbone Area) and non-backbone areas. Runs directly over IP protocol 89. Supports authenticated LSA flooding and ECMP (Equal-Cost Multi-Path).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BGP-4 (Border Gateway Protocol - RFC 4271)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Inter-AS Path Vector protocol glueing the global Internet together. Operates over reliable TCP port 179. Advertises AS-PATH attributes to prevent loops and enforces policy-based business routing between Autonomous Systems (eBGP and iBGP).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Protocol Matrix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RIP: DV, Hop count (Max 15), UDP 520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OSPF: LS, Dijkstra, IP 89, Areas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BGP: Path Vector, AS-PATH, TCP 179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Intra-AS: RIP, OSPF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Inter-AS: BGP-4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Unicast Routing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Dijkstra's shortest path algorithm with a step-by-step table derivation for a 5-node network graph. (9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What is the Count-to-Infinity problem in Distance Vector routing? Explain how Split Horizon and Poisoned Reverse mitigate it.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RIP, OSPF, and BGP-4 with respect to routing algorithm, metric, transport protocol, and scalability.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Dijkstra computes shortest path trees using complete topological knowledge.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Distance vector iterates Bellman-Ford equations among adjacent neighbors.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OSPF structures networks into areas with Area 0 backbone to scale within large enterprises.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BGP-4 implements policy routing and loop prevention across Autonomous Systems using AS-PATH.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M2.2.4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Multicast Routing Protocols &amp; IGMP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Multicast Addressing (Class D), IGMP Host-Router Membership, Source-Based Trees vs Group-Shared Trees, RPF, PIM-DM vs PIM-SM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2.2.4.1 Multicast Fundamentals &amp; IGMP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M2.2.4 MULTICAST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Multicast Concept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Delivering a single stream of datagrams from one or more sources to a specific group of interested receivers simultaneously without duplicate packet transmission on shared links.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Multicast Addressing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IPv4 Class D range `224.0.0.0` to `239.255.255.255`. Special groups: `224.0.0.1` (All systems on subnet), `224.0.0.2` (All routers).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IGMP (Internet Group Management Protocol - RFC 3376)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Operates locally between end hosts and their attached first-hop multicast router. Hosts send IGMP Membership Reports; router sends periodic Membership Queries.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Multicast Routing Trees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**Source-Based Tree (Shortest Path Tree)**: Builds a separate tree rooted at each sender source (used in DVMRP, PIM-DM). 2. **Group-Shared Tree (Core-Based Tree)**: All sources transmit to a shared Rendezvous Point (RP) / Core router (used in PIM-SM).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Reverse Path Forwarding (RPF)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Loop-prevention rule: Router accepts a multicast packet only if it arrived on the interface that is the shortest path back to the sender source.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Mechanisms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Class D: 224.0.0.0/4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IGMP: Local group membership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Source Tree: Optimal delay per source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Shared Tree: Minimal router state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RPF: Prevents multicast loops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2.2.4.2 PIM Protocols: Dense Mode (PIM-DM) vs Sparse Mode (PIM-SM)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M2.2.4 PIM DENSE VS SPARSE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PIM Dense Mode (PIM-DM / Flood &amp; Prune)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Assumed Environment: Receivers densely populated across almost every subnet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Tree Construction: Source-Based Shortest Path Trees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Mechanics: 1. **Flood**: Broadcasts multicast traffic everywhere \n 2. **Prune**: Routers with no interested members send Prune messages back upstream \n 3. **Graft**: New receivers send Graft to re-attach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Overhead: High periodic flooding overhead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PIM Sparse Mode (PIM-SM / Explicit Join)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Assumed Environment: Receivers sparsely distributed across wide area WAN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Tree Construction: Group-Shared Tree rooted at Rendezvous Point (RP)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Mechanics: 1. Receivers send explicit `IGMP Join` -&gt; Router sends `PIM Join` towards RP \n 2. Sources register with RP \n 3. Traffic flows down shared tree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Overhead: Zero flooding; highly scalable for enterprise IPTV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Multicast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role of IGMP in managing multicast group memberships on local subnets.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Source-Based Trees and Group-Shared Trees in multicast routing.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working of PIM-DM (Flood and Prune) versus PIM-SM (Rendezvous Point and Explicit Joins).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IGMP connects local hosts to their edge multicast router.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Source-based trees minimize latency per sender; Shared trees minimize router state.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RPF algorithm discards packets that do not arrive on the shortest return path to the source.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M2.2.5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Next Generation IP: IPv6 Architecture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IPv6 128-Bit Addressing, 40-Byte Fixed Header, Extension Headers, IPv4 vs IPv6 Comparison, Transition Strategies (Dual Stack, Tunneling, NAT64)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2.2.5.1 IPv6 Addressing &amp; 40-Byte Fixed Header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M2.2.5 IPV6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Motivation for IPv6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Exhaustion of the 32-bit IPv4 address space ($2^{32} \approx 4.3 \times 10^9$ addresses). IPv6 provides $2^{128} \approx 3.4 \times 10^{38}$ unique addresses.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IPv6 Address Notation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8 groups of 4 hexadecimal digits separated by colons (e.g., `2001:0db8:85a3:0000:0000:8a2e:0370:7334`). Leading zeros omitted (`2001:db8:85a3::8a2e:370:7334`); `::` compresses consecutive zero blocks once.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40-Byte Fixed Header Format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Version (4b: 6) | Traffic Class (8b: QoS DSCP) | Flow Label (20b: identifies packet flow for non-default routing) \n Payload Length (16b: data + extension headers) | Next Header (8b: specifies upper layer or extension header) | Hop Limit (8b: decremented per hop, replaces TTL) \n Source IPv6 Address (128 bits / 16 bytes) \n Destination IPv6 Address (128 bits / 16 bytes).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Key Structural Improvements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No header checksum (speeds up router processing), no in-network fragmentation (handled via Path MTU Discovery by end hosts), fixed 40-byte base size.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Header Breakdown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Fixed Header: Exactly 40 Bytes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Source IP: 128 bits (16 B)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Destination IP: 128 bits (16 B)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Hop Limit: Replaces TTL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Next Header: Chains extensions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Flow Label: 20-bit stream tagging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2.2.5.2 IPv4 vs IPv6 &amp; Transition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M2.2.5 IPV4 VS IPV6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IPv4 vs IPv6 Header Comparison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Address Size: IPv4: 32 bits (4 Bytes) vs IPv6: 128 bits (16 Bytes)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Header Length: IPv4: Variable 20-60B (IHL field) vs IPv6: Fixed 40 Bytes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Checksum: IPv4: 16-bit header checksum vs IPv6: Removed entirely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Fragmentation: IPv4: Routers fragment packets vs IPv6: End systems only (PMTUD)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Broadcast: IPv4: Broadcast supported vs IPv6: Replaced by Multicast &amp; Anycast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IPv4 to IPv6 Migration Mechanisms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Dual Stack: Nodes run both IPv4 and IPv6 protocol stacks simultaneously on all interfaces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Tunneling (6to4 / Teredo): IPv6 datagrams encapsulated as payload inside IPv4 packets across legacy IPv4 transit networks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Header Translation (NAT64/DNS64): Translates IPv6 packet headers directly to IPv4 headers for legacy server interoperation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IPv6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Draw the IPv6 fixed header format and explain all fields. How does it improve router forwarding performance over IPv4?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IPv4 and IPv6 across addressing, header structure, fragmentation, and error checking.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three transition mechanisms from IPv4 to IPv6: Dual Stack, Tunneling, and NAT64.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IPv6 fixed 40-byte header streamlines hardware ASIC forwarding.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Extension headers (Hop-by-Hop, Routing, Fragment, ESP, AH) are daisy-chained via `Next Header`.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Dual stack and encapsulation tunneling enable smooth evolutionary migration from IPv4.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M2.2.6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Quality of Service (QoS) &amp; Traffic Shaping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QoS Metrics (Delay, Jitter, Loss), Traffic Policing vs Shaping, Leaky Bucket vs Token Bucket, Scheduling (FIFO, WFQ), DiffServ vs IntServ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2.2.6.1 Traffic Shaping: Leaky Bucket vs Token Bucket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M2.2.6 TRAFFIC SHAPING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Leaky Bucket Algorithm (Constant Output)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Concept: A bucket with a hole at the bottom; incoming packets buffer up to bucket capacity $C$ and leak out at a strictly constant rate $\rho$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Output Profile: Strictly constant, smooth output stream regardless of incoming burstiness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Burst Handling: Eliminates bursts entirely; discards packets if bucket overflows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Suitability: Constant Bit Rate (CBR) traffic like uncompressed voice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Token Bucket Algorithm (Burst-Tolerant)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Concept: Tokens generate at rate $r$ tokens/sec up to max token capacity $b$. A packet of size $m$ bytes consumes $m$ tokens to transmit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Output Profile: Allows short-term traffic bursts up to bucket size $b$ while enforcing average long-term rate $r$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Burst Handling: Max burst transmission speed = link wire rate $R$ for duration $T = b / (R - r)$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Suitability: Variable Bit Rate (VBR) video streaming and web traffic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2.2.6.2 Worked KTU Numerical: Token Bucket Burst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M2.2.6 TOKEN BUCKET NUMERICAL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token bucket has token arrival rate r = 2 MB/sec and token bucket capacity b = 16 MB. The transmission link wire rate is R = 10 MB/sec. Calculate: (a) Maximum burst duration at wire rate R, (b) Maximum total data transmitted during this burst period.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Burst duration formula: T = b / (R - r)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Where b = bucket size (MB), R = peak transmission rate (MB/s), r = token replenishment rate (MB/s).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Total data transmitted during burst: D = R * T = (b * R) / (R - 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b = 16 MB, R = 10 MB/s, r = 2 MB/s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T = 16 / (10 - 2) = 16 / 8 = 2.0 seconds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Total data transmitted = R * T = 10 MB/s * 2.0 s = 20 MB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Verification: Initial tokens (16 MB) + Newly generated tokens in 2s (2 MB/s * 2s = 4 MB) = 20 MB.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Max Burst Duration T = 2.0 seconds | Total Burst Data = 20 MB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After 2 seconds, the transmission rate drops strictly to the average token rate r = 2 MB/sec.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Quality of Service (QoS)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Traffic Policing and Traffic Shaping with neat diagrams.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Leaky Bucket and Token Bucket traffic shaping algorithms with equations and operating principles.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Differentiated Services (DiffServ) architecture: Packet Classification, DSCP marking, and Per-Hop Behaviors (EF &amp; AF).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Leaky bucket produces rigid constant output; Token bucket permits regulated bursts.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Weighted Fair Queuing (WFQ) guarantees minimum bandwidth shares to different service classes.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DiffServ scales across WANs by classifying packets at boundary routers and using 6-bit DSCP markings.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M2.3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Linux Kernel TCP/IP Stack &amp; Routing Implementation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Linux Network Packet Flow, sk_buff Data Structure, net_device, Forwarding Information Base (FIB), Route Cache, Linux iproute2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2.3.1 Linux Kernel Network Subsystem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M2.3 LINUX KERNEL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The `sk_buff` (Socket Buffer) Structure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universal data structure representing network packets in Linux. Contains pointers: `head`, `data`, `tail`, `end`. Allows zero-copy header prepending/stripping across layers simply by moving the `data` pointer.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Packet Ingress Flow (RX)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NIC receives frame -&gt; DMA transfer to Ring Buffer -&gt; Triggers Hard IRQ -&gt; NAPI poll scheduled (SoftIRQ `NET_RX_SOFTIRQ`) -&gt; `netif_receive_skb()` -&gt; L3 `ip_rcv()` -&gt; L4 `tcp_v4_rcv()` -&gt; Socket receive queue -&gt; `read()`.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Packet Egress Flow (TX)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App calls `write()` -&gt; L4 `tcp_sendmsg()` creates `sk_buff` -&gt; L3 `ip_queue_xmit()` routes packet -&gt; L2 `dev_queue_xmit()` enqueues to `qdisc` -&gt; NIC DMA transmit -&gt; Hardware TX IRQ.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Forwarding Information Base (FIB)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core kernel routing table in Linux organized as a fast LC-trie (Level-Compressed Trie) supporting sub-microsecond Longest Prefix Matching.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Policy-Based Routing (PBR)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Linux supports multiple routing tables selected via `ip rule` based on source IP, TOS, fwmark, or incoming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Kernel Data Structures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sk_buff: Packet descriptor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net_device: Hardware NIC abstraction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FIB: Kernel routing table trie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qdisc: Traffic queuing discipline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NAPI: Interrupt mitigation polling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2.3.2 Hands-On: Linux Kernel Routing with `iproute2`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M2.3 LINUX IPROUTE2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6217920" cy="4892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5943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D97706"/>
                </a:solidFill>
              </a:defRPr>
            </a:pPr>
            <a:r>
              <a:t>// Linux Socket &amp; Protocol Implementation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# Linux iproute2 Advanced Routing Commands</a:t>
            </a:r>
            <a:br/>
            <a:br/>
            <a:r>
              <a:t># 1. Inspect kernel routing table</a:t>
            </a:r>
            <a:br/>
            <a:r>
              <a:t>ip route show</a:t>
            </a:r>
            <a:br/>
            <a:br/>
            <a:r>
              <a:t># 2. Add static route via gateway</a:t>
            </a:r>
            <a:br/>
            <a:r>
              <a:t>ip route add 192.168.10.0/24 via 10.0.0.1 dev eth0</a:t>
            </a:r>
            <a:br/>
            <a:br/>
            <a:r>
              <a:t># 3. Create Policy-Based Routing (PBR) table</a:t>
            </a:r>
            <a:br/>
            <a:r>
              <a:t>echo "200 custom_table" &gt;&gt; /etc/iproute2/rt_tables</a:t>
            </a:r>
            <a:br/>
            <a:r>
              <a:t>ip rule add from 192.168.1.50 table custom_table</a:t>
            </a:r>
            <a:br/>
            <a:r>
              <a:t>ip route add default via 10.0.0.254 dev eth1 table custom_table</a:t>
            </a:r>
            <a:br/>
            <a:br/>
            <a:r>
              <a:t># 4. Flush and inspect route cache</a:t>
            </a:r>
            <a:br/>
            <a:r>
              <a:t>ip route flush cache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234440"/>
            <a:ext cx="438912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3716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1E4A"/>
                </a:solidFill>
              </a:defRPr>
            </a:pPr>
            <a:r>
              <a:t>⚙️ System Call &amp; Execution Workflow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`ip route` Suite: Replaces deprecated `route` and `ifconfig` tools with direct Netlink socket communication to kernel.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Custom Routing Tables: Linux supports up to 255 independent routing tables for multi-homing and ISP failover.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`ip rule` Subsystem: Evaluates routing policy database (RPDB) rules sequentially to select appropriate routing table.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Route Cache Behavior: Historical kernels maintained route hash cache; modern kernels use ultra-fast lockless FIB trie lookups.</a:t>
            </a:r>
          </a:p>
          <a:p>
            <a:pPr>
              <a:defRPr b="1" sz="1150">
                <a:solidFill>
                  <a:srgbClr val="0E7490"/>
                </a:solidFill>
              </a:defRPr>
            </a:pPr>
            <a:r>
              <a:t>💡 Hands-on Insight: Kernel `sk_buff` zero-copy architecture allows Linux to process millions of packets per second per CPU core.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Linux Kernel Routing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architecture and role of the `sk_buff` data structure in Linux packet processing.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Trace the step-by-step path of an incoming packet from physical NIC reception to application socket delivery in the Linux kernel.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Demonstrate Policy-Based Routing (PBR) in Linux using `ip rule` and `ip route` commands.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`sk_buff` avoids costly memory copies across protocol layers using internal buffer pointers.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NAPI SoftIRQs prevent interrupt livelock during heavy packet bursts.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FIB LC-trie enables sub-microsecond Longest Prefix Matching across hundreds of thousands of BGP routes.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MASTER • MODULE 3 MASTER DECK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Data Link Layer, MAC Protocols &amp; Wireless LANs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Complete Lecture Slides for KTU PCCST501 Computer Networks | Topics M3.1 through M3.9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M3.1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Data Link Layer Design &amp; Framing Techniques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Node-to-Node Link Services, Character Count, Byte Stuffing (Flag/ESC), Bit Stuffing (HDLC), Physical Coding Violations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3.1.1 Data Link Layer Design &amp; Link Abstraction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M3.1 FRAMING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Node-to-Node Service Mission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Responsible for transferring datagrams from one node (host, router, switch) to an adjacent node over an individual physical communication link.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Link Layer Responsibilities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**Framing**: Encapsulating L3 datagrams into L2 frames with header and trailer. 2. **Link Access**: MAC protocols coordinate shared medium access. 3. **Reliable Delivery**: Flow control and ARQ on error-prone wireless links. 4. **Error Detection &amp; Correction**: Parity, Checksum, CRC, Hamming codes.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Framing Methods Overview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Character Count, 2. Byte Stuffing (Character-oriented), 3. Bit Stuffing (Bit-oriented), 4. Physical Layer Coding Violations (e.g., Manchester invalid transitions).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Framing Taxonomy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Byte Count: Header count field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Byte Stuffing: Flag + ESC bytes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Bit Stuffing: 5 consecutive 1s rule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Physical Violations: Line coding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FCS: CRC trailer at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3.1.2 Stuffing Techniques: Byte Stuffing vs Bit Stuffing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M3.1 STUFFING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Byte Stuffing (Character-Oriented Framing)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Delimiter: Frame begins and ends with dedicated Flag Byte `FLAG` (e.g., `0x7E` in PPP)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Escape Mechanism: If `FLAG` occurs inside payload data, sender inserts an Escape Byte `ESC` (`0x7D`) immediately before it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ESC in Data: If `ESC` itself appears in data, sender escapes it with another `ESC` (`ESC ESC`)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Receiver Action: Receiver strips any `ESC` byte and treats following byte as raw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Bit Stuffing (Bit-Oriented Framing / HDLC)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Delimiter Pattern: Frame delimited by 8-bit flag pattern `01111110` (`0x7E`) at start and end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Sender Rule: Whenever sender encounters **5 consecutive 1s** in data stream (`11111`), it automatically stuffs a **`0` bit** immediately after it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Receiver Rule: Whenever receiver detects 5 consecutive 1s: if 6th bit is `0`, it de-stuffs (discards) the `0`; if 6th bit is `1` and 7th is `0`, it recognizes `FLAG`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Advantage: Completely arbitrary payload length; zero character-set dependency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Data Link Layer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four framing methods used in the Data Link Layer with neat diagrams.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Given the data bit stream `01101111110111110010`, show the transmitted bit sequence after bit stuffing in HDLC.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Bit stuffing inserts a 0 after five consecutive 1s to prevent false flag detection.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Byte stuffing uses escape characters (`ESC`) to preserve transparency in character protocols.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Framing enables receivers to reliably locate the start and end of frames in raw bit streams.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M3.2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Data Link Control: Error Detection, Correction &amp; Flow Control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Hamming Distance, 2D Parity, Internet Checksum, CRC-32 Modulo-2 Division, Hamming (7,4) Code, Stop-and-Wait, Go-Back-N, Selective Repeat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3.2.1 Block Coding &amp; Hamming Distance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M3.2 ERROR CONTROL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Block Coding Principles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Dataword of $k$ bits encoded into Codeword of $n$ bits ($n &gt; k$) by appending $r = n - k$ redundant parity bits.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Hamming Distance $d(x,y)$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number of bit positions in which two codewords $x$ and $y$ differ (computed by taking XOR and counting number of 1s).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Minimum Hamming Distance ($d_{min}$)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smallest Hamming distance between any pair of valid codewords in the codebook.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Error Detection Capability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To detect up to $s$ bit errors: $d_{min} \ge s + 1$ (e.g., Simple Parity has $d_{min} = 2$, detects single-bit errors $s = 1$).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Error Correction Capability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To correct up to $t$ bit errors: $d_{min} \ge 2t + 1$ (e.g., Single-bit error correction $t = 1$ requires $d_{min} \ge 3$).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Hamming Distance Rules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Detect s errors: d_min &gt;= s + 1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Correct t errors: d_min &gt;= 2t + 1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Simple Parity: d_min = 2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Hamming (7,4): d_min = 3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 parity bits: 2^r &gt;= k + r + 1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3.2.2 Worked KTU Numerical: CRC Modulo-2 Polynomial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M3.2 CRC WORKED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data bit stream D = 10100100 is to be transmitted using CRC generator polynomial G(x) = x^4 + x^2 + 1 (binary generator G = 10101). (a) Determine the 4-bit CRC Checksum (Frame Check Sequence FCS), (b) What codeword is transmitted? (c) Show that receiver detects zero remainder in the absence of bit errors.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Generator G(x) = x^4 + x^2 + 1 -&gt; Degree r = 4 -&gt; Generator bit string G = 10101 (5 bits).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Step 1: Append r = 4 zeros to data D: D' = 10100100 0000 (12 bits).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Step 2: Perform Modulo-2 binary division (XOR operations) of D' by G.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Step 3: Remainder of division is the 4-bit CRC Checksum 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Dividend: 101001000000 | Divisor: 10101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10100 XOR 10101 -&gt; Remainder 00001; bring down bits -&gt; 0001100...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Continuing Modulo-2 XOR division yields 4-bit Remainder R = 1100.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Transmitted Codeword T = Data + CRC = 10100100 1100 (12 bits).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Receiver Divides T (101001001100) by G (10101) -&gt; Remainder = 0000 (Valid / No errors!).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CRC Checksum = 1100 | Transmitted Codeword = 101001001100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Modulo-2 addition and subtraction are both identical to bitwise XOR with zero carries/borrows.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3.2.3 Worked KTU Numerical: Hamming (7,4) Single-Bit Error Correction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M3.2 HAMMING CODE WORKED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4-bit dataword D = 1011 (d4=1, d3=0, d2=1, d1=1) is encoded using Hamming (7,4) code with parity bits at positions 1, 2, 4. (a) Generate 7-bit codeword. (b) If received word is R = 1011011, calculate syndrome bits (s3, s2, s1) and locate the erroneous bit position.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Bit positions 1 to 7: p1 (pos 1), p2 (pos 2), d1 (pos 3), p4 (pos 4), d2 (pos 5), d3 (pos 6), d4 (pos 7).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p1 checks positions with bit 1 set (1, 3, 5, 7): p1 = d1 XOR d2 XOR d4.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p2 checks positions with bit 2 set (2, 3, 6, 7): p2 = d1 XOR d3 XOR d4.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p4 checks positions with bit 4 set (4, 5, 6, 7): p4 = d2 XOR d3 XOR d4.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Syndrome S = (s4 s2 s1) indicates decimal error bit position (0 = no error).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p1 = 1 XOR 1 XOR 1 = 1 | p2 = 1 XOR 0 XOR 1 = 0 | p4 = 1 XOR 0 XOR 1 = 0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Generated Codeword: (p1, p2, d1, p4, d2, d3, d4) = (1, 0, 1, 0, 1, 0, 1) -&gt; 1010101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Received Word R = (r1..r7) = (1, 1, 0, 1, 1, 0, 1) (bit 2 corrupted!)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s1 = r1 XOR r3 XOR r5 XOR r7 = 1 XOR 0 XOR 1 XOR 1 = 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s2 = r2 XOR r3 XOR r6 XOR r7 = 1 XOR 0 XOR 0 XOR 1 = 0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6: s4 = r4 XOR r5 XOR r6 XOR r7 = 1 XOR 1 XOR 0 XOR 1 = 1 -&gt; Syndrome = 101_2 = Pos 5 (d2 corrupted!)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Syndrome S = 101 (Binary 5) -&gt; Bit position 5 is inverted and corrected!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Hamming (7,4) code can correct any single-bit error and detect any double-bit error.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3.2.4 Sliding Window Flow Control: Stop-and-Wait vs GBN vs Selective Repeat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M3.2 ARQ PROTOCOLS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Stop-and-Wait ARQ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Window Size: $W_s = 1$, $W_r = 1$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Sequence Bits: 1-bit ($m=1$, sequence numbers 0 and 1)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Efficiency: Extremely low on high-bandwidth-delay product links: $\eta = 1 / (1 + 2a)$ where $a = t_{prop} / t_{trans}$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Buffering: 1 frame buffer at sender and receiver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Go-Back-N (GBN) ARQ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Window Size: $W_s = 2^m - 1$, $W_r = 1$ (Cumulative ACKs)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On Loss: Discards all subsequent out-of-order frames; retransmits entire window from lost frame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Sender Buffer: Buffers $W_s$ frames; receiver requires zero buffer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Efficiency: High efficiency unless error rate is severe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D97706"/>
                </a:solidFill>
              </a:defRPr>
            </a:pPr>
            <a:r>
              <a:t>Selective Repeat (SR) ARQ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Window Size: $W_s = 2^{m-1}$, $W_r = 2^{m-1}$ (Individual ACKs)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On Loss: Receiver buffers out-of-order frames; sender retransmits **only the lost frame**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Buffer Needs: Both sender and receiver maintain $2^{m-1}$ buffer queues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Efficiency: Optimal bandwidth utilization on noisy channels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Error Detection &amp; Flow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CRC error detection with a polynomial division example. Why is CRC implemented in hardware with LFSR shift registers?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Derive the maximum sender window size for Go-Back-N ($2^m - 1$) and Selective Repeat ($2^{m-1}$). Explain why exceeding these limits causes protocol failure.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Hamming (7,4) code with syndrome error correction calculation.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CRC detects all single-bit, double-bit, odd numbers of errors, and burst errors up to generator polynomial degree $r$.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Go-Back-N window is $2^m - 1$ to prevent receiver from mistaking duplicate frames for new ones.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Selective Repeat requires equal sender and receiver window sizes bounded at $2^{m-1}$.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M3.3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Multiple Access Control (MAC) Protocols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Random Access (Pure &amp; Slotted ALOHA, CSMA, CSMA/CD, CSMA/CA), Controlled Access (Polling, Token Ring), Channelization (CDMA)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3.3.1 Random Access: Pure ALOHA vs Slotted ALOHA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M3.3 ALOHA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Pure ALOHA (Norman Abramson, 1970)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Transmission Rule: Transmit continuous frame whenever data is ready without sensing channel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Vulnerable Period: $V_p = 2 \times T_{frame}$ (Collision occurs if any other node transmits within 2 frame times)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Throughput Formula: $S = G \cdot e^{-2G}$ where $G$ = traffic load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Maximum Efficiency: Maximum throughput $S_{max} = 1 / (2e) \approx 18.4\%$ at $G = 0.5$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Collisions: High collision rate due to uncoordinated overlapping frames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Slotted ALOHA (Roberts, 1972)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Transmission Rule: Time divided into discrete slots equal to $T_{frame}$. Nodes transmit strictly at slot boundaries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Vulnerable Period: $V_p = 1 \times T_{frame}$ (Halves vulnerability interval)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Throughput Formula: $S = G \cdot e^{-G}$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Maximum Efficiency: Maximum throughput $S_{max} = 1 / e \approx 36.8\%$ at $G = 1.0$ (Exactly doubles Pure ALOHA!)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Synchronization: Requires global slot synchronization across all nodes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3.3.2 CSMA/CD: Carrier Sense Multiple Access with Collision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M3.3 CSMA/CD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Carrier Sense (Listen Before Talk)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Node listens to channel before transmitting. 1-persistent: transmits immediately when idle; Non-persistent: waits random backoff if busy; p-persistent: transmits with probability $p$ when idle.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Collision Detection (Listen While Talk)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Node continuously monitors voltage/energy on wire while transmitting. If signal amplitude exceeds collision threshold, collision is detected immediately!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Jam Signal &amp; Abort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Upon detecting collision, node aborts transmission immediately and broadcasts a 32-48 bit **Jam Signal** to ensure all other nodes detect the collision.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Minimum Frame Size Constraint ($L_{min}$)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To ensure a sender does not finish transmitting before collision signal propagates back: $T_{frame} \ge 2 \times T_{prop} \implies \frac{L_{min}}{R} \ge 2 \cdot \frac{d}{s} \implies L_{min} = 2 \times T_{prop} \times R$.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Binary Exponential Backoff (BEB)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After $k$-th collision ($k \le 10$), node picks random wait slot $r \in \{0, 1, 2, \dots, 2^k - 1\}$ and waits $r \times 512$ bit times. Aborts after 16 consecutive collisions.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CSMA/CD Summary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1-persistent sense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Jam signal on collision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L_min = 2 * t_prop * 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Standard Ethernet L_min = 64 Bytes (512 bits)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Backoff range: [0, 2^k - 1]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3.3.3 Worked KTU Numerical: CSMA/CD Minimum Frame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M3.3 CSMA/CD NUMERICAL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1 Gbps Ethernet LAN runs over a 1 km fiber link with propagation speed s = 2 * 10^8 m/s. Calculate the minimum frame size required for proper collision detection. If transmission rate is increased to 10 Gbps over the same link, what must the new minimum frame size be?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L_min = 2 * t_prop * R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t_prop = d / s = 1000 m / (2 * 10^8 m/s) = 5 * 10^-6 s = 5 microseconds.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Round-trip propagation time 2 * t_prop = 10 microseconds = 10^-5 seconds.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L_min = 2 * t_prop * R (bits).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For R = 1 Gbps = 10^9 bps: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L_min = 10^-5 s * 10^9 bps = 10,000 bits = 10,000 / 8 = 1250 Bytes.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For R = 10 Gbps = 10^10 bps: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L_min = 10^-5 s * 10^10 bps = 100,000 bits = 12,500 Bytes (12.5 KB).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Conclusion: At 10 Gbps, minimum frame size becomes unfeasibly large; hence 10 Gigabit Ethernet mandates full-duplex point-to-point links (disabling CSMA/CD entirely).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1 Gbps: L_min = 1250 Bytes | 10 Gbps: L_min = 12,500 Bytes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CSMA/CD is only applicable on half-duplex shared media; full-duplex switched Ethernet does not require CSMA/CD.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Multiple Access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Derive the maximum channel throughput for Pure ALOHA ($18.4\%$) and Slotted ALOHA ($36.8\%$) with vulnerable period diagrams.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working of CSMA/CD with the Binary Exponential Backoff (BEB) algorithm and minimum frame size derivation.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Code Division Multiple Access (CDMA) using orthogonal Walsh chip sequences with an encoding and decoding example.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Slotted ALOHA doubles Pure ALOHA efficiency by eliminating partial frame collisions.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Minimum frame size in CSMA/CD guarantees collision detection before transmission ends ($L_{min} = 2 \cdot t_{prop} \cdot R$).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CDMA allows simultaneous transmission over the same frequency band using orthogonal chip codes.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M3.4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Link-Layer Addressing &amp; Address Resolution Protocol (ARP)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48-Bit MAC Addresses (EUI-48), ARP Request (Broadcast) &amp; ARP Reply (Unicast), ARP Cache &amp; Timeout, Proxy ARP, Subnet Crossing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3.4.1 MAC Addressing &amp; Address Resolution Protocol (ARP)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M3.4 ARP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MAC Hardware Address (48 bits / 6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Burned into NIC ROM (e.g., `1A:2B:3C:4D:5E:6F`). First 24 bits = OUI (Organizationally Unique Identifier assigned by IEEE); Last 24 bits = Vendor NIC serial number.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ARP Mission (RFC 826)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Dynamically resolves a known 32-bit IP address into its corresponding 48-bit MAC address on the local physical subnet.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ARP Message Flow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**ARP Request**: Host broadcasts frame (`FF:FF:FF:FF:FF:FF`) asking: 'Who owns IP 192.168.1.5? Send your MAC to 192.168.1.2'. \n 2. **ARP Reply**: Target host unicasts reply containing its physical MAC address directly to the sender. \n 3. **ARP Table**: Sender caches the mapping in its local ARP Cache table with a TTL timer (typically 20 minutes).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Proxy ARP &amp; Gratuitous ARP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**Proxy ARP**: Router responds to ARP request on behalf of a remote node. **Gratuitous ARP**: Host announces its own IP/MAC to detect duplicate IP conflicts and update switch MAC tables.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ARP Key Facts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ARP Request: L2 Broadcast (FF:..:FF)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ARP Reply: L2 Unicast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L2 Frame Type: 0x0806 (ARP)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ARP Cache: Dynamic IP-&gt;MAC table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Gratuitous ARP: IP conflict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3.4.2 Packet Forwarding Across Subnets (MAC &amp; IP Rewriting)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M3.4 SUBNET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Scenario: Host A (Subnet 1) sends packet to Host B (Subnet 2) via Router R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Source Host A creates L3 IP packet: `Src IP = IP_A`, `Dst IP = IP_B` (IP addresses remain constant throughout end-to-end path).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Hop 1 (Host A -&gt; Router R)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Host A inspects routing table; determines destination `IP_B` is outside local subnet. Encapsulates IP packet into L2 frame: `Src MAC = MAC_A`, `Dst MAC = MAC_Router_Interface_1` (uses ARP to find router MAC).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Router R Processing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Router decapsulates L2 frame, inspects L3 `Dst IP = IP_B`, consults FIB routing table, decrements TTL, recomputes IP checksum, and determines outgoing Interface 2.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Hop 2 (Router R -&gt; Host B)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Router encapsulates packet into a fresh L2 frame: `Src MAC = MAC_Router_Interface_2`, `Dst MAC = MAC_B` (via ARP on Subnet 2).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Core Takeaway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**IP addresses remain unchanged end-to-end; MAC addresses change at every single router hop!**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Hop-by-Hop Headers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Hop 1: Src MAC_A -&gt; Dst MAC_R1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Hop 2: Src MAC_R2 -&gt; Dst MAC_B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End-to-End: Src IP_A -&gt; Dst IP_B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L2 MAC rewritten per hop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L3 IP preserved end-to-end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MAC Addressing &amp; ARP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operation of Address Resolution Protocol (ARP) with request and reply frame structures.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Trace the step-by-step changes in Source/Destination IP and Source/Destination MAC addresses as a packet travels from Host A to Host B across an intermediate router.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ARP bridges Layer 3 IP addresses to Layer 2 physical MAC addresses.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ARP requests are L2 broadcasts (`FF:FF:FF:FF:FF:FF`); ARP replies are L2 unicasts.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L3 IP addresses identify end hosts; L2 MAC addresses identify next-hop network interfaces.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M3.5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Ethernet Protocols &amp; IEEE 802.3 Architecture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Standard Ethernet (10M), Fast Ethernet (100M), Gigabit Ethernet (1G), 10GbE, IEEE 802.3 Frame Format (64B to 1518B)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3.5.1 IEEE 802.3 Ethernet Frame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M3.5 ETHERNET 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Preamble (7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7 bytes of alternating `10101010` patterns used to synchronize receiver clock circuitry.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Start of Frame Delimiter - SFD (1 Byte)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 byte pattern `10101011` indicating that destination MAC address begins immediately on the next bit.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Destination MAC Address (6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48-bit hardware address of target NIC (or broadcast `FF:FF:FF:FF:FF:FF`).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Source MAC Address (6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48-bit hardware address of sending NIC.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Type / Length Field (2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If $\ge 1536$ (0x0600), specifies upper layer protocol (EtherType: IPv4 `0x0800`, ARP `0x0806`, IPv6 `0x86DD`). If $\le 1500$, specifies frame payload length.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Payload / Data (46 to 1500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Carries L3 datagram. Minimum payload is 46 bytes (padded with zeros if smaller) to enforce the 64-byte minimum frame size constraint.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Frame Check Sequence - FCS (4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32-bit Cyclic Redundancy Check (CRC-32) computed over Dst MAC, Src MAC, Type, and Payload.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Frame Sizes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Preamble + SFD: 8 Bytes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Header + FCS: 18 Bytes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Min Payload: 46 Bytes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Max Payload (MTU): 1500 Bytes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Min Frame Size: 64 Bytes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Max Frame Size: 1518 Bytes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3.5.2 Ethernet Speed Evolution: Standard to 10GbE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M3.5 ETHERNET EVOLUTION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Standard &amp; Fast Ethernet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Standard (10 Mbps): 10Base5 (Thicknet coaxial), 10Base2 (Thinnet), 10Base-T (UTP Cat 3/5 with Hub/Switch). Uses Manchester line coding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Fast Ethernet (100 Mbps): 100Base-TX (Cat 5 UTP using 4B/5B and MLT-3 coding), 100Base-FX (Fiber). Introduces Auto-Negotiation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Gigabit &amp; 10G Ethernet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Gigabit Ethernet (1 Gbps): 1000Base-T (Cat 5e/6 UTP using 4 pairs full-duplex with 8B/10B coding), 1000Base-SX/LX (Fiber). Introduces Carrier Extension and Packet Bursting for half-duplex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10 Gigabit Ethernet (10 Gbps): 10GBase-T (Cat 6a/7) and 10GBase-SR/LR. Exclusively full-duplex switched connections; eliminates CSMA/CD completely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IEEE 802.3 Ethernet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Draw the IEEE 802.3 Ethernet frame format and explain the function of each field. Why is the minimum frame size 64 bytes and maximum 1518 bytes?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Standard Ethernet, Fast Ethernet, Gigabit Ethernet, and 10 Gigabit Ethernet with respect to medium, coding, and transmission modes.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Preamble and SFD synchronize bit timing; FCS trailer provides CRC-32 error detection.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64-byte minimum frame ensures collision detection in 10/100 Mbps CSMA/CD networks.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10GbE operates strictly in full-duplex mode over switches and fiber links.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M3.5V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Virtual Local Area Networks (VLANs - IEEE 802.1Q)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Broadcast Containment, Port-Based vs Tagged VLANs, IEEE 802.1Q 4-Byte Tag (VID 1-4094), Access vs Trunk Ports, Router-on-a-Stick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3.5V.1 VLAN Motivation &amp; IEEE 802.1Q Tagged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M3.5V VLAN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VLAN Motivation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Physically co-located hosts can be partitioned into logical broadcast domains regardless of physical switch topology. Prevents broadcast storms, enhances security, and organizes departments logically (e.g., Faculty VLAN, Student VLAN, Lab VLAN).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Port-Based VLAN (Untagged)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Switch ports assigned static VLAN IDs. Traffic inside switch segregated by port group; frames on access links remain standard untagged Ethernet frames.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IEEE 802.1Q Tagged Frame (4 Bytes Inserted after Source MAC)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**TPID (Tag Protocol Identifier - 16 bits)**: Set to `0x8100` (identifies frame as 802.1Q tagged). \n 2. **PCP (Priority Code Point - 3 bits)**: IEEE 802.1p Quality of Service priority (0 to 7). \n 3. **DEI (Drop Eligible Indicator - 1 bit)**: Set to 1 if frame can be dropped during congestion. \n 4. **VID (VLAN Identifier - 12 bits)**: Uniquely identifies VLAN number (1 to 4094; 0 and 4095 reserved).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Access Port vs Trunk Port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**Access Port**: Connects end hosts; carries traffic for 1 untagged VLAN only. **Trunk Port**: Interconnects switches/routers; carries multiplexed tagged traffic for multiple VLANs simultaneously.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IEEE 802.1Q Tag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TPID: 0x8100 (16 bits)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PCP: 3 bits (QoS Priority)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DEI: 1 bit (Drop eligibility)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VID: 12 bits (4094 VLANs)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Trunking: Carries tagged frames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Access: Carries untagged frames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3.5V.2 Inter-VLAN Routing: Router-on-a-Stick vs Layer 3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M3.5V INTER-VLAN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Why Inter-VLAN Routing?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By design, hosts on different VLANs cannot communicate at Layer 2 even if plugged into the same physical switch. Inter-VLAN routing requires Layer 3 packet forwarding.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Router-on-a-Stick (Legacy Approach)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single physical Ethernet interface on an external router is connected to a switch Trunk port. The router interface is divided into logical **Sub-interfaces** (e.g., `eth0.10`, `eth0.20`), each configured with the default gateway IP and 802.1Q encapsulation for its respective VLAN.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Layer 3 Switch (Modern Core Routing)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Switches with built-in hardware ASIC routing capabilities. Configured with **Switched Virtual Interfaces (SVIs)** (`interface vlan 10`, `interface vlan 20`) providing multi-gigabit wire-speed inter-VLAN routing without external router bottleneck.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Inter-VLAN Methods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Router-on-a-Stick: 1 Trunk link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Sub-interfaces: eth0.10, eth0.20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L3 Switch: Hardware SVI routing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Wire-speed routing in L3 switch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Isolates broadcast domains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Virtual LANs (VLANs)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M3.5V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benefits of VLANs and illustrate the 4-byte IEEE 802.1Q tag header format.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Access ports and Trunk ports on an Ethernet switch. (5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Inter-VLAN routing using the Router-on-a-Stick architecture with a network diagram and configuration concepts.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VLANs partition a single physical switch into multiple isolated broadcast domains.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IEEE 802.1Q tag inserts 4 bytes (TPID 0x8100 + 12-bit VID for 4094 VLANs).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Trunk links carry tagged multiplexed frames between switches and routers.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M3.6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Connecting Devices &amp; Spanning Tree Protocol (STP)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Repeaters, Hubs (L1), Bridges &amp; Layer 2 Switches (MAC Learning), Spanning Tree Protocol (IEEE 802.1D STP), Routers &amp; Layer 3 Switches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3.6.1 Connecting Devices Taxonomy &amp; Collision/Broadcast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M3.6 CONNECTING DEVICES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Layer 1: Repeaters &amp; Hubs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Operating Layer: Physical Layer (L1)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Function: Regenerates and amplifies electrical/optical signals; broadcasts incoming bits to all ports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Collision Domains: Single shared collision domain across all ports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Broadcast Domains: Single broadcast domain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Intelligence: Zero intelligence / No buffering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Layer 2: Bridges &amp; Switches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Operating Layer: Data Link Layer (L2)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Function: Inspects MAC addresses; filters and forwards frames selectively using hardware MAC Learning table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Collision Domains: Microsegmentation: **Each individual port is an isolated collision domain**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Broadcast Domains: Single broadcast domain (unless partitioned via VLANs)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Buffering: Store-and-forward / Cut-through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D97706"/>
                </a:solidFill>
              </a:defRPr>
            </a:pPr>
            <a:r>
              <a:t>Layer 3: Routers &amp; L3 Switches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Operating Layer: Network Layer (L3)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Function: Routes packets across heterogeneous networks using IP addresses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Collision Domains: Separate collision domain per port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Broadcast Domains: **Separates broadcast domains** (does not forward L2 broadcasts)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Routing Table: Maintains FIB routing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3.6.2 Spanning Tree Protocol (IEEE 802.1D STP)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M3.6 SPANNING TREE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The Layer 2 Loop Problem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Redundant links between switches provide fault tolerance, but create disastrous **Broadcast Storms**, multiple frame copies, and MAC table instability.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STP Goal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Logically disables redundant links by placing them in Blocking state, dynamically constructing a loop-free active tree topology while keeping backup paths on standby.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BPDU (Bridge Protocol Data Units)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Switches exchange BPDUs containing: `Bridge ID = Priority (2B) + MAC Address (6B)` (Default priority = 32768).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4-Step STP Algorithm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**Root Bridge Election**: Switch with the lowest Bridge ID becomes the Root Bridge. \n 2. **Root Port (RP) Selection**: On each non-root switch, the port with the lowest path cost to the Root Bridge is selected as RP. \n 3. **Designated Port (DP) Selection**: On each LAN segment, the port with the lowest path cost to Root becomes DP. \n 4. **Blocking State**: All remaining ports are placed in Blocking/Discarding state to break loops.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STP Algorithm Steps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1. Lowest Bridge ID -&gt; Root Bridge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2. Lowest Cost to Root -&gt; Root Port (RP)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3. Lowest Cost per Link -&gt; Designated Port (DP)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4. Remaining Ports -&gt; Blocked / Alternate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Convergence time: ~30-50 seconds (RSTP: &lt; 1s)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Connecting Devices &amp; STP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Repeaters, Hubs, Switches, and Routers with respect to operating layer, collision domains, and broadcast domains.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working of the Spanning Tree Protocol (IEEE 802.1D) with Bridge ID, Root Bridge election, Root Ports, and Blocking ports.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Hubs extend collision domains; Switches isolate collision domains; Routers isolate broadcast domains.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Transparent switches dynamically populate MAC tables by inspecting source MACs of arriving frames.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STP prevents broadcast storms by breaking physical switching loops into a single logical tree.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M3.7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Wireless LANs: IEEE 802.11 (Wi-Fi) Architecture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BSS, AP, ESS, Distribution System, Hidden/Exposed Terminal Problems, CSMA/CA with RTS/CTS, SIFS/PIFS/DIFS, 802.11 Frame (4 Addresses)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3.7.1 IEEE 802.11 Architecture &amp; Terminal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M3.7 WIRELESS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Basic Service Set (BSS)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fundamental building block consisting of wireless stations and a central Access Point (AP) in Infrastructure mode (or peer-to-peer in Ad-hoc / IBSS mode).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Extended Service Set (ESS)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Multiple BSSs interconnected via a wired Distribution System (DS) sharing a common SSID, enabling seamless roaming across campus.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Hidden Terminal Problem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Nodes A and C cannot hear each other due to distance or physical obstacles, but both are in range of AP B. If A and C transmit simultaneously, their frames collide at B!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Exposed Terminal Problem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Node B is transmitting to A. Node C wants to transmit to D (away from A). C senses B transmitting and unnecessarily defers, wasting channel capacity.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Solution: CSMA/CA with RTS/CTS Handshake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Sender transmits short **RTS (Request to Send)** frame (20B). AP replies with **CTS (Clear to Send)** broadcast (14B) containing Network Allocation Vector (NAV) reservation time, silencing hidden terminals.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802.11 Topology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BSS: AP + Associated Stations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ESS: Multiple BSSs + Wired DS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Hidden Terminal: Collisions at AP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RTS/CTS: Virtual carrier sensing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NAV: Channel reservation timer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3.7.2 CSMA/CA Protocol Timing Intervals &amp; 4-Address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M3.7 CSMA/CA TIMING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Inter-Frame Space (IFS) Hierarchy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**SIFS (Short IFS)**: Highest priority; used for immediate ACKs, CTS, and fragmented frames. \n 2. **PIFS (PCF IFS)**: Medium priority; used in polling mode. \n 3. **DIFS (DCF IFS)**: Standard priority; minimum wait time before station can contend for channel.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Contention Window (CW) &amp; Backoff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Station waits DIFS; if idle, selects random backoff slot in $[0, CW]$. Counts down while channel is idle; freezes counter during busy periods.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IEEE 802.11 4-Address Frame Format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Frame Control (2B) | Duration/ID (2B) | Address 1 (6B: Receiver MAC) | Address 2 (6B: Transmitter MAC) | Address 3 (6B: Original Source or Final Dest MAC) | Sequence Control (2B) | Address 4 (6B: Used strictly when bridging across WDS wireless distribution links) | Payload (0-2312B) | FCS (4B).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Timing Hierarchy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SIFS &lt; PIFS &lt; DIFS &lt; EIFS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SIFS: ACKs &amp; CTS (Highest priority)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DIFS: Standard data contention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Addr 1: Immediate Receiver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Addr 2: Immediate Transmitter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Addr 3: Original Source / Dest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Addr 4: WDS Wireless 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IEEE 802.11 Wireless 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Hidden Terminal and Exposed Terminal problems in Wireless LANs. How does CSMA/CA with RTS/CTS resolve them?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timing relationships between SIFS, PIFS, and DIFS in IEEE 802.11 CSMA/CA with a neat timing diagram.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four MAC address fields in the IEEE 802.11 frame format. When is Address 4 used?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Wireless radios cannot detect collisions while transmitting; hence Wi-Fi uses collision avoidance (CSMA/CA).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RTS and CTS frames carry NAV reservation timers to silence hidden nodes.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Address 4 is populated only when frames are bridged between two wireless APs in WDS mode.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M3.8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Mobile IP Architecture &amp; Protocols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Mobile Node (MN), Home Agent (HA), Foreign Agent (FA), Home Address (HoA), Care-of Address (CoA), Tunneling &amp; Triangle Routing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3.8.1 Mobile IP Architecture &amp; Entities (RFC 5944)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M3.8 MOBILE IP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The Mobility Challenge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Standard IP routing uses destination IP prefixes. If a mobile laptop moves to a new subnet, changing its IP address terminates all active TCP connections! Mobile IP allows a host to retain its permanent IP transparently.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Mobile IP Entities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**Mobile Node (MN)**: The roaming host. \n 2. **Home Network &amp; Home Agent (HA)**: The home subnet and the router acting on behalf of MN when away. \n 3. **Foreign Network &amp; Foreign Agent (FA)**: The visited subnet router assisting MN. \n 4. **Correspondent Node (CN)**: The peer host communicating with MN.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Dual-Address Mechanism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**Home Address (HoA)**: Permanent IP address assigned in home subnet (used for active TCP sessions). \n 2. **Care-of Address (CoA)**: Temporary IP address associated with visited foreign network.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Core Entities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MN: Mobile Node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HA: Home Agent router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FA: Foreign Agent router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HoA: Permanent IP address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CoA: Temporary visited IP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CN: Correspondent 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3.8.2 Operational Phases: Registration, Tunneling &amp; Triangle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M3.8 MOBILE IP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Phase 1: Agent Discovery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Foreign Agents broadcast periodic Agent Advertisements (ICMP extension); MN detects it has moved and obtains a CoA.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Phase 2: Registration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MN sends Registration Request to FA -&gt; FA forwards to Home Agent (HA) -&gt; HA updates binding table (`HoA -&gt; CoA`) and sends Registration Reply.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Phase 3: Data Transfer (IP-in-IP Encapsulation Tunneling)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CN sends packet to `HoA` -&gt; Routed to Home Network -&gt; Home Agent intercepts packet via Proxy ARP -&gt; HA encapsulates packet inside a new IP header (`Src IP = HA`, `Dst IP = CoA`) -&gt; Transmits through IP tunnel to FA -&gt; FA decapsulates and delivers to MN.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Reverse Path &amp; Triangle Routing Problem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MN sends directly to CN via standard IP routing. However, traffic from CN travels through HA -&gt; FA -&gt; MN (inefficient Triangle Routing). Solution: Route Optimization allows CN to cache MN's CoA and tunnel directly.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Tunneling Flow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CN -&gt; Home Agent (HoA)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HA intercepts (Proxy ARP)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HA tunnels to FA (IP-in-IP)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FA decapsulates -&gt; MN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MN replies directly to CN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Triangle Routing fixed via CoA cache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Mobile IP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architecture and entities of Mobile IP (MN, HA, FA, HoA, CoA) with a neat diagram.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three operational phases of Mobile IP: Agent Discovery, Registration, and Encapsulation Tunneling.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What is the Triangle Routing problem in Mobile IP, and how does Route Optimization solve it?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Mobile IP preserves TCP connection survivability during subnet roaming.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Home Agent intercepts packets using Proxy ARP and encapsulates them via IP-in-IP tunneling to the Care-of Address.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Triangle routing introduces latency by routing all forward traffic through the Home Agent.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M3.9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Linux Network Programming: Raw Sockets &amp; PF_PACKET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Data Link Provider Interface (DLPI), BSD Packet Filter (BPF), Linux PF_PACKET / AF_PACKET (SOCK_RAW, ETH_P_ALL), Promiscuous Sniffer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3.9.1 Hands-On: Packet Sniffing with Linux `PF_PACKET`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M3.9 LINUX RAW SOCKETS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6217920" cy="4892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5943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D97706"/>
                </a:solidFill>
              </a:defRPr>
            </a:pPr>
            <a:r>
              <a:t>// Linux Socket &amp; Protocol Implementation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#include &lt;sys/socket.h&gt;</a:t>
            </a:r>
            <a:br/>
            <a:r>
              <a:t>#include &lt;netinet/ether.h&gt;</a:t>
            </a:r>
            <a:br/>
            <a:r>
              <a:t>#include &lt;net/if.h&gt;</a:t>
            </a:r>
            <a:br/>
            <a:r>
              <a:t>#include &lt;sys/ioctl.h&gt;</a:t>
            </a:r>
            <a:br/>
            <a:br/>
            <a:r>
              <a:t>int main() {</a:t>
            </a:r>
            <a:br/>
            <a:r>
              <a:t>    // 1. Create Raw Packet Socket to capture all Ethernet frames</a:t>
            </a:r>
            <a:br/>
            <a:r>
              <a:t>    int raw_sock = socket(AF_PACKET, SOCK_RAW, htons(ETH_P_ALL));</a:t>
            </a:r>
            <a:br/>
            <a:r>
              <a:t>    </a:t>
            </a:r>
            <a:br/>
            <a:r>
              <a:t>    // 2. Enable Promiscuous Mode on network interface eth0</a:t>
            </a:r>
            <a:br/>
            <a:r>
              <a:t>    struct ifreq ifr;</a:t>
            </a:r>
            <a:br/>
            <a:r>
              <a:t>    strcpy(ifr.ifr_name, "eth0");</a:t>
            </a:r>
            <a:br/>
            <a:r>
              <a:t>    ioctl(raw_sock, SIOCGIFFLAGS, &amp;ifr);</a:t>
            </a:r>
            <a:br/>
            <a:r>
              <a:t>    ifr.ifr_flags |= IFF_PROMISC;</a:t>
            </a:r>
            <a:br/>
            <a:r>
              <a:t>    ioctl(raw_sock, SIOCSIFFLAGS, &amp;ifr);</a:t>
            </a:r>
            <a:br/>
            <a:r>
              <a:t>    </a:t>
            </a:r>
            <a:br/>
            <a:r>
              <a:t>    // 3. Capture and Dissect Raw Ethernet Frame</a:t>
            </a:r>
            <a:br/>
            <a:r>
              <a:t>    unsigned char buffer[2048];</a:t>
            </a:r>
            <a:br/>
            <a:r>
              <a:t>    while (1) {</a:t>
            </a:r>
            <a:br/>
            <a:r>
              <a:t>        int len = recvfrom(raw_sock, buffer, sizeof(buffer), 0, NULL, NULL);</a:t>
            </a:r>
            <a:br/>
            <a:r>
              <a:t>        struct ether_header *eth = (struct ether_header *)buffer;</a:t>
            </a:r>
            <a:br/>
            <a:r>
              <a:t>        printf("Src MAC: %s -&gt; Dst MAC: %s | Protocol: 0x%04X\n",</a:t>
            </a:r>
            <a:br/>
            <a:r>
              <a:t>               ether_ntoa((struct ether_addr *)eth-&gt;ether_shost),</a:t>
            </a:r>
            <a:br/>
            <a:r>
              <a:t>               ether_ntoa((struct ether_addr *)eth-&gt;ether_dhost),</a:t>
            </a:r>
            <a:br/>
            <a:r>
              <a:t>               ntohs(eth-&gt;ether_type));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234440"/>
            <a:ext cx="438912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3716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1E4A"/>
                </a:solidFill>
              </a:defRPr>
            </a:pPr>
            <a:r>
              <a:t>⚙️ System Call &amp; Execution Workflow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`AF_PACKET` / `PF_PACKET`: Linux-specific socket domain allowing direct interaction with Layer 2 device drivers, bypassing the standard kernel TCP/IP protocol stack entirely.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`SOCK_RAW` vs `SOCK_DGRAM`: `SOCK_RAW` provides raw Ethernet frames including L2 header and trailer; `SOCK_DGRAM` provides frames with L2 header stripped.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Protocol Filter `ETH_P_ALL`: Captures all incoming and outgoing frames (IPv4, ARP, IPv6, STP, VLAN).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Promiscuous Mode (`IFF_PROMISC`): Instructs the NIC hardware to disable MAC address filtering and deliver all overheard frames on the physical wire to the OS.</a:t>
            </a:r>
          </a:p>
          <a:p>
            <a:pPr>
              <a:defRPr b="1" sz="1150">
                <a:solidFill>
                  <a:srgbClr val="0E7490"/>
                </a:solidFill>
              </a:defRPr>
            </a:pPr>
            <a:r>
              <a:t>💡 Hands-on Insight: Used by network diagnostic tools like Wireshark, tcpdump, and custom IDS packet analysis engines.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Linux Raw Sockets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difference between standard Berkeley sockets (`AF_INET`) and Linux packet sockets (`AF_PACKET`).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Write a C program using `PF_PACKET` and `SOCK_RAW` to capture Ethernet frames and extract Source and Destination MAC addresses.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`AF_PACKET` gives direct access to Layer 2 raw Ethernet frames.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Promiscuous mode captures all frames on the shared link regardless of destination MAC.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`ETH_P_ALL` captures all Layer 3 protocol payloads.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4 MASTER • MODULE 4 MASTER DECK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Network Management &amp; Physical Layer Fundamentals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Complete Lecture Slides for KTU PCCST501 Computer Networks | Topics M4.1 through M4.6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4 • M4.1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Network Management Architecture &amp; SNMP Protocol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Managing Entities (Managers), Managed Devices (Agents), MIB, SNMP Protocol Operations, SNMPv1 vs SNMPv2c vs SNMPv3 (USM &amp; VACM)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4.1.1 Network Management Framework &amp; SNMP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M4.1 SNMP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Network Management Architecture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Consists of 4 pillars: 1. **Managing Entity (Manager / NMS)**: Centralized workstation running management software. 2. **Managed Devices**: Routers, switches, servers, hosts containing management data. 3. **Management Agent**: Software daemon running inside managed device. 4. **Management Information Base (MIB)**: Virtual database of manageable object variables.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SNMP Protocol (Simple Network Management Protocol - RFC 3411)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Operates over UDP port 161 (Manager to Agent queries) and UDP port 162 (Agent to Manager asynchronous Traps).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Core SNMP Protocol Operations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**GetRequest**: Manager fetches value of 1 or more MIB variables from Agent. \n 2. **GetNextRequest**: Manager fetches the lexicographically next MIB variable (used for MIB tree walking and table traversal). \n 3. **GetBulkRequest (v2c/v3)**: Fetches large blocks of table rows in a single packet. \n 4. **SetRequest**: Manager sets/modifies configuration value on Agent device. \n 5. **Response**: Agent returns requested data values or error status. \n 6. **Trap / InformRequest**: Unsolicited alert sent by Agent to Manager upon an event (e.g., link failure, reboot). `InformRequest` requires Manager 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SNMP Ports &amp; PDUs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UDP Port 161: Agent listener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UDP Port 162: Manager Trap listener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GetRequest: Read variable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SetRequest: Write configuration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GetNext: Sequential MIB walk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GetBulk: Fast table download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Trap: Asynchronous alert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4.1.2 SNMP Version Evolution: SNMPv1 vs SNMPv2c vs SNMPv3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M4.1 SNMP EVOLUTION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SNMPv1 &amp; SNMPv2c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Security Model: Plaintext Community Strings (`public` for read-only, `private` for read-write). Vulnerable to packet sniffing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Operations (v1): Get, GetNext, Set, Response, Trap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Enhancements (v2c): Adds `GetBulkRequest` for fast table fetching and 64-bit high-capacity counters (`Counter64`), but retains plaintext community security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Suitability: Isolated, trusted internal LANs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SNMPv3 (Cryptographically Secure)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Security Model: User-Based Security Model (USM) + View-Based Access Control Model (VACM)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Authentication: Message digest authentication via HMAC-MD5 or HMAC-SHA (verifies origin and prevents tampering)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Confidentiality: Payload encryption via DES or AES-128 / AES-256 (prevents eavesdropping)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Message Freshness: Timestamps and boot counters prevent Replay attacks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Enterprise Standard: Mandatory standard for secure network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Network Management &amp; SNMP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four components of the Network Management architecture (Manager, Agent, MIB, SNMP) with a neat diagram.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Describe the various SNMP protocol operations (GetRequest, GetNextRequest, GetBulkRequest, SetRequest, Trap, InformRequest).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SNMPv1, SNMPv2c, and SNMPv3 with focus on the User-Based Security Model (USM) in SNMPv3.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SNMP uses UDP port 161 for synchronous polling and port 162 for asynchronous event Traps.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SNMPv2c introduced `GetBulk` and 64-bit counters; SNMPv3 added cryptographic authentication and AES encryption.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`InformRequest` provides reliable delivery of trap notifications with manager acknowledgments.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4 • M4.2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Structure of Management Information (SMI) &amp; ASN.1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Abstract Syntax Notation One (ASN.1), SMIv2 Macro Definitions, MIB OID Tree Hierarchy (1.3.6.1.2.1), Standard MIB-II Groups, BER Encoding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4.2.1 SMIv2 &amp; MIB Object Identifier (OID) Tree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M4.2 SMI &amp; MIB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SMI (Structure of Management Information - RFC 2578)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formal language defining the rules for naming, specifying data types, and structuring management objects in the MIB.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ASN.1 (Abstract Syntax Notation One)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formal notation for describing data structures independently of machine hardware architectures. Defines primitives (INTEGER, OCTET STRING, OBJECT IDENTIFIER, SEQUENCE).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Globally Unique OID Tree Hierarchy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Every manageable variable is assigned a globally unique dot-delimited Object Identifier (OID) arranged in an inverted tree: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Standard Internet MIB-2 Path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`iso(1)` -&gt; `org(3)` -&gt; `dod(6)` -&gt; `internet(1)` -&gt; `mgmt(2)` -&gt; `mib-2(1)` = **`1.3.6.1.2.1`**.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Standard MIB-II Functional Groups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`system (1.3.6.1.2.1.1)`: Device name, description, uptime, contact. \n 2. `interfaces (1.3.6.1.2.1.2)`: Subnet interfaces, MTU, speed, packet counters. \n 3. `ip (1.3.6.1.2.1.4)`: IP routing tables, forward state, TTL, packet discards. \n 4. `tcp (1.3.6.1.2.1.6)`: Active TCP connection table, current connections, timeouts. \n 5. `udp (1.3.6.1.2.1.7)`: UDP listener table and datagram counters.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Basic Encoding Rules (BER)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Transfers data over wire using **TLV format**: `Tag (Type)` | `Length` | `Value`.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Standard MIB-2 Groups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1.3.6.1.2.1.1: system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1.3.6.1.2.1.2: interfaces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1.3.6.1.2.1.4: ip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1.3.6.1.2.1.6: tcp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1.3.6.1.2.1.7: udp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1.3.6.1.2.1.11: snmp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Encoding: BER TLV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SMI &amp; ASN.1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role of SMI and ASN.1 in SNMP network management.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Illustrate the MIB Object Identifier (OID) tree hierarchy from Root to MIB-II (`1.3.6.1.2.1`) and describe the primary MIB-II groups (`system`, `interfaces`, `ip`, `tcp`).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Basic Encoding Rules (BER) and the Tag-Length-Value (TLV) encoding format with an example.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SMI defines how MIB data objects are formally defined using ASN.1 syntax.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OID `1.3.6.1.2.1` is the root prefix for all standard Internet MIB-II management objects.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BER encodes variables into machine-independent Tag-Length-Value (TLV) binary streams.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4 • M4.3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Data and Signals: Theoretical Channel Capacity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Analog vs Digital Signals, Bandwidth, Transmission Impairments (Attenuation, Noise), Signal-to-Noise Ratio (SNR), Nyquist Rate vs Shannon Capacity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4.3.1 Signals, Bandwidth &amp; Transmission Impairments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M4.3 DATA &amp;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Analog vs Digital Signals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Analog signals have infinitely many continuous values over time (e.g., sine wave $s(t) = A \sin(2\pi f t + \phi)$). Digital signals have discrete discrete levels (e.g., 0V and 5V pulses representing bits 0 and 1).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Bandwidth ($B$)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range of frequencies contained in a composite signal: $B = f_{max} - f_{min}$ Hertz (Hz).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Transmission Impairments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**Attenuation**: Loss of signal energy over distance (measured in decibels $dB = 10 \log_{10} (P_2 / P_1)$). Corrected via amplifiers/repeaters. \n 2. **Distortion**: Different frequency components travel at different speeds, altering composite waveform shape. \n 3. **Noise**: Unwanted external energy added to signal (Thermal noise $N_0 = kTB$, Induced noise, Crosstalk, Impulse noise).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Signal-to-Noise Ratio (SNR)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Ratio of signal power to noise power: $SNR = \frac{P_{signal}}{P_{noise}}$. In decibels: $SNR_{dB} = 10 \log_{10} (SNR)$ (e.g., $SNR = 1000 \implies SNR_{dB} = 30$ dB).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Formulas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Bandwidth: B = f_max - f_min (Hz)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Decibels: dB = 10 * log10(P2 / P1)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SNR = P_signal / P_noise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SNR_dB = 10 * log10(SNR)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SNR = 10^(SNR_dB / 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4.3.2 Channel Capacity Limits: Nyquist vs Shannon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M4.3 NYQUIST VS SHANNON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Nyquist Bit Rate (Noiseless Channel)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Formulated By: Harry Nyquist (1928)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Channel Condition: Assumes theoretical **noiseless** channel with bandwidth $B$ Hz and $L$ discrete signaling levels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Formula: $C = 2 \times B \times \log_2 (L)$ bps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Implication: Data rate can be increased indefinitely by increasing the number of signal levels $L$, but is constrained by noise in practice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Shannon Capacity (Noisy Channel)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Formulated By: Claude Shannon (1948)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Channel Condition: Assumes real-world channel contaminated with Thermal White Noise (Gaussian Noise)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Formula: $C = B \times \log_2 (1 + SNR)$ bps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Implication: Defines the absolute physical upper bound on error-free channel capacity regardless of how many signal levels $L$ are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4.3.3 Worked KTU Numerical: Nyquist &amp; Shannon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M4.3 CAPACITY NUMERICAL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telephone line has bandwidth B = 3000 Hz and Signal-to-Noise ratio SNR_dB = 31.62 dB (SNR approx 1452). (a) Calculate the theoretical maximum Shannon channel capacity. (b) To achieve this capacity on a noiseless line with B = 3000 Hz, how many signal levels L are required by Nyquist formula?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Shannon Capacity: C = B * log2(1 + SNR) bps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Given SNR_dB = 31.62 dB -&gt; SNR = 10^(31.62 / 10) = 10^3.162 = 1452.1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Nyquist Bit Rate: C = 2 * B * log2(L) bps -&gt; log2(L) = C / (2 * B) -&gt; L = 2^(C / 2B).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1 + SNR = 1 + 1452.1 = 1453.1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log2(1453.1) = log10(1453.1) / log10(2) = 3.1623 / 0.30103 = 10.505 bits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Shannon Capacity C = 3000 Hz * 10.505 = 31,515 bps (approx 31.5 kbps).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Equating to Nyquist: 31,515 = 2 * 3000 * log2(L) = 6000 * log2(L)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log2(L) = 31,515 / 6000 = 5.2525 -&gt; L = 2^5.2525 = 38.12 -&gt; L = 38 signal levels.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Shannon Capacity C = 31.5 kbps | Required Nyquist signal levels L = 38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Shannon determines the upper capacity limit; Nyquist tells us how many signal levels L are required to realize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Channel Capacity &amp;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three transmission impairments: Attenuation, Distortion, and Noise with diagrams and formulas.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State and derive the Nyquist Bit Rate formula for noiseless channels and Shannon Capacity theorem for noisy channels.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A channel has bandwidth B = 4 kHz. Calculate Shannon capacity if SNR_dB = 20 dB.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Nyquist bit rate ($2B \log_2 L$) applies to ideal noiseless channels.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Shannon capacity ($B \log_2(1+SNR)$) establishes the fundamental thermodynamic limit of noisy channels.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Decibels convert logarithmic power ratios into simple additive terms.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4 • M4.4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Digital Transmission &amp; Line Coding Schemes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Line Coding Criteria (DC, Sync, Baseline Wander), Unipolar, Polar (NRZ, RZ, Manchester, Diff Manchester), Bipolar (AMI), Block Coding (4B/5B), PCM &amp; DM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4.4.1 Line Coding Design Criteria &amp; 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M4.4 LINE CODING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Line Coding Definition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process of converting a sequence of digital bits (1s and 0s) into a discrete electrical/optical signal waveform for baseband transmission.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Key Line Coding Design Criteria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**Signal Level vs Data Level**: Number of voltage states ($L$) vs bit values. \n 2. **DC Component**: Frequencies around 0 Hz create heat, cannot pass through transformers/capacitors, and waste transmitter power. Desirable = Zero DC. \n 3. **Self-Synchronization**: Signal transitions (edges) must allow receiver clock to synchronize timing, especially during long strings of consecutive 0s or 1s. \n 4. **Baseline Wander**: Running average of signal voltage must remain constant to maintain accurate decision slicing threshold. \n 5. **Error Detection**: Built-in coding violations indicate physical link errors.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Pulse Code Modulation (PCM)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Digitizes analog signals in 3 steps: 1. **Sampling** (Nyquist Rate $f_s \ge 2 f_{max}$), 2. **Quantization** (approximates sample amplitudes to discrete levels; introduces Quantization Error), 3. **Encoding** (maps quantized levels into $n$-bit binary codewords: Bit Rate $= n \times f_s$).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Line Coding Goals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Eliminate DC components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Provide self-synchronization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Prevent baseline wander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Minimize bandwidth needs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PCM: Sample -&gt; Quantize -&gt; Encode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4.4.2 Major Line Coding Schemes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M4.4 SCHEMES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Unipolar &amp; Polar NRZ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Unipolar NRZ: Bit 1 = Positive voltage $+V$, Bit 0 = Zero 0V. Severe DC component; no synchronization on long 0s/1s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Polar NRZ-L (Level): Bit 1 = Negative $-V$, Bit 0 = Positive $+V$. Sensitive to polarity inversion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Polar NRZ-I (Invert): Bit 1 = Transition at start of bit interval; Bit 0 = No transition. Immune to polarity inversion, but fails on consecutive 0s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Biphase: Manchester &amp; Differential Manchester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Manchester (IEEE 802.3): Mid-bit transition: Bit 1 = High-to-Low transition; Bit 0 = Low-to-High transition. Perfect clock synchronization and Zero DC component, but doubles bandwidth requirement ($2 \times$ baud rate)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Differential Manchester (Token Ring): Always transitions in the middle for clocking. Bit 0 = Transition at start of bit interval; Bit 1 = No transition at start. Highly robust against wire twists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D97706"/>
                </a:solidFill>
              </a:defRPr>
            </a:pPr>
            <a:r>
              <a:t>Bipolar AMI &amp; Multilevel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Bipolar AMI: Bit 0 = Zero 0V; Bit 1 = Alternating positive $+V$ and negative $-V$. Zero DC component, low bandwidth, but loses sync on long 0s (solved via B8ZS/HDB3 scrambling)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Digital Transmission &amp; Line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Draw the line coding waveforms for the bit stream `10110001` using: (a) Unipolar NRZ, (b) NRZ-L, (c) NRZ-I, (d) Manchester, (e) Differential Manchester, (f) Bipolar AMI. (9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working of Pulse Code Modulation (PCM) with Sampling Theorem ($f_s \ge 2f_{max}$), Quantization, and Encoding.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What is the DC component problem and baseline wander in digital transmission?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Manchester coding guarantees a transition in every single bit cell for foolproof clock synchronization.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Differential Manchester transitions at the start for bit 0, and has no start transition for bit 1.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PCM digitizes voice signals at 8000 samples/sec $\times$ 8 bits/sample = 64 kbps (standard DS0 channel).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4 • M4.5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Analog Transmission &amp; Bandwidth Utilization (Multiplexing)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Digital-to-Analog Modulation (ASK, FSK, PSK, QAM), Multiplexing Techniques (FDM, WDM, Synchronous vs Statistical TDM), Spread Spectrum (FHSS, DSSS)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4.5.1 Digital Modulation Schemes: ASK vs FSK vs PSK vs QAM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M4.5 MODULATION SCHEMES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ASK, FSK &amp; PSK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ASK (Amplitude Shift Keying / BASK): Bit 1 = High amplitude carrier $A_1 \cos(2\pi f_c t)$; Bit 0 = Low amplitude $A_2$ (or 0 in OOK). Susceptible to noise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FSK (Frequency Shift Keying / BFSK): Bit 1 = Frequency $f_1$; Bit 0 = Frequency $f_2$. Robust against amplitude noise; requires higher bandwidth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PSK (Phase Shift Keying / BPSK &amp; QPSK): BPSK: Bit 1 = $0^\circ$ phase, Bit 0 = $180^\circ$ phase. QPSK: 2 bits per baud ($00, 01, 10, 11$) using 4 orthogonal phases ($45^\circ, 135^\circ, 225^\circ, 315^\circ$)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QAM (Quadrature Amplitude Modulation)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Concept: Combines Amplitude Modulation (ASK) and Phase Modulation (PSK) simultaneously to maximize spectral efficiency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16-QAM &amp; 64-QAM: 16-QAM encodes 4 bits/symbol ($2^4 = 16$ constellation points); 64-QAM encodes 6 bits/symbol; 256-QAM encodes 8 bits/symbol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Constellation Diagrams: Visualizes constellation constellation points in In-Phase ($I$) and Quadrature ($Q$) 2D plane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Applications: Wi-Fi (802.11ac/ax), 4G/5G LTE, Cable modems (DOCSIS)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4.5.2 Multiplexing: FDM vs WDM vs Synchronous TDM vs Statistical TDM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M4.5 MULTIPLEXING TAXONOMY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Frequency &amp; Optical Multiplexing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FDM (Frequency-Division Multiplexing): Divides total analog bandwidth into distinct frequency channels separated by **Guard Bands** (e.g., FM radio, cable TV)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WDM (Wavelength-Division Multiplexing): Optical analog of FDM. Combines multiple laser light beams of different wavelengths (e.g., 1550 nm, 1310 nm) onto a single optical fiber using diffraction prisms. DWDM handles 80+ channels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Time-Division Multiplexing (TDM)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Synchronous TDM: Time divided into fixed recurring frames containing dedicated slots allocated round-robin to each input line. Slot wasted if an input line is idle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Statistical TDM (Asynchronous): Dynamically allocates time slots **on demand** only to active lines transmitting data. Eliminates idle slot waste by adding channel address headers to each 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Analog Transmission &amp; Multiplexing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Quadrature Amplitude Modulation (QAM) and draw the constellation diagrams for 4-QAM and 16-QAM.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Synchronous TDM and Statistical TDM with framing and slot allocation diagrams.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Spread Spectrum techniques: Frequency Hopping Spread Spectrum (FHSS) vs Direct Sequence Spread Spectrum (DSSS).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QAM modulates both amplitude and phase to pack multiple bits into a single baud symbol.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FDM shares bandwidth in frequency; TDM shares bandwidth in time slots.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Statistical TDM dynamically allocates slots on demand, achieving much higher link utilization than Synchronous TDM.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4 • M4.6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Physical Transmission Media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Guided Media (Twisted Pair UTP/STP, Coaxial Cable, Fiber Optics SMF/MMF), Unguided Wireless (Radio Waves, Microwaves, Infrared)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4.6.1 Guided Media: Twisted Pair vs Coaxial vs Optical Fiber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M4.6 GUIDED MEDIA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Twisted-Pair &amp; Coaxial Cable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Twisted-Pair (UTP / STP): Two insulated copper wires twisted together to cancel electromagnetic interference (crosstalk). Cat 5e (100 MHz, 1 Gbps), Cat 6 (250 MHz, 10 Gbps up to 55m), Cat 6a (500 MHz, 10 Gbps 100m). Terminated with RJ-45 connectors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Coaxial Cable: Central copper core surrounded by dielectric insulator, metallic braided shield, and outer jacket. 10Base5 (Thicknet, 500m), 10Base2 (Thinnet, 185m), RG-59 (Cable TV). Terminated with BNC connectors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Optical Fiber (Total Internal Reflection)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Physics Principle: Light pulses propagate via Total Internal Reflection inside glass core (refractive index $n_1$) surrounded by cladding ($n_2 &lt; n_1$) when incident angle exceeds critical angle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Multimode Step-Index: Multiple light rays reflect abruptly at core-cladding boundary; causes modal dispersion (short distances)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Multimode Graded-Index: Core refractive index decreases gradually outward; light rays curve smoothly, reducing modal dispersion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Single-Mode Fiber (SMF): Ultra-narrow core (8-10 $\mu$m); single light ray propagates straight; zero modal dispersion; enables 100+ km long-haul backbone links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4.6.2 Unguided Media: Wireless Electromagnetic Spectrum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M4.6 UNGUIDED WIRELESS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Radio Waves (3 kHz to 1 GHz)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Omnidirectional radiation pattern (transmitting antenna broadcasts signals in all directions). Penetrates physical walls effortlessly. Subject to multi-path interference. Used in AM/FM radio and cordless phones.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Microwaves (1 GHz to 300 GHz)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Unidirectional, Line-of-Sight propagation. Focused beam using parabolic dish or horn antennas. Cannot penetrate solid obstacles (walls, hills). Used in cellular networks, satellite communications, and GPS.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Infrared Waves (300 GHz to 400 THz)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High-frequency, short-range line-of-sight communication. Completely blocked by walls and solid obstacles (ensures indoor security without room-to-room interference). Used in TV remote controls and IrDA devices.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Wireless Spectrum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Radio: Omnidirectional (Wall penetration)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Microwaves: Line-of-sight (Dish antenna)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Infrared: Short range (Blocked by walls)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Satellite: Geosynchronous (36,000 km)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Fiber: Total Internal Reflection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Transmission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Step-Index Multimode, Graded-Index Multimode, and Single-Mode optical fibers with refractive index profiles and light propagation paths.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Twisted-Pair Cable, Coaxial Cable, and Optical Fiber across bandwidth, attenuation, EMI immunity, and cost.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Radio waves, Microwaves, and Infrared wireless media.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Optical fibers provide immense bandwidth, zero EMI susceptibility, and ultra-low attenuation.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Single-mode fiber eliminates modal dispersion for high-speed long-distance backbones.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Microwaves require line-of-sight parabolic antennas; Infrared is safely contained by room walls.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