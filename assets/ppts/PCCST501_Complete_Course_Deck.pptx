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182880" cy="4114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601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b="1" sz="3800">
                <a:solidFill>
                  <a:srgbClr val="F8FAFC"/>
                </a:solidFill>
              </a:defRPr>
            </a:pPr>
            <a:r>
              <a:t>PCCST501 Computer Networks</a:t>
            </a:r>
          </a:p>
          <a:p>
            <a:pPr>
              <a:spcAft>
                <a:spcPts val="2400"/>
              </a:spcAft>
              <a:defRPr sz="2000">
                <a:solidFill>
                  <a:srgbClr val="94A3B8"/>
                </a:solidFill>
              </a:defRPr>
            </a:pPr>
            <a:r>
              <a:t>Complete Master Course Lecture Deck (Modules 1 - 4)</a:t>
            </a:r>
          </a:p>
          <a:p>
            <a:pPr>
              <a:defRPr sz="1400">
                <a:solidFill>
                  <a:srgbClr val="CBD5E1"/>
                </a:solidFill>
              </a:defRPr>
            </a:pPr>
            <a:r>
              <a:t>Prof. Anju Markose | Assistant Professor, Dept. of CSE | VJCET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182880" cy="4114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601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1600">
                <a:solidFill>
                  <a:srgbClr val="F59E0B"/>
                </a:solidFill>
              </a:defRPr>
            </a:pPr>
            <a:r>
              <a:t>PCCST501 COMPUTER NETWORKS | MODULE 1</a:t>
            </a:r>
          </a:p>
          <a:p>
            <a:pPr>
              <a:spcAft>
                <a:spcPts val="2000"/>
              </a:spcAft>
              <a:defRPr b="1" sz="3800">
                <a:solidFill>
                  <a:srgbClr val="F8FAFC"/>
                </a:solidFill>
              </a:defRPr>
            </a:pPr>
            <a:r>
              <a:t>Overview of Internet &amp; Application Layer</a:t>
            </a:r>
          </a:p>
          <a:p>
            <a:pPr>
              <a:spcAft>
                <a:spcPts val="2400"/>
              </a:spcAft>
              <a:defRPr sz="2000">
                <a:solidFill>
                  <a:srgbClr val="94A3B8"/>
                </a:solidFill>
              </a:defRPr>
            </a:pPr>
            <a:r>
              <a:t>Architecture, Protocol Layering, HTTP, FTP, Email, DNS &amp; BitTorrent P2P</a:t>
            </a:r>
          </a:p>
          <a:p>
            <a:pPr>
              <a:defRPr sz="1400">
                <a:solidFill>
                  <a:srgbClr val="CBD5E1"/>
                </a:solidFill>
              </a:defRPr>
            </a:pPr>
            <a:r>
              <a:t>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1.1 Overview of the Internet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Network Edge: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End systems, hosts (clients &amp; servers) running distributed applications.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Network Core: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Interconnected mesh of routers and packet switches forwarding data packets.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Packet Switching vs Circuit Switching: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Statistical multiplexing on-demand vs dedicated physical circuit reservation.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Transmission Delay &amp; Propagation Delay: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Transmission = L / R (packet length / link rate); Propagation = d / s (distance / wave speed).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Packet Loss &amp; Throughput: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Queue overflow in router buffers causes loss; bottleneck link determines end-to-end throughput.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Key Takeaway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Internet is a 'Network of Networks'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Statistical multiplexing optimizes link utilization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Total Delay = Proc + Queue + Trans + Prop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1.2 Protocol Layering &amp; OSI / TCP-IP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Layering Principle: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Modular design where each layer provides a well-defined service to the layer above.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OSI 7-Layer Reference Model: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Application, Presentation, Session, Transport, Network, Data Link, Physical.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TCP/IP 5-Layer Internet Model: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Application, Transport, Network, Data Link, Physical.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Encapsulation &amp; Decapsulation: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Headers and trailers added as data moves down (Data -&gt; Segment -&gt; Packet -&gt; Frame -&gt; Bits).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Protocol Data Units (PDU):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Message (L5), Segment (L4), Datagram/Packet (L3), Frame (L2), Bit stream (L1).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Comparison Summary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OSI: Strict conceptual model with Session &amp; Presentation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TCP/IP: Practical implementation architecture of the Internet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Encapsulation preserves abstraction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1.3 Application Layer Paradigms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Client-Server Architecture: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Always-on host (server) serves requests from many intermittent hosts (clients). E.g. Web, FTP.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Peer-to-Peer (P2P) Architecture: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Direct communication between arbitrary end systems (peers) with self-scalability. E.g. BitTorrent.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Application Layer Protocols: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Define message types (request/response), syntax, semantics, and rules for sending/handling.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Transport Services Needed: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Data integrity (reliable transfer), throughput (bandwidth guarantees), timing (low latency), security.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Paradigm Contrast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Client-Server: Centralized control, server bottleneck potential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P2P: Highly scalable, decentralized, complex churn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1.4 World Wide Web &amp;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HTTP Basics: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HyperText Transfer Protocol running over TCP (Port 80 default, 443 HTTPS). Stateless protocol.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Non-Persistent vs Persistent HTTP: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Non-persistent: 1 TCP connection per object (2 RTT per object). Persistent (HTTP 1.1): multiple objects over single connection.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HTTP Methods: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GET (retrieve), POST (submit form data), HEAD (headers only), PUT (upload/replace), DELETE (remove).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Status Codes: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200 OK, 301 Moved Permanently, 304 Not Modified, 400 Bad Request, 404 Not Found, 500 Internal Server Error.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Cookies &amp; Web Caching: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Cookies maintain session state on top of stateless HTTP; Proxy servers cache content to reduce latency.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HTTP Evolution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HTTP/1.0: Non-persistent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HTTP/1.1: Persistent + Pipelining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HTTP/2: Binary framing, Multiplexing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HTTP/3: UDP (QUIC based)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1.5 File Transfer Protocol (FTP)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Dual Connection Model: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Uses two separate parallel TCP connections: Control connection (Port 21) &amp; Data connection (Port 20).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Out-of-Band Control: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Control information (commands/replies) sent over a separate connection, not interleaved with data.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Stateful Protocol: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FTP server maintains client state (current working directory, auth session).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Active vs Passive Mode: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Active: Client listens on port, server connects. Passive (PASV): Server opens port, client connects (firewall friendly).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FTP Commands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USER, PASS: Authentication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LIST: Directory listing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RETR: Retrieve / download file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STOR: Store / upload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1.6 Electronic Mail (SMTP, POP3, IMAP, MIME)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Email Architecture: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User Agents (Mail Readers), Mail Servers (Spools &amp; Mailboxes), Simple Mail Transfer Protocol (SMTP).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SMTP (Port 25/587):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Push protocol between mail servers. Uses direct TCP connection, ASCII command/response format.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Mail Access Protocols (Pull):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POP3 (Port 110, download &amp; delete/keep, stateless), IMAP4 (Port 143, maintains folders/state across devices).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MIME Extension: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Multipurpose Internet Mail Extensions: allows non-ASCII multimedia content via base64/quoted-printable encoding.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Push vs Pull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Sender UA -&gt; Sender Server: SMTP (Push)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Sender Server -&gt; Recipient Server: SMTP (Push)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Recipient Server -&gt; Recipient UA: POP3/IMAP (Pull)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1.7 Domain Name System (DNS)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Role of DNS: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Distributed database mapping human-readable hostnames to 32-bit/128-bit IP addresses (Port 53 UDP/TCP).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Hierarchical Namespace: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Root DNS Servers -&gt; Top-Level Domain (TLD: .com, .edu, .in) -&gt; Authoritative DNS Servers.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Resolution Mechanisms: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Recursive Resolution (Local DNS resolver does entire query tree) vs Iterative Resolution (referrals returned).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DNS Resource Records (RR):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Format: (Name, Value, Type, TTL). Type A (IPv4), AAAA (IPv6), NS (Name Server), CNAME (Alias), MX (Mail Exchange).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DNS Caching: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Resolvers cache RR mappings to drastically reduce latency and root server load.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Key DNS Records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Type A: hostname -&gt; IPv4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Type AAAA: hostname -&gt; IPv6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Type CNAME: alias -&gt; canonical name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Type MX: domain -&gt; mail server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Type NS: domain -&gt; authoritative 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1.8 Peer-to-Peer Paradigm &amp; BitTorrent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Self-Scalability in P2P: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Each peer adds download demand AND upload capacity, allowing distribution time to remain bounded.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BitTorrent Architecture: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File split into equal chunks (256 KB). Peers join a 'swarm' coordinated by a 'tracker' (or DHT).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Rarest First Selection: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Peers request rarest chunks among neighbors first to maximize chunk diversity across the swarm.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Tit-for-Tat Choking Algorithm: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Peers unchoke top 4 uploaders contributing at highest rates; Optimistic Unchoking explores new peers every 30s.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BitTorrent Highlights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Tracker: Coordinates peer list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Torrent: Metadata descriptor file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Rarest First: Prevents bottleneck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Tit-for-Tat: Incentivizes upload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182880" cy="4114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601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1600">
                <a:solidFill>
                  <a:srgbClr val="F59E0B"/>
                </a:solidFill>
              </a:defRPr>
            </a:pPr>
            <a:r>
              <a:t>PCCST501 COMPUTER NETWORKS | MODULE 2</a:t>
            </a:r>
          </a:p>
          <a:p>
            <a:pPr>
              <a:spcAft>
                <a:spcPts val="2000"/>
              </a:spcAft>
              <a:defRPr b="1" sz="3800">
                <a:solidFill>
                  <a:srgbClr val="F8FAFC"/>
                </a:solidFill>
              </a:defRPr>
            </a:pPr>
            <a:r>
              <a:t>Transport &amp; Network Layers with Linux Kernel</a:t>
            </a:r>
          </a:p>
          <a:p>
            <a:pPr>
              <a:spcAft>
                <a:spcPts val="2400"/>
              </a:spcAft>
              <a:defRPr sz="2000">
                <a:solidFill>
                  <a:srgbClr val="94A3B8"/>
                </a:solidFill>
              </a:defRPr>
            </a:pPr>
            <a:r>
              <a:t>UDP, TCP, Socket Programming, IPv4/IPv6, Routing Protocols &amp; QoS</a:t>
            </a:r>
          </a:p>
          <a:p>
            <a:pPr>
              <a:defRPr sz="1400">
                <a:solidFill>
                  <a:srgbClr val="CBD5E1"/>
                </a:solidFill>
              </a:defRPr>
            </a:pPr>
            <a:r>
              <a:t>Prof. Anju Markose | Assistant Professor, Dept. of CSE | VJCET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2.1 Transport Layer Services &amp; UDP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Transport Layer Role: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Provides process-to-process logical communication using 16-bit Port Numbers.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Multiplexing &amp; Demultiplexing: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Gathering data chunks from multiple sockets (multiplexing) and delivering to correct socket via headers (demux).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User Datagram Protocol (UDP):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Connectionless, unreliable, lightweight, minimal overhead (8-byte header: Src Port, Dst Port, Length, Checksum).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UDP Checksum Calculation: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Calculated over 16-bit words of Pseudo-header (IP info) + UDP header + payload using 1's complement addition.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When to use UDP?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Real-time streaming (VoIP, Video)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DNS queries &amp; SNMP traps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Where low latency is vital and retransmissions cause unacceptable delay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2.2 Transmission Control Protocol (TCP)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TCP Characteristics: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Connection-oriented, full-duplex, reliable byte-stream service with flow &amp; congestion control.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Connection Establishment: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Three-Way Handshake: SYN -&gt; SYN-ACK -&gt; ACK. Connection Release: 4-Way FIN/ACK exchange.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TCP Header Structure: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20 to 60 bytes (Src/Dst Port, Sequence No, Ack No, Data Offset, Flags: URG, ACK, PSH, RST, SYN, FIN, Window Size, Checksum).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Flow Control: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Sliding Window Mechanism: Receiver advertises `rwnd` to prevent buffer overflow. Silly Window Syndrome mitigated by Nagle's &amp; Clark's algorithm.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TCP Handshake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1. Client -&gt; Server: SYN (seq=x)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2. Server -&gt; Client: SYN-ACK (seq=y, ack=x+1)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3. Client -&gt; Server: ACK (seq=x+1, ack=y+1)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2.3 TCP Congestion Control Mechanisms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Congestion Window (cwnd):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Dynamic limit on unacknowledged inflight bytes maintained by sender. Effective Window = min(cwnd, rwnd).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Slow Start Phase: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cwnd starts at 1 MSS, doubles every RTT (exponential growth) until reaching `ssthresh` threshold.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Congestion Avoidance: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Linear growth (AIMD: Additive Increase Multiplicative Decrease). cwnd increases by 1 MSS per RTT.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Fast Retransmit &amp; Fast Recovery: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3 duplicate ACKs trigger immediate retransmission before timeout; cwnd halved rather than reset to 1 (TCP Reno).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Tahoe vs Reno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Timeout: cwnd=1, ssthresh=cwnd/2 (Both)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3 Dup ACKs (Tahoe): cwnd=1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3 Dup ACKs (Reno): cwnd=ssthresh, enters Fast Recovery (Avoids Slow Start)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2.4 Socket Programming &amp; I/O Multiplexing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Socket API Lifecycle (TCP):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Server: `socket()` -&gt; `bind()` -&gt; `listen()` -&gt; `accept()` -&gt; `recv()`/`send()` -&gt; `close()`. Client: `socket()` -&gt; `connect()` -&gt; `send()`/`recv()` -&gt; `close()`.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UDP Sockets: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No connection setup; uses `sendto()` and `recvfrom()` directly with destination socket addresses.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I/O Multiplexing with select():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`select(maxfd+1, &amp;readfds, &amp;writefds, &amp;exceptfds, &amp;timeout)` monitors multiple file descriptors simultaneously without threads.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poll() Function: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Uses an array of `struct pollfd` structures with event masks (`POLLIN`, `POLLOUT`), eliminating `FD_SETSIZE` limitations.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Socket Syscalls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socket(AF_INET, SOCK_STREAM, 0)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bind(): assigns IP &amp; Port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listen(): backlog queue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accept(): creates new active socket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select() / poll(): Non-blocking multiplexing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2.5 Network Layer: IPv4, Subnetting &amp; CIDR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Network Layer Responsibilities: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Host-to-host routing, logical addressing, datagram forwarding, fragmentation/reassembly.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IPv4 Datagram Header: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20-60 bytes (Version, IHL, TOS/DiffServ, Total Length, Identification, Flags [DF, MF], Fragment Offset, TTL, Protocol, Checksum).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Classful vs Classless Addressing (CIDR):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Class A/B/C deprecated in favor of Classless Inter-Domain Routing (e.g. `192.168.1.0/24` prefix).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Subnetting &amp; VLSM: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Borrowing host bits for subnetting; Variable Length Subnet Masking optimizes address space allocation.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Auxiliary Protocols: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ARP (IP to MAC resolution), ICMP (error reporting/diagnostics: ping, traceroute), NAT, DHCP.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IPv4 Key Formulas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No. of subnets = 2^(borrowed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Hosts per subnet = 2^(host bits) - 2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Broadcast Addr: All host bits = 1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Network Addr: All host bits =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2.6 Unicast Routing Protocols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Distance Vector Routing (Bellman-Ford):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Routers share vector of distances to all nodes with neighbors. Used in RIP (Hop count limit = 15).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Count-to-Infinity Problem: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Slow convergence on link failure; solved by Split Horizon and Poison Reverse techniques.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Link State Routing (Dijkstra's Algorithm):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Routers flood Link State Advertisements (LSAs) to build full network topology graph. Used in OSPF.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Path Vector Routing (BGP):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Border Gateway Protocol for Inter-Autonomous System (Inter-AS) routing; prevents routing loops by tracking full AS paths.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Routing Protocol Matrix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RIP: Distance Vector, Metric: Hops (&lt;16)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OSPF: Link State, Metric: Cost/Bandwidth, Area hierarchy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BGP: Path Vector, Policy-based, Inter-AS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2.7 Multicast Routing, Next-Gen IP &amp; QoS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Multicast Basics &amp; IGMP: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One-to-many communication; IGMP handles host group join/leave; Source-based trees vs Group-shared trees.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Multicast Protocols: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Intra-domain: DVMRP (Reverse Path Forwarding), MOSPF, PIM-DM (Flood &amp; Prune), PIM-SM (Rendezvous Point).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Next Generation IP (IPv6):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128-bit addresses (hex notation), simplified 40-byte base header, no checksum, flow labeling, extension headers.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Quality of Service (QoS) &amp; Traffic Shaping: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Leaky Bucket (constant output rate) vs Token Bucket (allows controlled bursts); IntServ (RSVP) vs DiffServ (DSCP).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Linux Routing Hands-on: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`ip route add`, `ip route del`, kernel Forwarding Information Base (`fib_table`) and route cache.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IPv6 vs IPv4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Address: 128-bit vs 32-bit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Base Header: 40-byte fixed vs 20-60B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Fragmentation: Source host vs Routers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Auto-configuration: SLAAC built-in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182880" cy="4114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601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1600">
                <a:solidFill>
                  <a:srgbClr val="F59E0B"/>
                </a:solidFill>
              </a:defRPr>
            </a:pPr>
            <a:r>
              <a:t>PCCST501 COMPUTER NETWORKS | MODULE 3</a:t>
            </a:r>
          </a:p>
          <a:p>
            <a:pPr>
              <a:spcAft>
                <a:spcPts val="2000"/>
              </a:spcAft>
              <a:defRPr b="1" sz="3800">
                <a:solidFill>
                  <a:srgbClr val="F8FAFC"/>
                </a:solidFill>
              </a:defRPr>
            </a:pPr>
            <a:r>
              <a:t>Data Link Layer, Ethernet &amp; Wireless LANs</a:t>
            </a:r>
          </a:p>
          <a:p>
            <a:pPr>
              <a:spcAft>
                <a:spcPts val="2400"/>
              </a:spcAft>
              <a:defRPr sz="2000">
                <a:solidFill>
                  <a:srgbClr val="94A3B8"/>
                </a:solidFill>
              </a:defRPr>
            </a:pPr>
            <a:r>
              <a:t>Framing, Error/Flow Control, MAC Protocols, 802.11 &amp; Mobile IP</a:t>
            </a:r>
          </a:p>
          <a:p>
            <a:pPr>
              <a:defRPr sz="1400">
                <a:solidFill>
                  <a:srgbClr val="CBD5E1"/>
                </a:solidFill>
              </a:defRPr>
            </a:pPr>
            <a:r>
              <a:t>Prof. Anju Markose | Assistant Professor, Dept. of CSE | VJCET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3.1 Data Link Control: Framing, Error &amp; Flow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Data Link Layer Responsibilities: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Node-to-node frame delivery across physical link, framing, link-layer addressing, error/flow control.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Framing Techniques: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Character Count (vulnerable to bit flips), Byte Stuffing (ESC character), Bit Stuffing (0 inserted after five consecutive 1s).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Error Detection Codes: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Parity check, Checksum, Cyclic Redundancy Check (CRC using generator polynomial division).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Error Correction Codes: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Hamming Code: detects 2-bit errors, corrects single-bit errors using parity check bits at positions 2^k.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Flow Control Protocols: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Stop-and-Wait, Sliding Window: Go-Back-N (window N, discards out of order), Selective Repeat (individual ACKs).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Framing &amp; CRC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Bit Stuffing Flag: 01111110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CRC Divisor: (n+1) bit polynomial produces n-bit FCS remainder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Hamming Distance: d_min determines detection/correction power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3.2 Multiple Access Protocols (MAC)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Random Access Protocols: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Pure ALOHA (Max throughput 18.4%), Slotted ALOHA (Max throughput 36.8%).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CSMA (Carrier Sense Multiple Access):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1-persistent, Non-persistent, p-persistent carrier sensing strategies.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CSMA/CD (Collision Detection):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Listen while transmitting; if collision detected, abort, transmit jam signal, apply Binary Exponential Backoff (Used in Ethernet).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CSMA/CA (Collision Avoidance):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Used in Wireless LANs; uses Inter-Frame Spacing (IFS), Contention Window, and optional RTS/CTS handshake.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Controlled Access &amp; Channelization: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Reservation, Polling, Token Ring; FDMA, TDMA, CDMA (Orthogonal Walsh-Hadamard codes).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CSMA/CD Minimum Frame Size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Condition: Trans_Time &gt;= 2 * Prop_Time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Min Frame Length = 2 * Propagation Delay * Bandwidth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Guarantees sender detects collision before transmission finishes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3.3 Link Layer Addressing &amp; Ethernet Protocols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MAC / Link Layer Addressing: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48-bit physical address (6 octets in hex: `00:1A:2B:3C:4D:5E`). First 24 bits: OUI vendor ID, last 24: device serial.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Address Resolution Protocol (ARP):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Dynamically maps 32-bit IPv4 address to 48-bit MAC address using broadcast request &amp; unicast reply.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Standard Ethernet (IEEE 802.3):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10 Mbps baseband, Manchester encoding, 10BASE5 / 10BASE2 / 10BASE-T.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High-Speed Ethernet Evolution: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Fast Ethernet (100 Mbps, 802.3u), Gigabit Ethernet (1 Gbps, 802.3ab), 10-Gigabit Ethernet (802.3ae).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Ethernet Frame Format: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Preamble (7B), SFD (1B), Dst MAC (6B), Src MAC (6B), Type/Length (2B), Payload (46-1500B), CRC FCS (4B).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ARP Cache &amp; Frames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ARP Request: Broadcast (FF:FF:FF:FF:FF:FF)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ARP Reply: Unicast to requester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Min Ethernet Frame: 64 Bytes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Max Ethernet Frame (MTU): 1518 Bytes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3.4 Connecting Devices &amp; VLANs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Physical Layer Devices: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Repeaters &amp; Hubs: regenerate/broadcast electrical signals; single collision &amp; broadcast domain.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Data Link Layer Devices: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Bridges &amp; Layer 2 Switches: filter frames based on MAC address tables; separate collision domains, single broadcast domain.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Learning Switch Algorithm: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Inspects Source MAC of incoming frames to learn port mappings; floods frames if Destination MAC unknown.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Virtual LANs (VLAN - IEEE 802.1Q):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Logically segments a physical switch into multiple isolated broadcast domains; uses 4-byte 802.1Q tag with 12-bit VLAN ID.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Network Layer Devices: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Routers: forward packets based on IP addresses; separate both collision AND broadcast domains.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Collision vs Broadcast Domains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Hub: 1 Collision, 1 Broadcast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Switch: N Collision (per port), 1 Broadcast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Switch + VLANs: N Collision, M Broadcast (per VLAN)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Router: Separates all Collision &amp; 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3.5 Wireless LANs (IEEE 802.11) &amp; Mobile 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IEEE 802.11 Architecture: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Basic Service Set (BSS) with Access Point (AP) or Ad-hoc; Extended Service Set (ESS) connected via Distribution System (DS).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MAC Sublayer in 802.11: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CSMA/CA with Network Allocation Vector (NAV) virtual carrier sensing; Inter-frame Spaces (SIFS &lt; PIFS &lt; DIFS).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Hidden &amp; Exposed Terminal Problems: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Hidden Node: Solved by RTS (Request to Send) / CTS (Clear to Send) exchange; Exposed Node: prevented from transmitting unnecessarily.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Mobile IP Architecture: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Mobile Node (MN), Home Agent (HA), Foreign Agent (FA), Home Address (static) &amp; Care-of Address (COA temporary).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Triangle Routing &amp; Optimization: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Correspondent Node -&gt; Home Agent -&gt; Foreign Agent -&gt; Mobile Node encapsulation tunneling; Direct binding route optimization.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802.11 Standards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802.11b: 2.4 GHz, 11 Mbps (DSSS)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802.11g: 2.4 GHz, 54 Mbps (OFDM)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802.11n: 2.4/5 GHz, 600 Mbps (MIMO)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802.11ac: 5 GHz, 6.9 Gbps (MU-MIMO)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802.11ax (WiFi 6): OFDMA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182880" cy="4114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601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1600">
                <a:solidFill>
                  <a:srgbClr val="F59E0B"/>
                </a:solidFill>
              </a:defRPr>
            </a:pPr>
            <a:r>
              <a:t>PCCST501 COMPUTER NETWORKS | MODULE 4</a:t>
            </a:r>
          </a:p>
          <a:p>
            <a:pPr>
              <a:spcAft>
                <a:spcPts val="2000"/>
              </a:spcAft>
              <a:defRPr b="1" sz="3800">
                <a:solidFill>
                  <a:srgbClr val="F8FAFC"/>
                </a:solidFill>
              </a:defRPr>
            </a:pPr>
            <a:r>
              <a:t>Network Management &amp; Physical Layer</a:t>
            </a:r>
          </a:p>
          <a:p>
            <a:pPr>
              <a:spcAft>
                <a:spcPts val="2400"/>
              </a:spcAft>
              <a:defRPr sz="2000">
                <a:solidFill>
                  <a:srgbClr val="94A3B8"/>
                </a:solidFill>
              </a:defRPr>
            </a:pPr>
            <a:r>
              <a:t>SNMP, ASN.1, Signals, Digital/Analog Transmission &amp; Media</a:t>
            </a:r>
          </a:p>
          <a:p>
            <a:pPr>
              <a:defRPr sz="1400">
                <a:solidFill>
                  <a:srgbClr val="CBD5E1"/>
                </a:solidFill>
              </a:defRPr>
            </a:pPr>
            <a:r>
              <a:t>Prof. Anju Markose | Assistant Professor, Dept. of CSE | VJCET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4.1 Network Management: SNMP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Network Management Framework: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Managing Entity (Manager / NMS), Managed Device (Agent), Management Information Base (MIB), Protocol (SNMP).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SNMP Operations (UDP Port 161/162):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`GetRequest`, `GetNextRequest`, `GetBulkRequest` (fetch MIB data), `SetRequest` (configure device), `Response`, `Trap` (unsolicited alert), `InformRequest`.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SNMP Versions: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SNMPv1 (Community strings in plaintext), SNMPv2c (GetBulkRequest, 64-bit counters), SNMPv3 (USM Security: Auth with MD5/SHA, Encryption with DES/AES, VACM Access Control).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Structure of Management Information (SMI):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Defines rules for naming objects, data types, and constructing MIB tables.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SNMP Ports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Port 161 UDP: Manager to Agent (Get/Set)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Port 162 UDP: Agent to Manager (Trap/Inform)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SNMPv3 provides Confidentiality, Integrity, Authentication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4.2 Abstract Syntax Notation One (ASN.1) &amp; MIB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Role of ASN.1: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Standard formal language to define data types and structures independently of hardware architecture.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Basic ASN.1 Data Types: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Primitive: `INTEGER`, `OCTET STRING`, `OBJECT IDENTIFIER`, `BOOLEAN`, `NULL`. Constructed: `SEQUENCE`, `SEQUENCE OF`, `CHOICE`.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Basic Encoding Rules (BER):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TLV (Type-Length-Value) format for serializing ASN.1 data onto network wire.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Management Information Base (MIB-2):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Hierarchical tree structure of manageable objects. Standard root: `iso.org.dod.internet.mgmt.mib-2` (`1.3.6.1.2.1`).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Object Identifier (OID):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Dotted numerical path locating node in MIB tree. E.g., `sysDescr` = `1.3.6.1.2.1.1.1`.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BER TLV Structure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Tag (Type): 1 byte identifier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Length: 1 or more bytes (value length)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Value: Actual payload data bytes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Example: INTEGER 5 -&gt; 02 01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4.3 Physical Layer: Data, Signals &amp; Capacity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Analog vs Digital Signals: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Continuous amplitude values over time vs discrete finite levels (binary 0 and 1).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Time Domain vs Frequency Domain: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Fourier Analysis: any composite periodic signal can be decomposed into an infinite sum of sine waves.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Transmission Impairments: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Attenuation (loss of energy, dB formula $10 \log_{10}(P_2/P_1)$), Distortion (phase shifting of harmonics), Noise (Thermal, Induced, Crosstalk, Impulse).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Nyquist Bit Rate (Noiseless Channel):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$C = 2 	imes B 	imes \log_2(L)$ bps, where $B$ = Bandwidth in Hz, $L$ = number of signal levels.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Shannon Capacity Formula (Noisy Channel):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$C = B 	imes \log_2(1 + 	ext{SNR})$ bps, where SNR is signal-to-noise power ratio in linear scale.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Capacity Formulas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Nyquist: Max rate for noiseless channel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Shannon: Theoretical upper bound with noise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SNR(dB) = 10 * log10(SNR_linear)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If SNR(dB)=30dB, SNR_linear=1000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4.4 Digital Transmission: Line Coding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Line Coding Concept: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Converting sequence of binary digits into discrete digital voltage signals.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Unipolar &amp; Polar NRZ: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NRZ-L (Level): Positive for 0, Negative for 1. NRZ-I (Invert): Transition at beginning of bit for 1, no transition for 0 (DC component &amp; sync issues).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Biphase Coding (Self-Synchronizing):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Manchester (0 = High-to-Low transition, 1 = Low-to-High transition, used in 802.3 Ethernet); Differential Manchester (transition at start for 0).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Bipolar &amp; Block Coding: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AMI (Alternate Mark Inversion: 0=0V, 1=alternating +V/-V); 4B/5B block coding eliminates long runs of consecutive zeros.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Line Coding Summary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NRZ: Simple, poor sync, DC bias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Manchester: Perfect sync, double bandwidth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AMI: Zero DC bias, loss of sync on 0s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B8ZS / HDB3: Scrambling solves long 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4.5 Analog Transmission &amp; Bandwidth Utilization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Digital-to-Analog Modulation: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Amplitude Shift Keying (ASK), Frequency Shift Keying (FSK), Phase Shift Keying (BPSK, QPSK).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Quadrature Amplitude Modulation (QAM):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Combines ASK and PSK to transmit multiple bits per baud (e.g., 16-QAM sends 4 bits/baud, 64-QAM sends 6 bits/baud).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Frequency Division Multiplexing (FDM):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Analog technique; divides total bandwidth into non-overlapping frequency bands separated by guard bands.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Wavelength Division Multiplexing (WDM):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Optical multiplexing of multiple light wavelengths over a single optical fiber strand.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Time Division Multiplexing (TDM):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Digital technique; Synchronous TDM assigns fixed time slots per channel; Statistical TDM assigns slots dynamically on-demand.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Multiplexing Methods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FDM: Analog, frequency bands (Radio/TV)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WDM: Optical spectrum in glass fiber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TDM: Digital time slots (T1/E1 lines)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Statistical TDM: Eliminates idle slots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4.6 Transmission Media (Guided &amp; Unguided)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Guided Media (Physical Conductors):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Twisted Pair (UTP Cat 5e/6, STP - twists cancel electromagnetic interference), Coaxial Cable (copper core with braided shield), Optical Fiber (light propagation by Total Internal Reflection; Single-mode vs Multi-mode).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Unguided Media (Wireless Propagation):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Radio Waves (3 kHz - 1 GHz, omnidirectional, penetrate walls), Microwaves (1 GHz - 300 GHz, line-of-sight, parabolic dish), Infrared (300 GHz - 400 THz, short range, cannot penetrate walls).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Satellite Communication: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Geostationary Earth Orbit (GEO ~36,000 km), Medium Earth Orbit (MEO: GPS), Low Earth Orbit (LEO: Starlink, low propagation delay).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Media Comparison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UTP: Inexpensive, easy install, 100m limit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Fiber: Immense bandwidth, immune to EMI, long distance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Radio/Microwave: High mobility, path loss / fading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